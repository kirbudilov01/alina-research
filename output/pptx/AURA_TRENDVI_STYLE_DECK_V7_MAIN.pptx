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5d38a497a54ad4" /><Relationship Type="http://schemas.openxmlformats.org/officeDocument/2006/relationships/extended-properties" Target="/docProps/app.xml" Id="R7fd7ca7e48e3450b" /><Relationship Type="http://schemas.openxmlformats.org/officeDocument/2006/relationships/officeDocument" Target="/ppt/presentation.xml" Id="R26a4599e8c114e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b639d86f12490d"/>
  </p:sldMasterIdLst>
  <p:notesMasterIdLst>
    <p:notesMasterId xmlns:r="http://schemas.openxmlformats.org/officeDocument/2006/relationships" r:id="R835ccb01210a473a"/>
  </p:notesMasterIdLst>
  <p:sldIdLst>
    <p:sldId xmlns:r="http://schemas.openxmlformats.org/officeDocument/2006/relationships" id="256" r:id="R1fa4a02c910e4a98"/>
    <p:sldId xmlns:r="http://schemas.openxmlformats.org/officeDocument/2006/relationships" id="257" r:id="R390568be74144b0a"/>
    <p:sldId xmlns:r="http://schemas.openxmlformats.org/officeDocument/2006/relationships" id="258" r:id="R605e7e5b6e734b05"/>
    <p:sldId xmlns:r="http://schemas.openxmlformats.org/officeDocument/2006/relationships" id="259" r:id="Ra27f251ff45b4af0"/>
    <p:sldId xmlns:r="http://schemas.openxmlformats.org/officeDocument/2006/relationships" id="260" r:id="R7a3ee53e0b554c2f"/>
    <p:sldId xmlns:r="http://schemas.openxmlformats.org/officeDocument/2006/relationships" id="261" r:id="Rdcb047684be54531"/>
    <p:sldId xmlns:r="http://schemas.openxmlformats.org/officeDocument/2006/relationships" id="262" r:id="R1e31e8b4209e4c97"/>
    <p:sldId xmlns:r="http://schemas.openxmlformats.org/officeDocument/2006/relationships" id="263" r:id="Rc1bfd223bc444e4c"/>
    <p:sldId xmlns:r="http://schemas.openxmlformats.org/officeDocument/2006/relationships" id="264" r:id="Rf4c2a70ae7114153"/>
    <p:sldId xmlns:r="http://schemas.openxmlformats.org/officeDocument/2006/relationships" id="265" r:id="R544b962d1c714e24"/>
    <p:sldId xmlns:r="http://schemas.openxmlformats.org/officeDocument/2006/relationships" id="266" r:id="Radac386a12554a1d"/>
    <p:sldId xmlns:r="http://schemas.openxmlformats.org/officeDocument/2006/relationships" id="267" r:id="R6881a5e942094eab"/>
    <p:sldId xmlns:r="http://schemas.openxmlformats.org/officeDocument/2006/relationships" id="268" r:id="R6369f138a31a4370"/>
    <p:sldId xmlns:r="http://schemas.openxmlformats.org/officeDocument/2006/relationships" id="269" r:id="R5f5692dc20564090"/>
    <p:sldId xmlns:r="http://schemas.openxmlformats.org/officeDocument/2006/relationships" id="270" r:id="Rd7cc840d0cdb4b24"/>
    <p:sldId xmlns:r="http://schemas.openxmlformats.org/officeDocument/2006/relationships" id="271" r:id="Re08c74d978e24d7f"/>
    <p:sldId xmlns:r="http://schemas.openxmlformats.org/officeDocument/2006/relationships" id="272" r:id="R2a30175410cb4229"/>
    <p:sldId xmlns:r="http://schemas.openxmlformats.org/officeDocument/2006/relationships" id="273" r:id="R660b054a134543b5"/>
    <p:sldId xmlns:r="http://schemas.openxmlformats.org/officeDocument/2006/relationships" id="274" r:id="R187a6836878a4e44"/>
    <p:sldId xmlns:r="http://schemas.openxmlformats.org/officeDocument/2006/relationships" id="275" r:id="R7a0e5e0f1a3c49ae"/>
    <p:sldId xmlns:r="http://schemas.openxmlformats.org/officeDocument/2006/relationships" id="276" r:id="Rec7177505eb245d4"/>
    <p:sldId xmlns:r="http://schemas.openxmlformats.org/officeDocument/2006/relationships" id="277" r:id="Rc18ed53934a54519"/>
    <p:sldId xmlns:r="http://schemas.openxmlformats.org/officeDocument/2006/relationships" id="278" r:id="R44e8145b1c864196"/>
    <p:sldId xmlns:r="http://schemas.openxmlformats.org/officeDocument/2006/relationships" id="279" r:id="Rb61f71f0ed4a49ad"/>
    <p:sldId xmlns:r="http://schemas.openxmlformats.org/officeDocument/2006/relationships" id="280" r:id="R4553c9dfb56f40ca"/>
    <p:sldId xmlns:r="http://schemas.openxmlformats.org/officeDocument/2006/relationships" id="281" r:id="R31abf23177a34f60"/>
    <p:sldId xmlns:r="http://schemas.openxmlformats.org/officeDocument/2006/relationships" id="282" r:id="Re067c0cca3894d15"/>
    <p:sldId xmlns:r="http://schemas.openxmlformats.org/officeDocument/2006/relationships" id="283" r:id="R38af8c02ad6047bb"/>
    <p:sldId xmlns:r="http://schemas.openxmlformats.org/officeDocument/2006/relationships" id="284" r:id="Ra595fe0e5f06484d"/>
    <p:sldId xmlns:r="http://schemas.openxmlformats.org/officeDocument/2006/relationships" id="285" r:id="Rf892c45ccfa44a5b"/>
    <p:sldId xmlns:r="http://schemas.openxmlformats.org/officeDocument/2006/relationships" id="286" r:id="R77009d66b59a4372"/>
    <p:sldId xmlns:r="http://schemas.openxmlformats.org/officeDocument/2006/relationships" id="287" r:id="R27f1c37eaa75495e"/>
    <p:sldId xmlns:r="http://schemas.openxmlformats.org/officeDocument/2006/relationships" id="288" r:id="R72e0bfb5f9864189"/>
    <p:sldId xmlns:r="http://schemas.openxmlformats.org/officeDocument/2006/relationships" id="289" r:id="R11728ca5d1f048f3"/>
    <p:sldId xmlns:r="http://schemas.openxmlformats.org/officeDocument/2006/relationships" id="290" r:id="Ra60f3e0dd81346be"/>
    <p:sldId xmlns:r="http://schemas.openxmlformats.org/officeDocument/2006/relationships" id="291" r:id="Rf6f35981a6324d3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0a9eb1b5284323" /><Relationship Type="http://schemas.openxmlformats.org/officeDocument/2006/relationships/slideMaster" Target="/ppt/slideMasters/slideMaster1.xml" Id="R75b639d86f12490d" /><Relationship Type="http://schemas.openxmlformats.org/officeDocument/2006/relationships/notesMaster" Target="/ppt/notesMasters/notesMaster1.xml" Id="R835ccb01210a473a" /><Relationship Type="http://schemas.openxmlformats.org/officeDocument/2006/relationships/presProps" Target="/ppt/presProps.xml" Id="Ree90fb267167443f" /><Relationship Type="http://schemas.openxmlformats.org/officeDocument/2006/relationships/viewProps" Target="/ppt/viewProps.xml" Id="R1ebfe3d0a6d548f5" /><Relationship Type="http://schemas.openxmlformats.org/officeDocument/2006/relationships/tableStyles" Target="/ppt/tableStyles.xml" Id="Rfce66c672fd7447e" /><Relationship Type="http://schemas.openxmlformats.org/officeDocument/2006/relationships/slide" Target="/ppt/slides/slide1.xml" Id="R1fa4a02c910e4a98" /><Relationship Type="http://schemas.openxmlformats.org/officeDocument/2006/relationships/slide" Target="/ppt/slides/slide2.xml" Id="R390568be74144b0a" /><Relationship Type="http://schemas.openxmlformats.org/officeDocument/2006/relationships/slide" Target="/ppt/slides/slide3.xml" Id="R605e7e5b6e734b05" /><Relationship Type="http://schemas.openxmlformats.org/officeDocument/2006/relationships/slide" Target="/ppt/slides/slide4.xml" Id="Ra27f251ff45b4af0" /><Relationship Type="http://schemas.openxmlformats.org/officeDocument/2006/relationships/slide" Target="/ppt/slides/slide5.xml" Id="R7a3ee53e0b554c2f" /><Relationship Type="http://schemas.openxmlformats.org/officeDocument/2006/relationships/slide" Target="/ppt/slides/slide6.xml" Id="Rdcb047684be54531" /><Relationship Type="http://schemas.openxmlformats.org/officeDocument/2006/relationships/slide" Target="/ppt/slides/slide7.xml" Id="R1e31e8b4209e4c97" /><Relationship Type="http://schemas.openxmlformats.org/officeDocument/2006/relationships/slide" Target="/ppt/slides/slide8.xml" Id="Rc1bfd223bc444e4c" /><Relationship Type="http://schemas.openxmlformats.org/officeDocument/2006/relationships/slide" Target="/ppt/slides/slide9.xml" Id="Rf4c2a70ae7114153" /><Relationship Type="http://schemas.openxmlformats.org/officeDocument/2006/relationships/slide" Target="/ppt/slides/slide10.xml" Id="R544b962d1c714e24" /><Relationship Type="http://schemas.openxmlformats.org/officeDocument/2006/relationships/slide" Target="/ppt/slides/slide11.xml" Id="Radac386a12554a1d" /><Relationship Type="http://schemas.openxmlformats.org/officeDocument/2006/relationships/slide" Target="/ppt/slides/slide12.xml" Id="R6881a5e942094eab" /><Relationship Type="http://schemas.openxmlformats.org/officeDocument/2006/relationships/slide" Target="/ppt/slides/slide13.xml" Id="R6369f138a31a4370" /><Relationship Type="http://schemas.openxmlformats.org/officeDocument/2006/relationships/slide" Target="/ppt/slides/slide14.xml" Id="R5f5692dc20564090" /><Relationship Type="http://schemas.openxmlformats.org/officeDocument/2006/relationships/slide" Target="/ppt/slides/slide15.xml" Id="Rd7cc840d0cdb4b24" /><Relationship Type="http://schemas.openxmlformats.org/officeDocument/2006/relationships/slide" Target="/ppt/slides/slide16.xml" Id="Re08c74d978e24d7f" /><Relationship Type="http://schemas.openxmlformats.org/officeDocument/2006/relationships/slide" Target="/ppt/slides/slide17.xml" Id="R2a30175410cb4229" /><Relationship Type="http://schemas.openxmlformats.org/officeDocument/2006/relationships/slide" Target="/ppt/slides/slide18.xml" Id="R660b054a134543b5" /><Relationship Type="http://schemas.openxmlformats.org/officeDocument/2006/relationships/slide" Target="/ppt/slides/slide19.xml" Id="R187a6836878a4e44" /><Relationship Type="http://schemas.openxmlformats.org/officeDocument/2006/relationships/slide" Target="/ppt/slides/slide20.xml" Id="R7a0e5e0f1a3c49ae" /><Relationship Type="http://schemas.openxmlformats.org/officeDocument/2006/relationships/slide" Target="/ppt/slides/slide21.xml" Id="Rec7177505eb245d4" /><Relationship Type="http://schemas.openxmlformats.org/officeDocument/2006/relationships/slide" Target="/ppt/slides/slide22.xml" Id="Rc18ed53934a54519" /><Relationship Type="http://schemas.openxmlformats.org/officeDocument/2006/relationships/slide" Target="/ppt/slides/slide23.xml" Id="R44e8145b1c864196" /><Relationship Type="http://schemas.openxmlformats.org/officeDocument/2006/relationships/slide" Target="/ppt/slides/slide24.xml" Id="Rb61f71f0ed4a49ad" /><Relationship Type="http://schemas.openxmlformats.org/officeDocument/2006/relationships/slide" Target="/ppt/slides/slide25.xml" Id="R4553c9dfb56f40ca" /><Relationship Type="http://schemas.openxmlformats.org/officeDocument/2006/relationships/slide" Target="/ppt/slides/slide26.xml" Id="R31abf23177a34f60" /><Relationship Type="http://schemas.openxmlformats.org/officeDocument/2006/relationships/slide" Target="/ppt/slides/slide27.xml" Id="Re067c0cca3894d15" /><Relationship Type="http://schemas.openxmlformats.org/officeDocument/2006/relationships/slide" Target="/ppt/slides/slide28.xml" Id="R38af8c02ad6047bb" /><Relationship Type="http://schemas.openxmlformats.org/officeDocument/2006/relationships/slide" Target="/ppt/slides/slide29.xml" Id="Ra595fe0e5f06484d" /><Relationship Type="http://schemas.openxmlformats.org/officeDocument/2006/relationships/slide" Target="/ppt/slides/slide30.xml" Id="Rf892c45ccfa44a5b" /><Relationship Type="http://schemas.openxmlformats.org/officeDocument/2006/relationships/slide" Target="/ppt/slides/slide31.xml" Id="R77009d66b59a4372" /><Relationship Type="http://schemas.openxmlformats.org/officeDocument/2006/relationships/slide" Target="/ppt/slides/slide32.xml" Id="R27f1c37eaa75495e" /><Relationship Type="http://schemas.openxmlformats.org/officeDocument/2006/relationships/slide" Target="/ppt/slides/slide33.xml" Id="R72e0bfb5f9864189" /><Relationship Type="http://schemas.openxmlformats.org/officeDocument/2006/relationships/slide" Target="/ppt/slides/slide34.xml" Id="R11728ca5d1f048f3" /><Relationship Type="http://schemas.openxmlformats.org/officeDocument/2006/relationships/slide" Target="/ppt/slides/slide35.xml" Id="Ra60f3e0dd81346be" /><Relationship Type="http://schemas.openxmlformats.org/officeDocument/2006/relationships/slide" Target="/ppt/slides/slide36.xml" Id="Rf6f35981a6324d3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cddc6592de435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8055840f354ceb" /><Relationship Type="http://schemas.openxmlformats.org/officeDocument/2006/relationships/notesMaster" Target="/ppt/notesMasters/notesMaster1.xml" Id="R588ed95130934e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7f3034a97c4eeb" /><Relationship Type="http://schemas.openxmlformats.org/officeDocument/2006/relationships/notesMaster" Target="/ppt/notesMasters/notesMaster1.xml" Id="R07cc03b844b748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edea56ce10486c" /><Relationship Type="http://schemas.openxmlformats.org/officeDocument/2006/relationships/notesMaster" Target="/ppt/notesMasters/notesMaster1.xml" Id="R6fdbf461718e46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0e06b98ef164441" /><Relationship Type="http://schemas.openxmlformats.org/officeDocument/2006/relationships/notesMaster" Target="/ppt/notesMasters/notesMaster1.xml" Id="R0dc1a6a6d0354b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e007b462fc4d42" /><Relationship Type="http://schemas.openxmlformats.org/officeDocument/2006/relationships/notesMaster" Target="/ppt/notesMasters/notesMaster1.xml" Id="R98130c91605b43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c67bf1db074a03" /><Relationship Type="http://schemas.openxmlformats.org/officeDocument/2006/relationships/notesMaster" Target="/ppt/notesMasters/notesMaster1.xml" Id="R44ab9a2146344c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8696cd990f49fa" /><Relationship Type="http://schemas.openxmlformats.org/officeDocument/2006/relationships/notesMaster" Target="/ppt/notesMasters/notesMaster1.xml" Id="R7118b4fb4df444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e5054525714173" /><Relationship Type="http://schemas.openxmlformats.org/officeDocument/2006/relationships/notesMaster" Target="/ppt/notesMasters/notesMaster1.xml" Id="R2c76b9b7d72d45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40103b95ca430a" /><Relationship Type="http://schemas.openxmlformats.org/officeDocument/2006/relationships/notesMaster" Target="/ppt/notesMasters/notesMaster1.xml" Id="Rd95e957bbe814e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ac12941d7d4555" /><Relationship Type="http://schemas.openxmlformats.org/officeDocument/2006/relationships/notesMaster" Target="/ppt/notesMasters/notesMaster1.xml" Id="Re99e493c76ce44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dfbdde264b4c54" /><Relationship Type="http://schemas.openxmlformats.org/officeDocument/2006/relationships/notesMaster" Target="/ppt/notesMasters/notesMaster1.xml" Id="Ra84de40d624d40d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95919e64b44e20" /><Relationship Type="http://schemas.openxmlformats.org/officeDocument/2006/relationships/notesMaster" Target="/ppt/notesMasters/notesMaster1.xml" Id="R58bb523353fb4a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f30a0de507940d2" /><Relationship Type="http://schemas.openxmlformats.org/officeDocument/2006/relationships/notesMaster" Target="/ppt/notesMasters/notesMaster1.xml" Id="Reac5d4d4d0a54e9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dab08db94984dc2" /><Relationship Type="http://schemas.openxmlformats.org/officeDocument/2006/relationships/notesMaster" Target="/ppt/notesMasters/notesMaster1.xml" Id="R073b827d280b455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159fc671ff4df4" /><Relationship Type="http://schemas.openxmlformats.org/officeDocument/2006/relationships/notesMaster" Target="/ppt/notesMasters/notesMaster1.xml" Id="R7e53a5ab86a04ca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f9ac2fbb97418d" /><Relationship Type="http://schemas.openxmlformats.org/officeDocument/2006/relationships/notesMaster" Target="/ppt/notesMasters/notesMaster1.xml" Id="Rf98f587de3544cc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10299ab056548f7" /><Relationship Type="http://schemas.openxmlformats.org/officeDocument/2006/relationships/notesMaster" Target="/ppt/notesMasters/notesMaster1.xml" Id="Rd7b11e52d85b4a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5324e3858254ac3" /><Relationship Type="http://schemas.openxmlformats.org/officeDocument/2006/relationships/notesMaster" Target="/ppt/notesMasters/notesMaster1.xml" Id="Rafd58d38bec14f9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b49ecce46e84e23" /><Relationship Type="http://schemas.openxmlformats.org/officeDocument/2006/relationships/notesMaster" Target="/ppt/notesMasters/notesMaster1.xml" Id="Rc964d260f126411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25bc069485d49b2" /><Relationship Type="http://schemas.openxmlformats.org/officeDocument/2006/relationships/notesMaster" Target="/ppt/notesMasters/notesMaster1.xml" Id="R40db8ebcd2c14c3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6c99d89fbc849f4" /><Relationship Type="http://schemas.openxmlformats.org/officeDocument/2006/relationships/notesMaster" Target="/ppt/notesMasters/notesMaster1.xml" Id="R737c29384dc141b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1894ba10b3a4998" /><Relationship Type="http://schemas.openxmlformats.org/officeDocument/2006/relationships/notesMaster" Target="/ppt/notesMasters/notesMaster1.xml" Id="Rb7006aa239c9498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037cb5cd46a47ce" /><Relationship Type="http://schemas.openxmlformats.org/officeDocument/2006/relationships/notesMaster" Target="/ppt/notesMasters/notesMaster1.xml" Id="R9de16b7acc9b44e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4125b5b344449cc" /><Relationship Type="http://schemas.openxmlformats.org/officeDocument/2006/relationships/notesMaster" Target="/ppt/notesMasters/notesMaster1.xml" Id="R09c0731b259f407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47a87e4dd194f06" /><Relationship Type="http://schemas.openxmlformats.org/officeDocument/2006/relationships/notesMaster" Target="/ppt/notesMasters/notesMaster1.xml" Id="R3362fb3599124f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677d682e6734ec7" /><Relationship Type="http://schemas.openxmlformats.org/officeDocument/2006/relationships/notesMaster" Target="/ppt/notesMasters/notesMaster1.xml" Id="Rce219b903eeb498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0b4bb9e3a0043b5" /><Relationship Type="http://schemas.openxmlformats.org/officeDocument/2006/relationships/notesMaster" Target="/ppt/notesMasters/notesMaster1.xml" Id="R759a2d63634d425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554918895f14807" /><Relationship Type="http://schemas.openxmlformats.org/officeDocument/2006/relationships/notesMaster" Target="/ppt/notesMasters/notesMaster1.xml" Id="Rd928e946e00e42e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3441a84cdf44c80" /><Relationship Type="http://schemas.openxmlformats.org/officeDocument/2006/relationships/notesMaster" Target="/ppt/notesMasters/notesMaster1.xml" Id="Rb842cfe63684468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ef57eb69f094bb8" /><Relationship Type="http://schemas.openxmlformats.org/officeDocument/2006/relationships/notesMaster" Target="/ppt/notesMasters/notesMaster1.xml" Id="R8ae9c793e759455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796f1d4b19b4e0b" /><Relationship Type="http://schemas.openxmlformats.org/officeDocument/2006/relationships/notesMaster" Target="/ppt/notesMasters/notesMaster1.xml" Id="R55511518d15741c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fabdafde86b4698" /><Relationship Type="http://schemas.openxmlformats.org/officeDocument/2006/relationships/notesMaster" Target="/ppt/notesMasters/notesMaster1.xml" Id="R7d0020f6b1664b6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6bb20c1e8504932" /><Relationship Type="http://schemas.openxmlformats.org/officeDocument/2006/relationships/notesMaster" Target="/ppt/notesMasters/notesMaster1.xml" Id="R138d28c7a8754c5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e46321ca4f94202" /><Relationship Type="http://schemas.openxmlformats.org/officeDocument/2006/relationships/notesMaster" Target="/ppt/notesMasters/notesMaster1.xml" Id="R5fb93e63f3c44d2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a367147ee66475e" /><Relationship Type="http://schemas.openxmlformats.org/officeDocument/2006/relationships/notesMaster" Target="/ppt/notesMasters/notesMaster1.xml" Id="R2c314b03a0044bc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3a6b6233b6a41a9" /><Relationship Type="http://schemas.openxmlformats.org/officeDocument/2006/relationships/notesMaster" Target="/ppt/notesMasters/notesMaster1.xml" Id="R75e16e371a6943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03022cc11c42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a6140d252d42ad" /><Relationship Type="http://schemas.openxmlformats.org/officeDocument/2006/relationships/slideLayout" Target="/ppt/slideLayouts/slideLayout1.xml" Id="R9140d5ea5f9143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40d5ea5f9143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8eb50abe94c74" /><Relationship Type="http://schemas.openxmlformats.org/officeDocument/2006/relationships/notesSlide" Target="/ppt/notesSlides/notesSlide1.xml" Id="Ra9e0d6042a9a4a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623a1740c4f55" /><Relationship Type="http://schemas.openxmlformats.org/officeDocument/2006/relationships/notesSlide" Target="/ppt/notesSlides/notesSlide2.xml" Id="R4cce7d4d923945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007db660f4201" /><Relationship Type="http://schemas.openxmlformats.org/officeDocument/2006/relationships/notesSlide" Target="/ppt/notesSlides/notesSlide3.xml" Id="R47dbaa758ec143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36e18ec5c4eb9" /><Relationship Type="http://schemas.openxmlformats.org/officeDocument/2006/relationships/notesSlide" Target="/ppt/notesSlides/notesSlide4.xml" Id="Rca5f8990d4914c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f55431a954d0c" /><Relationship Type="http://schemas.openxmlformats.org/officeDocument/2006/relationships/notesSlide" Target="/ppt/notesSlides/notesSlide5.xml" Id="Rd151ac3759d54f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1b849336924cf3" /><Relationship Type="http://schemas.openxmlformats.org/officeDocument/2006/relationships/notesSlide" Target="/ppt/notesSlides/notesSlide6.xml" Id="R35061874f39a49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cb813a1a84169" /><Relationship Type="http://schemas.openxmlformats.org/officeDocument/2006/relationships/notesSlide" Target="/ppt/notesSlides/notesSlide7.xml" Id="R703430f43a8a4b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293ae9ff14275" /><Relationship Type="http://schemas.openxmlformats.org/officeDocument/2006/relationships/notesSlide" Target="/ppt/notesSlides/notesSlide8.xml" Id="Rc4d8e4cac8084f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2097895bf4248" /><Relationship Type="http://schemas.openxmlformats.org/officeDocument/2006/relationships/notesSlide" Target="/ppt/notesSlides/notesSlide9.xml" Id="Ra4d05e7b85c143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9f8c9bfb646f8" /><Relationship Type="http://schemas.openxmlformats.org/officeDocument/2006/relationships/notesSlide" Target="/ppt/notesSlides/notesSlide10.xml" Id="Rd2f7b8686d7e4ca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5f72204b14a47" /><Relationship Type="http://schemas.openxmlformats.org/officeDocument/2006/relationships/notesSlide" Target="/ppt/notesSlides/notesSlide11.xml" Id="R82037be0bec844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5a984cb4be4de3" /><Relationship Type="http://schemas.openxmlformats.org/officeDocument/2006/relationships/notesSlide" Target="/ppt/notesSlides/notesSlide12.xml" Id="R89f54c7d7e35424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7b5355bff74072" /><Relationship Type="http://schemas.openxmlformats.org/officeDocument/2006/relationships/notesSlide" Target="/ppt/notesSlides/notesSlide13.xml" Id="R5c7e27c4ad304c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80502b969843e8" /><Relationship Type="http://schemas.openxmlformats.org/officeDocument/2006/relationships/notesSlide" Target="/ppt/notesSlides/notesSlide14.xml" Id="R604cfb48206e43c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7cf104b3a94411" /><Relationship Type="http://schemas.openxmlformats.org/officeDocument/2006/relationships/notesSlide" Target="/ppt/notesSlides/notesSlide15.xml" Id="R4497aadb43ce4a5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017aaf2ee4779" /><Relationship Type="http://schemas.openxmlformats.org/officeDocument/2006/relationships/notesSlide" Target="/ppt/notesSlides/notesSlide16.xml" Id="Rf5450c0ba429430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ff8aeb57f45e4" /><Relationship Type="http://schemas.openxmlformats.org/officeDocument/2006/relationships/notesSlide" Target="/ppt/notesSlides/notesSlide17.xml" Id="R0a7d6a71355e46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37536c23140b4" /><Relationship Type="http://schemas.openxmlformats.org/officeDocument/2006/relationships/notesSlide" Target="/ppt/notesSlides/notesSlide18.xml" Id="R2ddbbd3c542544e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2727432454984" /><Relationship Type="http://schemas.openxmlformats.org/officeDocument/2006/relationships/notesSlide" Target="/ppt/notesSlides/notesSlide19.xml" Id="Rda5625e90a504c1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d143f5ea347a3" /><Relationship Type="http://schemas.openxmlformats.org/officeDocument/2006/relationships/notesSlide" Target="/ppt/notesSlides/notesSlide20.xml" Id="R0a6ae72a4e074f7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c7da9085a2436c" /><Relationship Type="http://schemas.openxmlformats.org/officeDocument/2006/relationships/notesSlide" Target="/ppt/notesSlides/notesSlide21.xml" Id="R9c7e7b363099471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b849fa14f4d10" /><Relationship Type="http://schemas.openxmlformats.org/officeDocument/2006/relationships/notesSlide" Target="/ppt/notesSlides/notesSlide22.xml" Id="Rdfad6c9b30f7420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40102107d400d" /><Relationship Type="http://schemas.openxmlformats.org/officeDocument/2006/relationships/notesSlide" Target="/ppt/notesSlides/notesSlide23.xml" Id="R83223d494929407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87caa545e4ef0" /><Relationship Type="http://schemas.openxmlformats.org/officeDocument/2006/relationships/notesSlide" Target="/ppt/notesSlides/notesSlide24.xml" Id="Rce9b107e9e814ca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9057742774694" /><Relationship Type="http://schemas.openxmlformats.org/officeDocument/2006/relationships/notesSlide" Target="/ppt/notesSlides/notesSlide25.xml" Id="Ra51fa492901e43e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bb038562f74c9f" /><Relationship Type="http://schemas.openxmlformats.org/officeDocument/2006/relationships/notesSlide" Target="/ppt/notesSlides/notesSlide26.xml" Id="Rc580ccbbe14d4c8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5c741997a4465" /><Relationship Type="http://schemas.openxmlformats.org/officeDocument/2006/relationships/notesSlide" Target="/ppt/notesSlides/notesSlide27.xml" Id="R3f65a5ea2f144e6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d458f09ab04d0f" /><Relationship Type="http://schemas.openxmlformats.org/officeDocument/2006/relationships/notesSlide" Target="/ppt/notesSlides/notesSlide28.xml" Id="R28972ba7fd7241d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5e9b1e7c14b98" /><Relationship Type="http://schemas.openxmlformats.org/officeDocument/2006/relationships/notesSlide" Target="/ppt/notesSlides/notesSlide29.xml" Id="R8f3edefb7bf949e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bca2d1d284eab" /><Relationship Type="http://schemas.openxmlformats.org/officeDocument/2006/relationships/notesSlide" Target="/ppt/notesSlides/notesSlide30.xml" Id="R737294eaaf89432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233276c3b4da5" /><Relationship Type="http://schemas.openxmlformats.org/officeDocument/2006/relationships/notesSlide" Target="/ppt/notesSlides/notesSlide31.xml" Id="Rc76f52d7866b403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d94e9d0c94a4e" /><Relationship Type="http://schemas.openxmlformats.org/officeDocument/2006/relationships/notesSlide" Target="/ppt/notesSlides/notesSlide32.xml" Id="R6143447173f0443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39e3dd8274f1b" /><Relationship Type="http://schemas.openxmlformats.org/officeDocument/2006/relationships/notesSlide" Target="/ppt/notesSlides/notesSlide33.xml" Id="R595a50505a864e7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66adb22544983" /><Relationship Type="http://schemas.openxmlformats.org/officeDocument/2006/relationships/notesSlide" Target="/ppt/notesSlides/notesSlide34.xml" Id="Rd9f311df9499428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9809d15884b00" /><Relationship Type="http://schemas.openxmlformats.org/officeDocument/2006/relationships/notesSlide" Target="/ppt/notesSlides/notesSlide35.xml" Id="Rebee8117fbe440b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e498345e64e28" /><Relationship Type="http://schemas.openxmlformats.org/officeDocument/2006/relationships/notesSlide" Target="/ppt/notesSlides/notesSlide36.xml" Id="R8883b46b5da34b3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0AC469-EC13-431D-AEC1-BBD22F9E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9E72A-A768-4E26-ADA7-53E56A90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479FE2-3876-40AE-848A-DC69E84A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350B61-BEAD-4040-A0F9-E33F67F9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216FE-4112-4072-AE54-40EA852F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38550"/>
            <a:ext cx="619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Продуктовая презентация для обсуждения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1D1AF0-781A-4024-B9DE-FB267CB2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15061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17027-E4EA-4CE8-A3AB-274A4CF9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674B6B-458C-419D-9BFE-2C931E2A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DA5D60-9D30-4506-BB47-C79BEFEA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06986-567F-4DBD-8387-76410A4B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47F0F-D4BD-4875-A0F2-B21938FD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Короткий ответ: что мы строим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669DFE-2926-4714-84CB-41A0E066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1E7A2-758D-4D66-B526-93CDD87E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058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8076A-F914-4F0A-B60D-B59F923E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9525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 — это персональный weekly visual self-guidance продукт: пользователь вводит дату рождения и текущий запрос, получает прогноз недели, проходит daily episodes и видит, как меняется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9C11F-FF61-418C-9F73-4B72D29E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E4DF7E-C3D0-41C0-9530-B7793CA9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Что продаем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149521-1D1A-450D-AD2B-71D7340C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2647950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“астрологию”, а понятную неделю: смысл → действие → визуальное изменение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161B34-458E-4C56-9E7C-CBC277CE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476500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791F4-78C4-4D88-81B5-DAB13490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479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Почему сейчас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DCD266-64B1-4D78-A3E7-F9315E68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47950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уже платит за personal guidance, daily wellness, AI companion и visual AI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412708-35DB-4EF5-909B-EC3AACFC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57625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4E514-A342-4D05-BC15-0A88770E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Что в MVP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12C183-560F-489E-A7B4-E6FBB7E0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029075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forecast, daily card, action/reset, Life Canvas, Plus paywall, один video-token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18EE5B-F9A0-40B3-851B-389DD10A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857625"/>
            <a:ext cx="4686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88841B-B461-4BDB-B5E2-178FF82F2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029075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Главный риск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2FABE5-4EE2-4C3E-8471-6C5D5515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29075"/>
            <a:ext cx="2495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должен понимать: Canvas изменился из-за моего действия, а не случайной генерации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69FEE5-C4A1-4001-A636-F5B5F383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67350"/>
            <a:ext cx="7886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9B85E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6BA23E-78DC-41C7-A279-B1ECAA0D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81650"/>
            <a:ext cx="756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не спорить о рынке, а проверить loop на 30-50 пользователях.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158913-DF7E-4620-BA91-3BCA803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849139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8F07CF-DA10-4BAE-A2E7-23B70140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243FC-F287-4B27-AAF7-94DB1581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559A3-A76C-4B93-9382-0A345914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10B736-46A2-48A5-9D3A-11E02435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ADB1B-60FC-4E5F-ACC3-87019020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Компас показателей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D52FE-5C09-483D-BA1F-0BC91E4D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1F360-97C7-410B-9EAC-A32E2D50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8110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каждом финансовом или рыночном слайде важна не сама таблица, а показатель, который меняет решение.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DC1A3-B365-45CB-A599-F3F1C138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AC38D-0B9C-469F-932B-E42FE2EB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3F13C-2D2B-4665-B45D-F4EBDCA6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7645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Возврат D1/D7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Понимание Canvas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F9F5E8-1481-4E76-AB42-D1691E59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38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понимает ли человек ценность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98BF8-73F4-489A-96D3-84FF3543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0500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992B57-F681-4840-808C-30292404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574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Деньги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428DF-9698-479A-94C2-2F1C8B8E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7645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интерес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в оплату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Выручка на пользователя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23EFA1-88AD-4934-85B0-5015626A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384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платная модель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92D03F-FB14-4035-A1D8-C722B0A2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A74E0-A2F2-4F36-AAF7-0DA6BCD6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671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Себестоимость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CD4853-A327-4ACD-BD4B-C37F8394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 free-user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Расход платящего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Стоимость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D95B-1E4F-4423-92C1-B0D8716D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482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съедает ли AI маржу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048F17-6017-4636-A981-5BF793CB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14750"/>
            <a:ext cx="4648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537AC6-7026-431A-B2CE-77F66F49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671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Рост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61EDFB-6DA0-4A82-959D-3EAAC03B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200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регистрации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активации</a:t>
            </a:r>
          </a:p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Доказательство от авторов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6E8DC5-CCE2-4D63-B45E-8E8A4350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482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приводить людей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A580FA-EE01-49CD-9C09-B0F4A3F1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7620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9B85E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728EBB-E51E-44E1-84DF-2C24966A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734050"/>
            <a:ext cx="7143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Каждый блок ниже читается через один вопрос: какой показатель меняет решение по продукту?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05FD14-DBDF-48B8-97A2-358AE63F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5271066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514AB2-4E90-4B38-8274-6E192041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9DB699-DD8C-4198-AEB3-9E77BF9D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758D6-E0DB-4FF4-B76F-31E79386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0049D1-208F-4053-9766-D03D1558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9CBB1-A61F-4591-9BE1-AC299DD6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уже доказали лидеры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3C8C1D-38F2-43CE-BFA5-2EFCB127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0E6B0-8D7D-4220-86A6-CECFAF4B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BD5FF-0524-42F3-BFB8-6E0FC672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8DA623-500F-4738-862C-2E140096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личная навигация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64468-A72B-4C67-86DC-CB169D11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рождения, недельный смысл, совместимость, платные разборы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989F9E-5408-4438-9B5A-72440642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iOS: $718K-$797K/мес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AA5B6D-25A2-4829-B3CF-9B83B37D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E7290B-DC28-49ED-AF02-98CA2680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9C5C9-54B4-42B5-BB7B-151BCE22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B24EC5-5B56-4CDF-ABC9-5661C382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 к подписке, годовые планы, wellness-привычка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6C9D2D-E10A-41DB-8FBA-57EFE507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proxy: около $300M/год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58DB4-7882-4E15-B944-CDA849F6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62CE21-FF05-42DA-B98E-C1A8EFDC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24B9C3-3A57-43D4-9983-D6AD6D22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петля помощника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E05E52-0103-4A7F-A778-91210890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аватар, мягкий возврат, эмоциональная непрерывность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EF8443-95CD-4007-B2B3-16330446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оценки: $1.5M-$2.36M/мес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B01217-5734-42AC-9233-FABF8F64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C0F6A2-D306-4069-A2DC-7549389E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68069E-57A6-41F0-A3E0-6FB16AA9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визуальный AI-слой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E776ED-9157-44DA-812C-8B2211A3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видео/аватар как premium-результат, не дешевый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045D05-7D75-4602-A97F-4FC35A69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8B9FC3-C3E4-45EB-B738-D6D65579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рынке уже есть все ингредиенты. AURA собирает их в один причинный недельный опыт.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4A63F1-D6B8-425D-8F3E-612C1E11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6213682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68C79C-7888-44EF-A59A-49EE53B8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4624E-1B1D-4D25-8EFE-7324B328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FA5B5-4810-4CA9-B9A5-92062584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4E0DEF-F8CB-4597-8DED-41C6ECB85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8B446-28A4-430D-8B66-A30ADFDE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Новый формат находится на пересечении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126365-5A0A-4D40-BB88-153CE8AE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D5B0B2-4DFE-4A00-999B-833623BC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73E0C-D32D-4566-82A7-3D6C429A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D2DE4-8516-47C2-8FB1-DF564C0D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0630E-07FE-40DC-BD4F-EC366564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E619ED-FC61-40BC-8669-A6FFC818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077DA-D62B-46D6-BE86-23EFF173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6D926A-96A0-41EA-9127-C87D853E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44FDA8-9797-45C5-975C-2B52904D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D9F25E-9C4F-48D5-B025-D2D05EFB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/ ассистент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B9A7E-4B85-46B8-8A3B-2B411446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B8AB46-3C1A-40FF-9E1F-14030BCE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3065D7-5740-47C0-AC64-68A9C1B1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F6A93-22E7-4D2C-9A6B-57A54890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5EF37C-77FE-47BA-8F2C-80DF2F9A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8DB617-12AB-4187-BBA0-C7082288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визуальная навигация недели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36BCC-80D4-496D-8338-ABFDF19E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не “еще одно приложение с гороскопами”. Это сериал о своей неделе, где смысл приводит к действию, а действие меняет визуальное состояние.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1DAB9C-4F3E-492E-AA85-12FB9223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9835166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0078D9-233F-46AB-8959-49605F67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A1C9A-A92E-456D-80EC-8DA53028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8DD3C-9E45-4EF9-8EFF-45F52417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D6656-38FA-4A90-855C-1A8A998B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11173-103C-481F-B26C-95526A12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Пользовательская проблема → ответ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BEE75E-E413-4A25-BBCE-3C48ECE2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5897CE-AF1E-428B-8177-9D38F259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сейчас болит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325A21-2918-432C-96B9-72A2F14E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02500-4AD4-4E28-B379-FE0B6E651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Гороскопы дают смысл, но часто звучат общо и не ведут к действию.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52561-F476-4020-8F67-523DE100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3A4AEE-75CE-4F93-85F5-5AB8421A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 дает ритуал, но не объясняет личную неделю пользователя.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050711-3378-4356-8195-C6AADEC8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69EB6C-F7FC-48A1-B73C-EDB36232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умеет помнить, но не превращает неделю в понятную структуру.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9DD28B-FCCF-4C4E-9973-029EF0CA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BA7C39-5C86-43B7-B77F-0ECB9A5B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Avatar/video tools дают вау-картинку, но она часто не связана с поведением.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D5C132-50EA-40AE-85CD-160B040A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должна дать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4C4BD9-E6B0-418E-9736-AC57C8FA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2988C3-70E3-4667-B19B-B9DE1190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прогноз недели на основе birth data и текущего запроса.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2DF7A6-8DAA-4D06-9C1F-3A9AF864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E9943E-7448-40B9-A903-176C1652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episode: один фокус дня, одно маленькое действие, один reset.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E30626-5C81-4F5D-936E-AD694218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B15FC0-06F0-4C9B-B08F-794B49AE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Canvas: визуальная картинка меняется не случайно, а по причине.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2393BB-7E0E-4D81-8856-FE8884DD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EF10D2-4DA4-4421-A6E2-28D3384F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recap/video: неделя ощущается как серия жизни, а не набор карточек.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962FFD-6E1D-4A96-A32F-C8421E518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5A6179-9F1A-4E0D-B2E9-F533E5FC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Ассистент с памятью: пользователь чувствует продолжение, а не новый чат с нуля.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F0309E-110C-484F-8EDC-BDBCD0E2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C7318D-2CA5-4D49-B941-5F4F2D8A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482345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4BBAF9-6594-4394-ADC9-8EEF63D79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3743B-1F2F-475E-9403-9CA48404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798D7A-40DD-4B2D-A797-1277957B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3E556-B232-4196-A446-C1EE9BB1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4AAAD-5707-41E4-BC5D-45274EDC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Финальная формула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42358-1627-4414-A1B1-F9A29A19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8C996-29F0-4EFB-A7DF-2B7C8AF2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Финальная формула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0B933-50E2-42BA-BA63-1570849A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weekly visual self-guidance app: пользователь вводит birth data и текущий запрос, получает прогноз недели, проходит daily episodes и видит изменение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D409B-7D7D-4860-BF26-02F92DC5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принцип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0FB320-F760-4B09-86F5-7C921B62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 не продает “предсказание судьбы”. Он продает структуру недели: понять состояние → сделать действие → увидеть изменение → вернуться завтра.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17A22-4486-43FF-A330-647424BD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внутри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7E472-65F3-498E-A364-FC82FB92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прогнозист/ассистент с памятью, weekly season, daily action/reset, image-first Life Canvas и редкими premium video moments.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E1E9BD-ECE6-4616-B37D-80858203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отличает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ADE1CF-3DDE-4820-A55F-4A54E882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 конкурентов смысл, ритуал, AI-память и визуал часто живут отдельно. AURA соединяет их в причинную петлю.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8E76B-6460-466A-95E7-BCDCB323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не делаем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A2008-DFEC-422D-B365-83AF9914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безлимитный AI-video generator, социальную сеть или marketplace экспертов в MVP. Сначала доказываем loop.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BC2CBF-4530-4007-8DAD-1540D198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Критерий жизни продукта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83643D-69F2-4518-82C1-4D6807341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может объяснить, почему Canvas изменился, AURA имеет шанс. Если нет — это просто генератор красивых картинок.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9FDA3E-0111-41B2-8138-5B7F9C88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7554054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9565BD-E739-4328-88C0-38990B13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099FF-A860-44EE-A136-37366E30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248C4F-EDD3-483E-8BAF-AE0E3E0F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C2761-AC76-4367-BDE8-FB8440C3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8BE37E-C5AE-4358-97EA-D6B6D4CF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Продуктовая петля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DDEBB-E0A2-421C-BA8D-1A52C587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AD927-1F6D-476F-8BA8-3BEF7557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085452-AD44-494A-BFE3-F5A91F41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запрос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407701-2A4A-4716-977B-784237527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F7943-0CFA-4171-ABB0-B5F824D72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CF1DC-067F-4B8D-8F54-63BF5D57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FC4B73-9F37-48CF-B96A-C83F243D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арка сезона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B610F5-BA9C-4711-B645-5D69198A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72F342-2C25-484B-9B06-79EE1D06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F79F3C-2AAC-4102-AF16-0794109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0164A5-AD82-4350-9269-2D8AA044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174DD5-F00B-4482-8242-92951E85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1914B-0967-4393-8870-EB36F6E8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маленькое действие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06787D-DAB0-49BE-9B9D-62A1887E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4E1F1-34E8-4D13-97BE-E0657354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8F9012-ED6A-482A-B88A-FDE5AE37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причинность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ED5F56-12DC-4F9A-BE25-BDC52D14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 и есть продукт: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EB33F2-76E1-441E-9F0F-20317DFD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Источник: Google Vertex AI pricing page for Veo 2; exact video model pricing нужно перепроверить перед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A7CED0-DA6E-48C2-9162-F8148149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196030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2BD66C-60D7-4C19-8A88-F5340983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0D490-6510-4F36-8762-A260656E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C1ED5-952B-4C9E-809E-C4BADFFB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D9EC8-6EE4-4E91-B37D-30ED6F09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A4E3A-1EA9-437B-B95F-35B617A9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Путь пользователя: первые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F1512E-FCC6-4632-9D7E-823D2E16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6592E-6518-4400-943B-D0F963D7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E0D90-E602-4078-B267-9F23D6A5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B03EDE-7863-4B1B-B81D-06FFA477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376942-528A-407C-8EB3-0028A0A0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поиска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2DECD-DBAA-4871-BA41-EF69A93A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хочет смысл на неделю, мягкий reset или визуальный образ будущей версии себя.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C6013F-D475-4E47-9AC2-EA87EA31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2A4EF8-50CE-4055-B5F4-147A2E62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День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EE6162-99EF-4412-843B-D6EC9064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петля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B74D4-8B9F-4C0D-8848-80F0BCEA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контекст → первый прогноз → одно действие → первый сдвиг Life Canvas.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0E72C2-82C1-4D36-A28C-FC75D855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A38251-2E23-43B4-8A7F-36E61388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101878-07C0-4645-BB1E-AF4EF4FD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сезон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F845D8-FA70-4A29-B8C2-C2034FCD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недельную арку, помнит действия и получает recap/визуальный артефакт.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F0A368-6FDD-4D9B-845A-8493B64F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6CBB2E-2737-4DEC-8861-6F313A70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F6E898-D374-424E-A475-1C423769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система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76E1AA-2F1F-4904-B20C-06CFF1F0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становится ритуалом: память ассистента, сезоны, premium-визуалы, годовой путь.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F522A6-5A3F-414D-A09B-D89D5F39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работает только если пользователь понимает цепочку: ввод → смысл → действие → видимое изменение → возврат завтра.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AA9E2C-FAC2-440D-BFD0-10F364AF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2989499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0166E1-CFDE-48D5-A55B-86CF8707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9E200F-926C-44AA-A407-70E21D91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5AED6-A5E6-4305-B5E7-665930DB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9E597-9920-4FD9-AF8A-E52F1262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A1880-B173-420E-B025-D4789F60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должен объяснять причинность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BFB64D-F82B-4D91-B30F-D9CB2A00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FC64F8-AB59-4745-93F5-44679BED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действия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0ADF85-446F-43FD-8883-8E6588646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действия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2BB8C-3C12-4B1D-9361-242759FC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138C4-8EA1-4216-8A9F-6181AA12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2D92CA-23E5-4928-A0DB-5E1CD345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C757AE-3BBA-4DAA-B681-32F52883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туман / давление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неясная неделя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7E7F9-BA68-4EE0-BBB6-473574BE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95B9BA-BCDC-41D7-9138-BE2F0E35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04E06A-318D-4B21-AF61-3E9A1F2B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70D19-9F73-4AE2-A541-0BA1C72F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B2FA8-98B8-4403-9514-ACF76389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ясный маршрут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собранное состояние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4C82F-B24E-48DC-851D-66C4F104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B84BB2-92FD-438C-977D-316CA184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D88AC9-30B2-40A7-9631-093F74F6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сделал reset и reflection, поэтому Canvas меняется из “туман / давление” в “понятный маршрут / собранное состояние”.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DEA0C6-6522-4257-8CCD-BE62F501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говорит “ИИ просто нарисовал другую картинку” — продукт провалился. Если говорит “картинка изменилась, потому что я действовал” — AURA жива.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B6BF7B-92DB-4916-B825-488E88B4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5477486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368587-9AD1-4263-9D2B-7A7A5F03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CC750-E57A-4AF4-8CAA-01ED5311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7B606-F5B9-4BAC-A69C-993F45EC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AFBB6E-9085-4AAC-A89F-D445A8EAC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0EFBF-4D24-442C-9F27-8E4FEFCD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Premium-видео — это момент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3FAA9-9F6E-414D-ABDD-730A9288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DDB99-1A31-4EF8-B4BB-8B210717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C647E-BDBF-4963-80B5-25463654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3FE07-FDC9-47A7-9038-31CC27AF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CE1D1-7B48-47C2-A160-166374BB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41955-62C7-4777-8295-E1358853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можно включать в подписку только если модель дешевая и жестко лимитирована: один 8s ролик в неделю, а не безлимитная генерация.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66376-4E4C-4921-8935-6C3DB1F9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4BAF94-33A5-4DCD-8C66-45F537A8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BDA7B1-DC72-4409-908F-915D4A84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847B56-6A3D-4B7B-A9D8-00951747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себестоимость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38647A-51F0-465E-BDCF-FF33D04D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06EE8E-AFE1-40CD-A616-6F58C3A8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265F1D-0C9B-4A54-843E-0D1D85F3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8D82D0-0F1C-4103-81E0-C34AEEB7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себестоимость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390C54-6F59-4E60-B1BF-8A4FE0A8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9FD8DF-4EC2-4375-BC8D-F8867453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3FB0B8-880E-4093-A894-50869671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C7B2A0-C0F6-4231-9E1F-A070A2E8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себестоимость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EB0107-34A9-443B-A15F-B845D11C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A4AA6-2A18-49BF-8BBB-BCBC5B93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Итого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16837C-365D-4D8C-85AF-156A771C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6A3729-AFA6-42E2-A2E8-014DD9B7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~$2.20-$3.80/мес до буфера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C01AFD-72A6-44A6-868F-39D54129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Бизнес-ход: продавать визуальную подписку, но жестко лимитировать генерации и считать каждый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652EF6-DB18-4AAC-A62D-34F9DC81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3254990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2DA789-281A-4190-98F1-A63DE0D9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331099-D4B4-4521-9B40-B5859965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87115-1C0C-493E-94B4-41FD10C3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5EFEC-A4CD-4CC0-990C-DA376437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34498-7CE2-4E92-9206-7426A5C3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Архитектура paywall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FDF8A-C242-4302-8B64-C06812AD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27B6E-0339-4D41-B971-CBC563BA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DBC94-8E3A-4C49-9B25-B5026CD6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DA53C-80F1-45CF-A508-676C12B3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2930E3-7DE7-4F53-91CD-CB224AF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лимит картинок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0ED76-16FB-4111-A414-A4F4A112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BD3BF1-0C77-4DA6-A64A-B30B0E0C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45E99-5BF8-4112-A2FC-44B17BC5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125C8-3F9D-4882-A68F-A98BCF57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E0F2BD-A92A-43C0-B628-A0A3B094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EFACD3-0FF4-473D-AC0F-BD97B118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0-2 видео/мес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F5199B-463F-4B4C-8CBD-AE1D330A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F06B0-4116-4533-AEFD-ED5A70E7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стартовый тест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E7A6B3-84CB-467F-BAB6-779DCBFF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31779-7D4B-4B4C-8526-6253395D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2C47D2-0932-4B72-A7ED-88680AE2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F4E90-4B37-4C59-9C7C-EE21679A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24B7FC-51F5-4380-9235-76D7E088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BB7D55-67E1-4D99-B811-3C18EC04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пакет с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C5355A-D52A-46F3-A9AF-CB9D89AE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7D4AF2-B4B3-4863-809F-B530ECBF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80D251-600A-46A0-B698-76E12A65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$79-$89/год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892207-B791-4892-8DB5-1948FD62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пакет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ниже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вперед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4B2F91-4098-4A30-AE9E-212D2DD8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08F0C9-CAC9-419E-B205-218E66CD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A55F73-53F6-4719-9A8B-E4139FEE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не внезапное повышение, а верхний тест для пакета с 4 видео/мес. Базовую цену нужно тестировать.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DB1AEE-82EA-423A-A5B3-B1FA6A14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5043802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744D6E-72C1-43B9-8C3F-29D43B28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29A65-6677-4E24-9267-DD726BBF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EC1E5-8E80-477B-9A2B-0D3639DF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46724-9C6E-4ABC-B69D-088686D3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CD3552-6653-49A2-B4D2-C5F04E5A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Почему это не просто астрология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860A7-4743-4287-86D7-6EBC4D95A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63A70-23D1-43FB-9680-F4F9ECB4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дают существующие приложения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56894D-8548-4CDE-9A2B-62F787E7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21B4BB-3185-4180-B87A-86B344BB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смысл, но часто слишком общий и пассивный.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4A9C7-D630-4366-9660-B9B622C7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4CCF7-C65C-472D-947A-548B612B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ритуал, но часто недостаточно персональный.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22B88-5FA4-49D7-9CEA-FA7E3EB3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55AAA-C37B-4FB8-B733-C80901A3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разговор, но не структурированная неделя.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66AB13-0179-4606-98E0-5176BF2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A2F5F7-FA12-4DA1-8BD6-01C7A291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визуал, но слабая причинность.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C385B1-8A28-4CA1-8ADE-4666108E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соединяет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877A22-2478-46A9-BD8C-94FE5E31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378CE7-7C25-491D-8A2D-320FADB5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Контекст даты рождения без фаталистичного позиционирования.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CEDABF-147F-4C1F-92FF-C3AC7A6D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8F7C85-B969-49FA-8137-2C8B558C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сезон, который дает структуру.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087417-5B36-411E-B576-D74BAFF0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9ECFA6-6858-47DA-91FF-DE99D715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micro-action, который возвращает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E6F5D-3FFC-42D9-AB5C-D395259A8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CCCB72-F6FF-4A90-BE78-4AB90906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меняется по причине.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99BEB9-951E-4E58-9A12-094D060D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BA78E9-0225-42A7-A6D8-5E331B11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Premium-видео как редкий proof-of-magic, а не ежедневная утечка COGS.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7F9B16-A8B1-4D87-83E6-19874138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A9FBF4-6696-4D4A-8313-1F576FD6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7429235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773E76-3D03-47E9-9963-F258FC80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E65136-3FE3-4DFB-96D6-B4B90E00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48B57-9C18-4A8B-9797-A9A06114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5E6F9-0419-496C-9409-B2EDB69B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EA6672-974C-420D-A141-F24E8112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Рынок: 4 денежных пула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7A536F-0752-4D03-84E5-435EC681E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D7187-2710-4A1B-8D39-2E26FF94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FEC0B-247B-440C-A3F5-9C8BC084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Пул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2D0B96-AFD8-4225-BE91-FD3880BB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28EE9-A61C-40C3-9A72-8A1B9828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Публичные сигналы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7547B-D390-4A73-A4EF-4CF1212E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589C07-B508-4368-BA0D-2D705FA5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Пользователи / деньги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E4A9EA-C9DE-4A81-AC95-F2CB47AB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97D91-1EFF-4951-A472-13F7246B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F300FF-F740-42FF-8FBC-06F3E06E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22F537-E5F5-49CF-A878-ECABC301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 / guidance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445832-B86B-4E42-9E8D-6B5C90B3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BC919E-82ED-4E92-9D91-7EEBB1EF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The Pattern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DFDD62-3487-44AB-BA39-459B694F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06D0AB-8314-4071-B8FE-92143BEC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Co-Star: 20M+ downloads; Nebula/CHANI: сотни тыс. $/мес public proxy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540E0-2340-4AB1-BE6D-FE5FD6E6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40F52B-F06D-4D2F-A213-E2F93A9E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платеж за персональный смысл, но нужна менее “гороскопная” подача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720BAC-A4AA-4EF3-8593-C787CD07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1A7112-09C9-42AF-BCF1-B4C3AA22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 / habit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904A54-D9B7-4F6C-B74B-E20BFCDB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B410DC-5413-4792-8DE7-EDB4C881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016BC4-78F8-4A02-A78E-099EB19A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4937C3-FB0C-48EE-B396-D29A7B40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~$300M/year и 4M+ paying subscribers; Headspace: десятки млн $/год proxy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97E0E-5B34-4C3F-A19C-8B400AE7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CB81BA-4342-4A64-91AD-D89A77ED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держится на daily ritual, trust и annual plans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FA0393-BEC7-41E0-A763-D170AB03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A45D0E-E124-4EE8-9A2A-9A13D609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4EC01F-671C-425B-B9D0-53AA04FB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E4F633-6CDD-4309-BDA5-29AAF014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Character.AI, Replika, Finch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8BFA7C-C12E-4479-8AED-4A842ED7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5CA7DE-70FA-4F22-A2E2-2E2B974A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Character.AI: 20M MAU; Replika/Finch: ~$1.5M-$2.36M/мес proxy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D4F09B-4E00-481A-A575-BBD8F579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F7C11A-78AD-49FF-A36E-DD8C3769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companion и avatar повышают возврат и willingness to pay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D19271-4543-4E5C-AB75-34BD16F2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9A51DDE-089B-441C-90BB-C33F4487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 / avatar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332B11-43BD-4A15-8E09-3EBC9C78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4AB673-B132-4ED6-8874-6DCC2D20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Runway, HeyGen, D-ID, Luma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FB5C6E-73F6-42E9-9ABD-75457A921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10CD98-7727-4CD4-A980-CE3D82E2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video ~= $0.40; talking avatar может стоить дороже daily image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32E3B6-EF72-4F58-B4B9-4C0BFCBF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4787A6C-BB3D-4AE4-8DD4-9D158C61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визуал должен быть premium layer, иначе COGS ломает маржу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812512-3ECD-4C78-A944-A6E5B62F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AURA не выбирает один рынок. Она собирает платные паттерны из 4 рынков: meaning + ritual + companion + visual AI.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FBDE62-C109-4A64-BD7F-100D6AF8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9772804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60B634-2DA3-48DA-AAEB-FEA2E491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C5EC03-0A78-48E2-B173-92F350DA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FF74C-6B22-4627-A922-8493DBAC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FCCFD-777F-49A1-98EF-5CBB1FC4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E14E21-63DD-4C2E-8ED9-8679C793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Карта рынка: от категории к деньгам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E4989-3D0E-492A-A95D-6361CCFF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B6B80-9E74-43BE-8D49-B4066C18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E97C2-917B-4B15-B966-47E2510B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Уровень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40EC43-3B30-415C-8B3D-BD009C28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94D0DD-C433-45C0-9BEA-9FE1D615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считаем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1BBA8-8BC5-4497-89E0-B1B0177D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2EA116-607B-4378-8619-E3FD9BF3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8697C-DCAC-4DAE-9541-0691E9CA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4084C-5C90-4B06-9236-560C3B31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Денежная логика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99B62B-8477-40C1-A947-A508D3D7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2C0FE-569E-4F76-89C9-CA26C1A5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24DFD5-24F7-4FE2-AF16-9F1CD241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9F97BB-B5D9-4156-A040-68C4D244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платные поведения: astrology / mindfulness / AI companion / visual 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55913B-151D-4652-9F5B-17707058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98256C-017D-4327-9297-6CACF484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сотни млн потенциальных users в соседних категориях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F62358-E858-4769-A53E-41E49A77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F1CC31-CA4E-4EC6-B385-41F9BD8F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лидеры уже продают подписки $9.99-$14.99+ и annual plans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73515E-60D6-4761-AB51-363AF206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3C7EA3-2700-4D75-A7D3-9E2C2CB3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BD81F3-D982-494B-9EC6-4A56F31A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5B132-F86F-4966-9B40-ACF3CB7F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доступный сегмент для AURA: mobile-first self-guidance + visual AI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145169-8981-4635-8EFA-FA7A0949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A3C31-AFCA-4FB8-8A76-EBDD5FD6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условно 10-30M reachable users через app stores, creators и short-form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EB24AA-1E4C-49EF-A60B-98DD0084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0545D9-5A23-40E3-AAF9-9226A8E5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при 1-3% paid это рынок десятков млн ARR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25DC93-180F-4BBF-A29A-4CF78289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24CDA4-1DA4-45B7-B95C-9E15BDEA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Beachhead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44A78F-D509-46CE-ADAB-5A728559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F99BD8-7B2D-45B6-87AC-91F4ADEC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первые 12-24 месяца, не весь рынок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1A9C3A-E260-4BD7-AF0B-8CC6531D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8F8500-9593-4501-B7C3-F1A09818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registered users / 10k-60k active users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DF36195-CCAD-4280-AC41-3B429501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0D9CD2C-B34D-4E61-A806-4A486F36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2.5-5% paid =&gt; 2.5k-15k payers, ~$0.4M-$2.7M ARR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F72848-BBBF-4376-BC7B-0D975EBB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181965-34D6-4C28-B97B-780934DC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 case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6F53C0-D232-48A3-85C4-2342B1ED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12A3C6-48D8-4DF4-8A4E-6F3C36D0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loop и GTM повторяются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4CB4FF-2ED3-43F8-B894-981C4706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7A115B-477B-4A6E-8C10-A818C547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1M-3M registered users / 100k-600k active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B48E487-19E8-46C0-A429-0FB0FE8A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C987DF6-8EFF-4944-9064-DDBDD45A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25k-150k payers + tokens =&gt; ~$4M-$25M+ ARR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464D53-E361-4D34-A56C-F83798AF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FE92A93-C731-45DC-9AAE-627D6531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Venture upside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298F16-6271-4674-A8A6-49A69D5F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E1F270D-A90F-4B1B-9CE4-C731BC1E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масштаб категории, а не первый SOM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752C8F0-1D85-48B1-86B1-33F48198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0005121-FE19-4FBB-99B7-10C879AF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5M+ users и сильная годовая подписка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8D65544-8226-4E3B-A267-9642F4F6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35E1DD-5F93-4A60-94AA-D8ED055AF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$30M-$80M ARR path появляется только после retention + CAC proof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D420E2-D2E5-4AE2-A45F-13F606DE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Важно: 100k-300k — это beachhead для проверки масштаба, а не размер рынка. $30M-$80M ARR — сценарий scale/upside после доказанной петли и маркетинга.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5B05AF-9B6B-482A-BE4F-3A86A679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5121017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55BD06-C4B0-4743-801C-15B1484D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1A83F-96DF-435D-99B1-06810221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2B6A6-F600-4D63-BCA4-30D8B0C9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FC73F-BA6E-4F91-A464-9F3E2D20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B4760-9914-4BB1-B2CB-4F70BAD6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Четыре главные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34F48-906D-4D84-98BE-7DB3ADAA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7895CF-BEF2-4C6A-B127-5BDB25B4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14E35-960C-4E71-BF91-F0E72CFE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23F94-05E3-48E5-AC4D-1C87D197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A2612D-F607-40E2-BC7B-3FB9747D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FA19BB-22AC-400D-BD82-4AFAEBA2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119319-2B10-4A05-9803-A25DBB7F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281152-6DA2-46F3-9B5C-7D52BFA0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9644C-1FE2-4FE3-BBF7-69897016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подписка + visual/token uplift, чтобы быть сильнее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B600A-4FD0-4321-BE25-20FE0FC3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D9E592-B8EF-4E68-A95F-725508BA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D3A599-36DF-487D-BD35-64B15268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E21A5B-69C3-4B62-916C-435DEA5E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работают high-intent premium moments: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11C76-3FEF-4641-9151-A06CFE57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B54CC-7082-4917-82FB-63D7E56B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23E71E-ADE5-4861-8588-715EA907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B3BBC4-AB1D-4D19-A499-AAA2E033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ежедневная петля без видео должна быть достаточно дешевой для подписки $9.99-$14.99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E06E00-B8CF-43DD-940E-DD180AB1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ломается хотя бы одна из этих цифр, продуктовую модель нужно менять до масштабирования.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581209-8CEC-4090-A74A-2115A5C1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13279274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7B546B-6DFD-4C0E-899B-42C921F7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77489-E170-47F8-893D-2B7EDE92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B41B9-072D-40BC-A151-5F82D38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984A40-AC02-4AAE-9D04-B48991A8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4CDD9-111C-4594-A5D6-FEE7134D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Пороговые показатели запуска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33AB4-6338-4CB3-A764-F276FE02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0365A-BE9B-4D98-9841-0339CB8C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12395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KPI “на вырост”, а gates для решения: продолжаем, режем scope или останавливаем.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058DD7-3AD3-4EE3-A4F7-C20E1E43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FF125-3229-4411-80F1-48C21D0E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D49850-C989-4C9E-B4E2-9505A644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8D42B-B438-48A0-91BC-C01DC338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6859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Минимум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7C644-DDED-485E-A5E5-1056AEE4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192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6B604-16E8-4BB9-8E87-9CB5A134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859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Хороший сигнал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A2E0D0-5F8C-4505-B124-81ED4A50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3A4D5-82C7-4871-A2BF-4FEAB875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859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93891-906B-45AC-9092-EB61059D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0CBD3-F540-4189-9F3C-EC3195B1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Понимание категории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9AA14-B919-4627-ABB1-18C341CC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526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1C71C-D5BE-47AE-A336-917D3D8C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193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C5A6D-1F8B-4C80-879A-9DFB403F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52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95D009-985A-4DC3-B218-70A4CCB0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193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&gt;85%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017D6-F46C-476D-8334-D5C68742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22BD84-21D9-49FC-8ED3-E9D5F777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193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объяснять продукт без длинной продажи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17126E-E6D6-4512-B382-A6478273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89B671-2D17-4E20-B325-CB375746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527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Canvas causality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45559-1098-4726-87D6-76B442CD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860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6ADFF2-3D6E-4C27-A249-9F5EA27C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7527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&gt;50%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DAF509-FC04-4EDA-AF43-3C3E15DB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860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1988DF-4033-47B1-BCA5-38F19EF7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527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&gt;65%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4DFC8F-2C4F-423B-8586-21350C72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F822EB-C65D-4D71-A83F-6DE0EB62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527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работает как ядро, не как случайная картинка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C184AD-4E5D-45BE-B27C-00DA9578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3F557FC-D16B-40E7-B133-752F00E7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861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Возврат D1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072103-6169-4824-A09C-F1A4658D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194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71FCE4-B86C-47D3-AD72-79F6F258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2861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&gt;20%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3DCD32-00FB-497F-BD34-1C920530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194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41CB85-3A9A-4A96-8705-6FC89C6D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2861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&gt;30%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929DFB-E551-45A0-BE59-65F85F4D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D0D973-0D89-48E9-BD85-D37DAFD2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861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 вызывает возврат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7D73C9A-9650-44BA-B7F5-5C4A6B98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F46FA4-D372-43CF-BD09-4659D461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95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интерес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3EECCD-552D-4B4C-BEF3-871C7BC3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528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77BF12-E811-40CD-B5F4-ABE20C8E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8195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&gt;5%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282753-734B-4C02-9EE3-C76FE9FC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4135FF-43E0-4BD1-B2E0-BBC6A9D0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95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&gt;8-10%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562457-77D0-4896-ADC3-AD0C92B7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528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26911A-8F4E-4163-A4E4-B5C2003F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195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переходить к paywall / pricing test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10AAE4-0B7F-408D-909C-230CE774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EA405F9-4D6E-4BB6-945E-83F4C3BB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529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платящего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40307B-53A7-46E9-91D1-3747219A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862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F08597-DE6F-4091-9C9F-B3FE4AB7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3529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&lt;$4/мес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8756955-E54A-4928-83ED-784984D3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862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75A88B-0DD1-4F6D-B159-7867E740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529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&lt;$3/мес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464A455-1978-4BFB-932B-27E05D1F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862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2CC403F-5B3B-40D6-9DA0-DF7819E9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не убивает маржу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ADF23D5-02B7-4B09-833A-96E048BC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200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D960554-FC9D-406C-8515-4239CC6E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86325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активированного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098FB4B-488C-4465-912B-2E26ACEE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19650"/>
            <a:ext cx="1619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1AC60C3-92C3-4D55-962D-308979EF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886325"/>
            <a:ext cx="1466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74A6DAE-E6FD-40D6-AAC6-340F87C5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9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5BDF84B-408C-4EBE-90A7-14A1AEA5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86325"/>
            <a:ext cx="1943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 при сильном LTV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A162B2E-34DE-42C1-ADF6-ACDB0C39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19650"/>
            <a:ext cx="4381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8D6A76B-130C-4B0A-8EF8-52639082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86325"/>
            <a:ext cx="422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начинать маленькие paid tests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1F8A09F-2B10-4416-94E8-73C854E4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905500"/>
            <a:ext cx="904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C3A8449-60DD-4D09-A274-C58437CF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81700"/>
            <a:ext cx="8667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Эти пороги превращают презентацию в систему решений: не “верим в идею”, а проверяем конкретные условия перехода дальше.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D6DDEFB-CB93-41AE-B6D8-A59A784D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91627069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EF213B-E1FF-45F9-B6DF-46E0284C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56B6C-5876-4010-8B2D-E624E156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DC5DC-DB61-48D8-B071-F5DBDB40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B11557-F172-46F3-A0AE-B49E4737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F8072-0AAE-451D-9386-5CCFD0C8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конкурентов: главный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49B40-8FCF-45A0-8FE6-2CA5282A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6AF8F-1F31-4B05-833A-D9144AEB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A6B7C-D4DC-44C1-85BC-1D0000F1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7D141-444E-4DF7-9FF7-24596B92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0BFEC6-8F03-4317-994F-B889F78D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Сигнал конкурента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F56FF-58E4-4F72-8867-095F8653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338F7-A25F-4DEF-987A-768F8040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доказывает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C7A8DA-80C1-4E24-AB2C-C6C9D676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A66AE4-72F0-4517-9B67-100A0C34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8BD1EE-74A6-4133-84B3-3CC06C97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3B8753-C8A4-47F7-B963-FCA24521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 платят за личный смысл?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82AA13-CC9E-4467-9B50-49465A4C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B88F97-1930-45B3-ADB8-75462F85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$797.5K/мес,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1037E-9FBA-4237-A5C0-8CC93E24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61ED10-9021-45A8-9BCE-7BDCA651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conversion ближе к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F8AD70-F416-449B-B0FA-2CCEEC7B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462EF9-1DE6-4ADC-89B2-16D773D1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conversion: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4F27EB-EDEE-43CA-804E-B8359983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8D9F3F-1BE6-4B59-B50B-9B8F5117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 монетизируется?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25B3A8-6A9C-426A-9FA1-C9F4CB20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A95F61-DFB6-4135-A92B-F91D0E50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$718K/мес,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94FEA2-5894-4320-8AAD-A883650C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825C8B-12C0-4CF0-8F4F-768DB4B9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агрессивный paywall ломает доверие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3AD47C-CA05-4016-8D37-C8F03F0F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C9C733-0BAB-44D5-BFEA-A5C7504B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causality + season, не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35E413-A28F-431D-96E3-91B7D180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65D68D-71F2-43BB-83A2-21273FD8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 может стать большим?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348EDD-D9A5-4FD6-AEE3-FD986F6D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C99A98-5739-413B-8210-BA0B4CFC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proxy $300M/год,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B3EE73-6151-4597-8FDD-F529DC01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FD3866-0248-44EA-A76C-D6A00A41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если есть доверие и annual habit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E25CC5-F0D6-4DDD-8F49-34B657E4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B126D9-3948-49F5-8956-218B0032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после первой завершенной недели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B77409-B40A-45DE-A5FB-3310C06A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018CBD-0C61-4DFB-8B89-DF7AE6BC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AI/avatar создает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9CDD04-07A5-49F3-9841-3E103323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1E2EC7A-D11C-4785-9835-8DE552E8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оценка $2.36M/мес,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753911-5645-4402-A2BF-9ED65FD7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EDA9B2-C5CD-457E-A5AB-738A4D1D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пользователи платят за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281F03-C50C-40C2-B2DF-33834FDF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0CC3EF-9484-44DE-BB41-A976EA18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ассистента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258254-5356-41C7-8866-EC8C910E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4E02DA-395C-4F03-A0DE-2E412F7D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повышает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ED2FFC-93E0-46CC-9B67-0133FAC8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B9B6219-401B-4054-B39C-E9AC64A7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B0D698-8C30-48E3-ACE6-8AE81D16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3242C4-992C-4ED1-8636-57FD422E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high-intent moments монетизируются лучше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397B104-5D26-4A5A-9A36-42C81197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C9E5A87-D410-4F94-B0B3-B0A25DDD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2CDF287-1A07-48AC-9752-143B8189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Base-case AURA должен считаться как subscription self-discovery, upside — как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F1B6AA1-1FBD-4AC7-894E-05573798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1946552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7A2519-B708-4EE4-AF6F-24EA9E19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D9D89-E453-4438-866A-3C4CE77C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1261E4-B147-45DE-80C2-2D837460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A4F73-109D-49AE-9BE8-EC4CF2CA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3CBA94-8B31-4BE4-ABE8-3E147C6D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данные конкурентов значат для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9BD15-8CD1-49FD-ABE6-68900DBA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7527B-C523-4F04-9B7B-BBB7B3290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E36E65-BBD3-45E5-98A5-EE6A3A0B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MAU, платящие, конверсия. Смысл: какие платные поведения уже доказаны рынком.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2C634-7167-42CA-9F84-A1F473DDE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AACBC-BAE5-4A63-97BA-87C21576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рынка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C53B7-C095-4BF3-AD1C-FE14ECEC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8CAA7E-322A-4C18-A4AB-5310825D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видно у лидеров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C0A537-ED14-4928-82F5-F78A8D95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1317E-ADB6-49D5-97A8-34E8A05F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9F9DA2-281A-4DDD-AB60-F946FBC5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9F8EA7-696B-479A-AC54-65B46199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1AFBC6-BF1F-43B6-9E96-4DCB0B43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0BED8-08E4-4A19-B553-6B168576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работает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ABE5D9-8444-41FA-AAE0-89983FAE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204808-FF37-41AF-A4C1-3E8BFBE2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астро, mindfulness и AI companion продают $9.99-$14.99+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76156B-CA5D-4154-A120-7D36E498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996345-4B29-4477-8678-4B4F54BF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тестировать подписку, но не обещать безлимитный 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BEA2D8-2D4F-4ED0-B970-312FB0E7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C9EFA8-6DC8-41A5-8BC6-113D1D16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Visual Plus + annual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EDC310-5B29-43C0-A978-AD92A4CD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199FD4-1ADB-421E-94E6-C1181CC8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Конверсия не магическая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C2C96A-8F24-43F8-B8D1-0F701A48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6116BB-C088-448C-BBC9-0DF8E2B7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proxies дают ориентир 2.5-5% paid conversion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4D36B0-A1A3-4300-AB74-F1114F26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031ACB-6708-4A78-8AE2-672205F8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экономика должна сходиться даже при умеренной конверсии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4BC9EC-1102-434F-AB9F-1BA7C0DE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A5DE01-9938-480A-BD7E-E74849D8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считать free-user и break-even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D49EDE-C6DE-4275-8E0E-BB4EAC50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109A77-A575-4160-B9AA-D8A3AEEA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дорогое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D065B3-152A-435B-8198-D8D4F1AA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B3391D-2C92-4B1C-AC90-9EBFF6DC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дешевле Veo, talking avatars дороже daily images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92564F-3F0E-465D-88CB-E0A93287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9ACCC9-4A03-4BAF-B7D9-462B1C14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должно быть premium moment, не бесплатный daily asset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D041B9-640A-4BB2-8C6D-D722964B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B36302-0E77-4193-8903-A8302266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 только в Visual Plus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10BB77-581A-41BF-AE1D-D503A47D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40A3C3-62BD-4A32-8C48-E6D70D59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широкий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F8FEB1-6022-44A6-9446-301C2374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1301107-49BA-417C-AF6B-D24403ED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TAM/SAM/SOM есть, но вход начинается с узкого ICP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36E9D6-0FB8-49DD-9989-E69A7EA5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9E770D-E9D9-4364-9C70-9716DD69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капитализация появляется не из “астро”, а из repeatable weekly ritual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5A92A7-99AA-4391-99C9-57FAD4DF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26EA17-8594-405A-B03B-D823AE14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доказать loop и retention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6869F9-5A32-4DE5-B16C-226718D1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конкурентные цифры не доказывают, что AURA уже бизнес. Они показывают, какие цены, конверсии и ограничения нужно проверить первыми.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55C48D-0E70-4B27-A5A2-5AE39BEF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1667342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AF2273-ADD1-4B4A-A594-1722E9E5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67622-4E88-41A1-A8C8-EE1868EC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48862B-E68E-4D3C-B079-816D9A40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CCDFE-BC9E-4274-8F83-7B4CE906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0B9EC-0787-4CB6-B287-56C50D58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За что люди реально платят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CEA78-DE10-4490-8067-FD263A02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E186E4-2D36-44A9-A9DC-679E72BC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C805C-2E5C-43A3-94FF-1100B85D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6CB7D-9860-462C-B081-6E197F2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A802B-3460-4527-833A-04E83652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объект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DF6364-A520-45D9-BAA9-F1CA41B7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D9A2A-B972-4A31-8D87-4457E3ED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Где видно у конкурентов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427C2-3EF6-4EB6-83F8-7E4D34A9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B07CF3-2922-49B0-AA8F-08356C1F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платят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F23876-5FA0-4970-9FB9-1D9B1FE4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76B88-1365-40B7-AFB0-3C4F5020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Эквивалент в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88B522-E8E8-4ED1-AB13-AF14166C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CCD921-14D3-4065-A935-1F581F6A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Месячная подписка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0ECE20-36D1-4E52-938D-C3FE6FEB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7783A6-8359-4837-A7A5-22DFD669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80C3C-96CD-4E71-8385-16DD3258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75E689-D7B4-46EC-B838-1C4157E2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регулярная личная ценность и низкое трение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DC0B51-315D-44BB-872C-24F1B28D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F61324-1BD3-4A26-9D41-4EF8EA23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CC3C7C-DF55-45BB-AA4A-1C2AF52A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9BEE5D-E96E-412C-B529-5CD23649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Годовая подписка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5BF45B-DE22-425E-B32C-6D141368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F1022F-F07F-411C-8A6F-B4D3A7B0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C2C1B0-4205-4E52-B5EE-DC272786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349B09-A589-4EAA-BBF1-ABCA2E74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и cashflow, когда доверие уже сформировано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0D6023-1A91-446B-8DB4-9721416E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6D2746-D534-4323-A237-13C3A238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 annual после первой завершенной недели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E644A9-187C-4E8C-9AF5-F5AC38B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AA6FC6-5890-4BE9-83B6-AAD53BCC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57E930-C625-4AB7-99E9-DE0205C2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FAF955-72BF-44A1-991C-5C1CE695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96E421-7F7B-476A-A845-9F796349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1D2EB1-DB4B-418E-B138-C46F7CA9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эмоционально важный personal insight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8782E7-0009-45B1-A2E9-D7D947A4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1E480E-28D8-4282-ACC6-15AFACAE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D1D895-94DE-44D8-824B-5B222A4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63FAF4C-04E2-4E0E-A586-844F84B5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или urgent guidance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3AE244-408C-4FA4-B1B8-4BB295E81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3C12261-3DFD-4FC3-AE57-C399DC89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F5F9E1-2682-4CE8-B4D5-9902DDDE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C197D1-3F7F-4C0A-86DC-4436E67E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тревоги: “ответь мне сейчас”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8C3F8D-C0A3-4ED3-9D14-D38DA7E7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A3F891C-1080-40F0-A52A-6A798BDC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AI assistant; human/creator layer позже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6C4D34C-3290-4B91-BA5C-7FBEB52E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BAC0E8-A15A-40A5-B7F0-595CD2DC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56E060D-8C6B-4812-9213-5D9D7D48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2885FB-F745-40FD-960B-198C1BBA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8347D8-4C88-41A1-8A42-01B331AF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A77DC9-6152-4B20-8E3C-CCB6988E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себя/будущего/периода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D2D051F-E0CA-4FC9-92CA-4570B060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48A59B0-4A69-4F14-9D05-CBA0CFA9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или future-self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7D6467-7CE8-4DA2-A61C-EB01E968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85673408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E0D980-ED19-4D05-B377-13330E97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45393-5413-48B2-A98A-363A1FEB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463CB-27CC-4786-835B-1068E480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668755-4F82-44B9-BC3C-3AAF5E3B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6AEC89-B3D4-4AB8-8325-932DFB80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Решение по 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99115-E660-4C7F-B2DD-A4C64E53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E81FFC-1647-4411-9F52-09A3A8D3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1F4C8-ED41-4594-92F7-CFE88AD4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FA5042-4B99-48B3-AD8E-6803588B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BF407-F174-487C-B450-4AC64460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6465BC-8F1A-4592-9C55-86BAB8E7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3B8E9-EBAD-444E-B64F-9F3CBC24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26469-B6C5-4656-8110-E65F1DC2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170D8-5D0A-4ED7-88F2-75B10E6A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по генерации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2B1A16-720B-41E4-BA4B-D34CFEF3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7ED61E-4C0D-48D4-8F51-2807B6B9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маржи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625F70-596F-41EE-A076-E34A088B1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19312-CB1D-4FEE-8353-BE0010B4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E24C2-1148-4BA9-802E-81453965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4487EC-C9D2-4B22-81DF-DA75D3C4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A33E63-4278-4FA1-9ED7-7F4A6FF4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F5B4A1-6FB6-4513-AD7C-B51A7913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Day 1 loop + один medium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7E3575-653E-4103-BF11-27532EE7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76FD62-00BD-4A58-9D06-363D6120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цель — activation, не щедрость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8A3FDE-54DB-4A3F-A674-8B63435F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EF89E4-834B-478E-97D2-BED2040D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4CF584-F406-41D7-92FC-E8B97A27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50CECE-5B62-4227-A085-D1272F4D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B387DD-4E75-4AF7-A777-86E5DE2A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C6A14E-B46F-4184-9829-BF29A266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loop, memory, weekly recap, 30 images/mo, без обязательных 4 видео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8D6D5F-F2C1-4650-932F-8A51CF14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8C6A23-A296-4D12-85CB-6D5CBB99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нижний price test; проверяем willingness-to-pay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C8106E-6CDC-4CC3-A314-FC58B728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A95723-6F97-4307-A0C9-76C64431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C09BFA-5033-4C0A-9C3C-121A53D1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B78E57-A5AC-449F-BD36-EEB836B4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F3BBC0-859A-4166-B667-803013AC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32AFB1-8B0D-441F-B2A7-62CC6353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 + 4 weekly Runway 8s videos + recap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87DE05-051F-4C49-A91B-2027DC00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BEB69E-C4C7-4979-A2AD-488CBFB2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верхний тест для полного video bundle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81DAAC-23E5-4AD5-B921-BEF5A118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8D0F7A-7404-45AD-97B9-E48D158E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9A3AF2-2687-4CAD-BC14-BDCCF2DF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6F4EF5-821F-49D3-9531-EA006955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$79-$89/year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364FBD-DBDB-4240-B261-D74FA706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6B9347-E67B-4CE9-A438-6C8F82F1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loop + annual season framing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1038A1-5268-4304-8BD3-89DCC500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E597544-4DCA-42A7-AE7D-6BC39517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и ниже churn pressure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8AE22A3-7F1E-403C-9890-6D17153A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D915A7-571B-44C7-BCC6-030233B0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36BD470-5DB4-4579-A5EF-C09CD8AF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25E7267-005D-4BEE-8329-A29DC4A9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$4.99-$9.99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7E6DAA2-7495-4F9B-9574-DFC32F5C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1F91D7-FEFC-482E-BD23-1F139825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5BD6E7E-F9BB-4353-916F-29C1A796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5DE0B17-6C4B-4309-8C38-21F97E35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нужен, если COGS $2-$4+ или нужен “wow” выше подписки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C67ACD9-04CA-4DCD-9262-333EBA0B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1B3FFC7-92CB-4ACF-AB44-73552869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BF85AF1-8FB4-4B47-8EF2-919BE2DD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48BC0CC-EEED-44FB-AC41-DEC491AD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F8D09C6-5A64-40B6-B011-B477A4C0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5E074D2-1B0F-4CD9-968F-AAB6F4D7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599E40D-CFA4-46F5-922C-F4E93D92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EDA0F5D-5D60-4F98-BA0D-208744C9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монетизирует content leverage, не только compute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75D117F-886A-4938-A597-6562D73E8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B539118-A337-4A10-B620-55E01C7B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должна продавать unlimited AI. Она продает season, memory, causality и лимитированные visual events.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23EA38D-3229-4C1C-B9ED-38DA8E7A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08388527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5D7566-ADAC-4BEF-AF44-34D280E92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FFC91A-F407-4709-A60B-F7943ED2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490E2-7E82-42B9-B4FE-926044E9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813D3-C066-4070-B1FF-15DA4D47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B95E45-EC87-44BC-9257-8A0D6F7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Гипотезы conversion / ARPMAU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D9EE62-5674-44A9-9659-1711D999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560D39-4AF9-4231-99FE-8CF31EB6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491C3-C24D-4153-9259-95898F5C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диапазоны conservative / base / strong. Смысл: какие предположения должны подтвердиться.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EEA2E-70FC-4693-B42E-730948B6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4ED04-3D38-48DE-ACEE-B6EAC062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57743-369D-417C-9FB1-ED817A5E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2A35A6-AA89-49A3-9667-787012A9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D3532D-7744-45C0-9514-1F1E241C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06A738-A8E4-4DC6-B8F6-6EFF1E71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6A71E-3FBC-42A8-BB69-A923E8AC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8F8019-D451-4FAB-AD9B-A5A6CF0B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28BB0A-E620-4CD2-93EC-E562E2F6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3F87F3-34F2-4105-953B-3F856C2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A6DB48-3E97-4F8B-B05F-066B3043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F7F10C-2B14-41A6-B17C-8C213A1A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AFD4A4-074E-4F47-956F-967C3EA7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A6AC8D-C9D2-4C5E-B603-BC9B2C94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7A0A27-BD29-4BF7-B5CC-C603FDC5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5FDF0C-5698-418F-8268-6E9F505E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223A8E-0537-4CCC-A70F-101A020D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BEA03C-118F-476B-B585-DA937AA0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0C03C-8148-4955-872A-AAF51FB0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C90692-D1C7-4C5A-A5FC-045E7559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965C53-A4DB-4D9B-B95E-CA969A42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E23527-4012-4CF8-B041-E56FC9A5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79AD97-20F0-459B-B6B3-84B70F97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083A6A-E8F1-466D-8587-6610D5CE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35B280-23B1-4CE0-A07E-9CCD47C1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FE9F05-4BD4-4947-B279-A65A938F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FAEC83-0D47-4A05-95FE-3F6C96F6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7E9F13-7E0E-463E-AD08-8ADAE788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EBE6DF1-A58E-46D8-97D4-8BAF4AF2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16993B-1BFF-431C-B871-3A25C8B5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$11.99-$12.99 blended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0E986F-68B8-46EF-82E6-8AC351D5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1C1C98-1838-4581-B4D7-F64EF138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2B6E1D-828C-47C3-B75C-B058619A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1BF372-7F0E-4F22-B3EC-3954E8F8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0477FE-8F29-47C9-8DF8-C1F0A341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23F7F0-08EA-4530-9037-7BE94C3D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13F243-FAA5-4EBE-906D-2EB0CC32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2D47FC-8FDC-446C-BD90-51DBAAB9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0334C2-73DA-49F3-846D-E55F43D4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894595-199F-402E-8784-3A0FB4B4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09AA99-1C46-40FC-8992-265684B7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7BF099-0E75-4D02-B7EA-2605A976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DE00BD-2950-4A41-92A0-2B4EC618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4460F3-195A-49A9-82F8-08739AE6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A6A988-E52B-4A59-A3C8-D56E216E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F8806A2-FDA7-471E-8343-1D843D20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D53D962-CE8F-472D-86F8-5CB62800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573521C-2839-465A-AFA1-44D65C1C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0D146BA-2142-485A-ADFF-AA73659E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AC3C80F-F722-44C8-A495-D6FAA68F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31101C-1D2D-4C31-9621-532509FD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A89DD0A-673C-43C3-A8EA-FBC41631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A450C23-0A12-443C-BFF1-E41F3E0C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B5FF327-D2D0-482B-B147-624B57DA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работает, если понятна causality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CEACBFD-2F3F-4EE1-A75E-04BA94D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8E9EDD5-32F1-4D0B-817E-05237BFF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с high-intent moments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9D65364-913B-4964-99DB-C37E5CEA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построены из оценок конкурентов: Co-Star, Nebula, The Pattern, AstroSage, AstroTime, Calm и Balance.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90B86C9-EC45-4DB5-906D-76625767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0551B6C-C45A-42B6-80F9-705FA740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4095766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A70476-7202-4C6A-8290-9510F141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05E24-A32B-476E-A94C-653DB85D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B41F5-B5C1-4BD3-BBE7-D6723603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61C897-BE82-4703-9CAF-23B27FCB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32DD64-4E1F-427A-B62D-C42B4BD9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Подписка на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C56E3-4822-45FC-9E73-B0F29DD1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E59FF7-7481-465A-8CF6-D4AAB4FB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CD367-AD0B-4A39-93DF-0D5D64D7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цена, что бесплатно, что платно, где появляется premium. Смысл: за какой момент ценности пользователь платит.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4F24B5-3205-487A-92DA-362ED117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2524125" cy="423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F2BCBD-6275-4DDB-A33E-B652A5D7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65735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2FFE5D-09E3-4AC7-B21A-6909C7F4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526700-7798-4948-8237-A7565EF8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30555-11DB-4CA0-A309-F38CF76C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2943FE-E34B-4F49-881A-090F52D7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DDB21F-DC17-46DC-A27D-68F82B91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8C710-4A29-46A9-B433-5FFA41E9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1E6D27-9942-42FC-BCAE-D494D570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Частота / месяц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EC7AB6-413A-4C8B-9CB1-D1E814EB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227961-78F9-4B5C-8F72-BEB74C7C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Модель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2137FD-20EA-4B60-B5C5-4ED9C830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DC4490-3442-4756-B672-B8020F29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3F4A9-123C-4485-B71D-5C8C30A6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3C93C-5CCC-45E6-9927-6DDCF401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CAE3D1-AC33-4479-9FE9-716A0480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0E1262-CA8E-45C8-AEE0-6DED1E6D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 daily card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F29783-7D6A-4F1A-96AF-AAFFBEB9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8397A4-D1EF-46BA-AC81-C7AAF3AB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74612F-809A-400F-B954-781968B8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0966A6-C6A2-457A-B423-759DB5E9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013BBC-572A-44FE-B236-92BF963C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0A6F75-1613-4A4E-A062-6E341F2C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E3EBD2-D3C4-4ABB-B0ED-0DCFD1D4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ADE231-366F-4CBC-8E1C-8AC0DB83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6D1F65-D7A3-43FC-9B1B-AC2F34C7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E510D7-381E-4D6F-9D96-1DD1B1CA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CDBBCC-E7CD-4196-B7CD-ABF5118D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671F29-5E58-4B6D-9990-5E56855E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80A676-33C6-46BC-97D4-1D0B5D5A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792193-BB7A-4085-A450-17E97C49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или low-cost image model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A8C260-A3B2-4760-B9EB-F3316B71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C59A91-3459-45A8-B2FF-D72DD02E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587C44-B855-4AB6-85B7-9456DAF7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ABE592-04B0-4C41-BCAB-CC20EAC7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6CD904-6BA1-40E7-A4A1-C54D20AB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470FA0E-DF56-45BB-B2D2-05C842DC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1F2EF0-8B64-4BD4-84D4-52D83A8E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26F63F-95E4-4EFE-9789-F95DDC06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31C2D89-724B-40EC-A05D-16579633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061226-A00F-4103-9152-FCB15FBB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3D1CB68-C12F-41E3-A5EA-FA5338F0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6374DD-5D69-43D6-BBEA-3657DB37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B2F674-8DBB-413D-9DF8-1EDB4025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5BF7641-0566-49C8-A325-939CB370C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857B4A5-1AAD-49E1-B79B-754FC46E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67CD6A6-2168-44FA-B271-2EE1445B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33DA90-F680-41B7-94A1-6FEF50BC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FDD7E39-D71A-4682-BFAE-0D06BEBC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4ECE7DF-010D-457B-982B-E895CB80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E36758F-60B2-46CE-BF4F-95BF61FC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A0B7F02-8AB5-4FAB-A4A2-FA7017DF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9EC3B50-0D8E-4DF7-A8B9-0880DD58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CCD8992-B8CB-4E23-B70C-542555A4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5B66E10-AD87-48AC-A781-0B821248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7D367FE-F0A9-4697-9B9F-A365DD5A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0D393C-7324-4C78-B611-4AE36F58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6A31F89-4182-4E07-86DA-60173836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F4E28E2-C109-4CEB-BA41-E2D8C568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F0EE75-D5D8-4A2C-AC1F-43700578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B7BB383-292E-422E-9C92-C5038E5A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E030A13-72C2-4E63-AC66-CDCA1EB6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860D5A-D2E5-45E3-8595-454A0635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660DDB9-F12A-4359-B9B2-821A307B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8AD489A-FE5B-4813-80D1-837B6A41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448D6DC-97B0-46A8-86CB-54579325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BF22921-ABE2-4538-BD0A-1ADAEE24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E5FDEB9-426D-4007-A956-53F1ACB2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AB9B7D8-FA17-4CA4-9EE0-2B256982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package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0024566-7E4B-4341-B97D-ECE85C67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7557FC2-F50F-4EE2-83A5-A9DAC3BF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AFAD946-CCBB-4317-8D37-B66E7142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D611CBC-808F-4B0C-A99B-C69754BC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9BAEC05-94B2-493B-A843-E50957EB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1219DB5-A9B5-4569-BFC5-4A594F3F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~$2.40-$4.05/мес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27EF6BF-F759-4808-8256-2C073E62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Рекомендуемый Visual Plus bundle: 30 daily visual cards + 4 weekly videos, жестко лимитировано.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06FA0CA-792C-4B55-AB12-5B694561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12241824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9C6748-4AF6-4DF8-8E7B-2D306C4F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4525D-D1FF-4337-8C0A-2660E7D5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03FDF3-8BAD-46FB-89A0-7873685F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60C10-CC8B-40BE-B0F2-97E7669B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898C0-9AA7-4E21-8B3D-5AAB35EC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free user и break-even conversion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441CF-F172-449D-B4A1-3285B065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857C0A-7FE6-4558-82D8-17B26143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64E82-0FCC-4110-AA91-EF8444A3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себестоимость free и paid users. Смысл: не должна ли генерация съесть маржу подписки.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31D8A-B827-49F6-8408-2B50E46A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16949-81D9-4EA8-9F15-3A427721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Free-сценарий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C4F5C-7422-4E3D-98A9-5BE2D3CC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409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9F2FC-761C-46A9-AE6A-6755D4E4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76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70257C-E1C9-4967-AABC-4C074A5B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409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39E0BA-EA05-4696-9E76-92E8E784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76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689CED-4ABD-44F2-A1E0-9F3A33F8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409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C3C659-7C1D-45CB-8E99-4AD07939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476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случиться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C05A53-31F3-40C4-80C0-65F4B5F3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33E72D-8CED-458A-86A7-9E10F2E2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248609-B4B2-4849-A4C4-DAF2B4A6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81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76D657-3362-4E1E-BFFD-9DCA457C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47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+ 3 cards + 1 image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36106-EAD1-4A6C-A4E3-8FBAC766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66AAFF-C8BD-47AB-BD06-955B39BB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047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0FC2E5-45CF-4BAE-9A33-34A80126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81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DE6073-9E50-43E7-89EA-152F30B3F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47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для broad acquisition tests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87B3D2-42E2-4920-B9EA-3E60A20C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A7C917-5E52-4F4D-9037-663886EA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19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83AC9A-F8A0-4ED9-95B8-DBF9F881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52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1529A8-D7BE-47C8-8BFD-20B3A023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19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60F55F-1561-4454-88C4-637D5D28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52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C5A3FF-8DF1-484D-9F4B-CEDE8350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377764-2A6F-4152-BF16-EC947613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52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402C69-3B7D-482D-9D50-FA852A4B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19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если видны D1/D7 и paywall intent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308195-1134-4809-834F-065CD68B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96DE62-0E27-4593-81B0-93F485D5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48D111-83E3-4393-AE5D-A429D7C8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24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14E524-5B93-4FFE-8FBD-859BA803E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90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C7E557-B309-4878-A637-FAD25DA6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24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9801DB-F4A1-4B73-B863-657873713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90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9D7278-3F29-4C1D-9EC6-75AFBDDF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24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479F7E-5C59-4C18-997C-8CADF172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90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рискованно, если не поднимает conversion резко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8330EC-2007-4BBE-A4A8-84A651B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95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1DAA2E-2DFA-4939-B41F-B9E9EBAC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62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0D925F-1326-4CF9-9895-CD3AC123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95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3647DB-D6D1-4BF6-9F95-2D38B36B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62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 blended price, 15% fee, $2.40-$4.05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1850FB-07C5-435F-A804-807BB016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95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C17B2B-17E1-4625-97CD-C5750C75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62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$6.99-$8.64 / month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5D0810-4E84-44EB-80DD-B39FE039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95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24B84B-7719-4440-9708-4C3C048F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62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базовая subscription margin per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9917C9-D623-4E27-87FD-A9F4D6EC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7986CD-656D-465D-8911-02F45663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DEE9677-B0E5-4F84-9038-4717352D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868FE0-F033-4CC7-A5C8-8F222301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029518-048B-46DF-A75C-12C22A81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6B9855-7C4B-4B3C-9A54-E0C670AD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~$0.42-$0.78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A2A21C-0E49-4FE8-BB2A-51B880BE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A247C59-BE82-4350-B772-9A9027D2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пока нельзя масштабировать без лучшего LTV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3BF5AB1-7D2A-4637-9633-BEFC7233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3870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37AB9F-9BCF-4EC3-8647-948948CD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05375"/>
            <a:ext cx="1847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47154F5-F818-4D27-B49D-D6A6EC7C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38700"/>
            <a:ext cx="285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8CD55AD-F84A-4543-825E-A7C23FD8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05375"/>
            <a:ext cx="2705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2C9EC48-EBD5-43E9-B6D2-02FEAF4C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38700"/>
            <a:ext cx="219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1181166-80D4-44BE-9EE8-BF33546C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05375"/>
            <a:ext cx="2038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~$1.40-$1.73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00B645E-3569-4582-8BC4-D3B4D586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38700"/>
            <a:ext cx="314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CA39166-5392-436B-9CB4-95FA0842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05375"/>
            <a:ext cx="2990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возможно только при сильной retention и visual proof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475CED4-C870-4B8E-BB15-18AEE285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9334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FE4BD9A-661B-4491-B63B-E38C1FBD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53100"/>
            <a:ext cx="895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не бесплатны. AURA должна тестировать paid acquisition только после замера free COGS и paywall conversion.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215393E-A281-406A-B485-23BAE1C8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03246062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DCDF47-2607-4CDC-85E9-042FC148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EC4B1-66DA-4F6D-B142-356A44C2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B3C3C-1124-4239-906E-FBBD162A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1599A-50A6-4185-B9B1-2454E4BC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CA8D5-7BF2-4319-8C2F-0434596B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Финансовая модель: главный dashboard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662C1-473F-4FAD-8865-9C144F57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31A9D4-824C-4334-A8BF-D7C955FF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2E3253-1603-4016-A105-648306C9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24916-CDCE-420B-9614-CD61E748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6EFABD-7165-4BA8-9A47-3C2191D5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Фаза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B3412-D2D8-4770-8CAA-B376F048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€6k-€15k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98681-1513-4DAF-B696-12480F2F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визуалы, лендинг, 30-user cohort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2FDCE-79CD-477F-A00E-4C7ADE3D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C66F3-FFD7-49F6-8445-5685D1BC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Pre-scale runway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F65A9C-2611-4677-AC09-D4814A8E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€80k-€150k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0AA59B-B4A4-4505-A37A-710C2319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бережливый бюджет до сильной MVP-проверки, не весь путь к 150k MAU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0D0E2-9210-4ABD-9C01-90C6973F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2573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451AB-202C-4516-9EBB-83EDB86B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906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Base price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6017C8-56DE-4304-B28A-3AC52C722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3716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53068A-9CDC-4123-92A3-A97D14B9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097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основной тест подписки без перегруза видео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ACB783-0C62-44A8-9DAE-092A2ADF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DFC5EF-730F-4864-AAE4-376EA5B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5A3DD7-8B65-4DB3-81DE-B88D4B97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19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732AC9-8E1E-4DEA-81D4-049F310F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575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4 видео/мес держат COGS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5E6CB-E5A4-4E25-B4CE-DABA93B9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1E6ECE-E39E-4939-AC94-3FE7E5CF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Paid COGS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700F32-760F-4D5D-87AE-4996012B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19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FCD9D6-826F-44CE-8F58-4064EF9A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2705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 + 4 Runway videos + retry buffer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6E0311-8C2B-41A0-B890-6DB67E2F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05100"/>
            <a:ext cx="3048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7D6FA8-75BB-4D06-A0FD-4B17A39C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1047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Go/No-Go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B10A85-E2B6-4AA3-BEFF-F684A029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71775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D1 &gt;20%</a:t>
            </a:r>
          </a:p>
          <a:p xmlns:a="http://schemas.openxmlformats.org/drawingml/2006/main">
            <a:pPr algn="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intent &gt;5%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FFE97B-E40A-47B5-9D51-F9A64D89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7185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иначе режем scope или останавливаем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165A19-E8A9-4C63-9F70-DD523BCE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96A591-BF48-40E5-BD5A-751A6F1E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572E53-2FE9-495F-83EB-24813FF3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M1-M2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6C13CB-BB57-41B2-974C-E93FA389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of desire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5FE4EF-6EDB-4DF6-A1E9-5D620887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26DCAD-F1FF-4BDA-9686-A66120B5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M3-M6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A982D2-B15F-4A9C-BE97-0D91086F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loop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54D8AB-BE35-4A51-AC61-BBD31934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A4C54E-6420-4303-ADE6-B52001DD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M7-M12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31E06A-FFBC-4D9B-A34F-70674E9C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B81B47-B9F9-46E6-B624-65C220D2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14800"/>
            <a:ext cx="1257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98FE98-F886-4E55-8E6A-F8971D25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95775"/>
            <a:ext cx="1104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Q4+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71B895-7839-4246-A978-2BAD684A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33950"/>
            <a:ext cx="1866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attempt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349455-4C69-4E2C-A59A-7CFA27D7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53100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 — не “сделать весь продукт”, а купить право принять решение о MVP.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2E1BD0-2C3A-404A-92AB-F3821E79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63368750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AE7F7E-B568-4096-AC0D-DE817474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F456E-6252-428F-87EA-F3736821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7EA19-D678-467B-9BD9-F200311E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EC8B4-804B-491E-B3AC-DD68DDAF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725FF-F7FA-4AAB-84A2-B18F0C98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Годовые сценарии: сколько может приносить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DE42DC-8BCD-4E98-AAF9-1528ECED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3D59AA-D6D7-40BB-A042-B2748E25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D5D05E-4BD9-45E1-8C1E-CB6926B3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выручка, расходы, запас денег, break-even. Смысл: сколько денег нужно до решения go/no-go.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3F08A-50FB-4938-8676-45EF8385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32023-925D-41FC-8D15-3B2D531F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57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4AA3CE-46FD-4A66-9546-E0180D8A6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3215D-685D-4F14-8EED-B87D4880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947F4-0E23-478C-83C6-BB209025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2E3A48-B015-434B-93AB-A99E73C1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85B4EC-C7BC-4D2E-A6C2-6B57CF55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3906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3001FE-E86D-4529-8542-5AADD7CB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4573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CE2A53-E5C2-44B9-A288-7B1997D0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906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2ED891-75E9-4D98-B917-F631AF42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4573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значит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630F33-F053-4FF4-AFC9-603D268F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0E5631-3BA1-4F92-BAAB-7EE45A43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254D43-5E25-4F0A-8FD9-4461713F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ECBBA3-698A-4F85-BB12-50D8C704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$40k-$120k ARR run-rate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EE1FB2-B07D-4E25-963F-E714848E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D2EE2B-A1C0-4679-9DA5-21068F64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$250k-$600k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8BEBD2-D205-4977-89D4-F52BB5A0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812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A12CF3-3979-4167-8DD7-8DCF5C62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478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$0.8M-$1.5M ARR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2FD458-1A04-4F9B-8651-1090A555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F11AF4-5343-4F20-AB18-E8FB71AA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478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маленький cashflow-продукт, если CAC низкий и команда компактная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5920E5-BEA6-4256-897E-571528DA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813A06-82D7-43C3-8F67-489EA65A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DD79CF-81DB-4744-915F-F927E9AF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E8334D-FE56-4BB7-ABF9-D11C1A9C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$150k-$400k ARR run-rate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50AD8F-7A67-45FE-9916-60411717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8FE534-501D-40AD-B8F7-3FCCF0C27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$0.8M-$2M ARR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19DBB9-313C-4B93-9D72-39015284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04B802-0AC2-4FD2-998F-90CEE0C4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384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547E52-B7B3-406E-90A4-8EB6795D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6A77C2-23DC-4487-98E2-0D684733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384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строить standalone business или поднимать seed под рост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FDBA5F-A25C-4ECA-971F-401ADF03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FE8D7D6-4BCA-4290-8677-858FAEBC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5EE94B-D30E-4633-A3B6-464D4755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8D09A0-A630-4445-A0D6-435CC391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$0.5M-$1M ARR run-rate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9DC808-DF7F-4EB3-9B7D-F76C2065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49224C-15FA-4EC8-8ABE-8E9E2C2F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$3M-$6M ARR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BF9975-7523-4ADD-9D3B-25ED7CE7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623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BD5024E-C564-45CF-A474-B3FBEF49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289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$8M-$15M ARR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D795F0-C8AB-4686-BABD-D72925D3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623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894799-88E9-4893-98A7-6E25887E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289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появляется стратегический интерес: wellness, astrology, AI companion, creator platform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0CB302-8151-40F8-82AE-AA1AF524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B74168-2847-4F6E-8D1F-463D52CE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95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драйвер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AA3129-C964-4FCC-B171-92AEBDDC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1F6062-633D-4DB0-BCF0-F390F796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и понятность Canvas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37B3002-DF16-4BD4-86E9-6569500D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060E078-B53A-40BC-84E9-99243462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 + annual + CAC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CB314BC-521E-416E-9BF9-E11C00A5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528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89D08D-9C82-4169-B7B2-EB864569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1952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layer + paid scale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AA2F787-3026-4E58-895C-AFB908D6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528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2AC4B20-DE4B-40BD-AA52-73D6BE22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952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рост держится не на “красивых видео”, а на повторяемой петле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FFF6B5-3C52-4C45-9F91-9CCBF9F7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434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7EDFE6C-7777-4D7C-8642-91EA3659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100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stop-signal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510A40-6463-4BAE-8927-A12400D6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EB7EEE4-D6F4-4E85-8349-C62A53F9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 &lt;20%, paid intent &lt;5%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EC8662E-2FDC-4484-990B-E8A43E06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49F0363-0A99-401C-8321-9AB7BDDC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&gt; LTV, video COGS ест маржу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A611E1E-52A6-4CBB-82BF-5B307A3B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434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C80EDD2-493A-40B2-9DF2-3D7B9AAC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10075"/>
            <a:ext cx="1752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retention после novelty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CF38857-66F6-43FE-AE5E-B9AFCAFB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434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A3234F2-48F1-4732-B8B9-E37A6688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0075"/>
            <a:ext cx="2324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тогда проект останавливаем или режем visual scope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9F58325-1103-404C-949B-3E1C5795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прогноз продаж, а рамка: сколько AURA может приносить при разных уровнях retention, CAC и paid conversion.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CE3454C-8CBF-4AEB-8D10-FFC9BD93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68274047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503C4D-98C2-4FD4-973F-5B4913AF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FDB90-C7C5-4FB7-8CFD-02DBE9E1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A6C769-2089-4690-8849-22E32A07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953B8-5A22-4F4D-80AF-0DF0AA7B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C156F5-CC03-4DA4-86AC-D5AB6592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Сколько может стоить проект по стадиям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E1069-AAB1-4103-9FFD-0AFB8A24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14DB4F-356E-4658-A007-CB616ABC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3D161-5D17-4E50-8BE8-467841FA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Стадия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2B0BE-FBBC-4408-B940-7225ADBD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2A94FB-CA14-4F1C-816F-90D2A28A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Бюджет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22881-A1FE-45D8-8473-F9B121D3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D4DE2A-D69E-48C3-ABA0-D4BE3B9D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5B0F1C-63FB-4D35-82BD-9722CB2B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8AD13D-5B1F-45C2-A17C-82BE30DE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покупаем этим бюджетом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2898DC-FECF-436B-B6BC-FC1434F0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1A161C-ACD9-4563-A0C2-EA84B2C4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1: проверка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CA30A9-72DB-4FBE-A374-CE033FA8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A5B577-0A2C-4D50-9923-D902C98E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€6k-€15k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B2BC9A-CCC2-45A3-9F6D-32F8A3EC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3D962-2E7F-4C09-8658-ECCDBC31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прототип, visual examples, лендинг, микро-маркетинг, когорта 30 пользователей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E72DAA-C56F-4DF3-AF97-F3DFA547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4FA473-E5DD-47BE-875F-3CE15301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есть ли спрос, платное намерение и понятная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AB2EA0-1691-43AF-B4BD-FDFADCFA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0ABD9E-9CD6-4127-9066-CAF518A6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2: MVP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BCD22A-878C-44BD-8DE8-59A7CE7A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F0BE6E-9304-4950-8AF1-88D71EE3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€25k-€60k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E68ABF-49FF-4BC6-8EC8-E96FC7E7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240910-3737-4F0D-81D9-8F57CA7D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MVP, вход, onboarding, daily cards, Life Canvas, paywall, аналитика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2D8A2A-0EEB-4186-8DBF-64BC2061D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62933E-DB77-4149-BFE0-7AF85FA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может ли пользователь пройти петлю без ручного сопровождения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1A90D4-7776-4198-9679-88A95737F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B93787-D230-4DC1-884B-3AFBAE34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3: запуск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E3D4A7-7E35-4D0C-9C11-9474F483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77E877-B778-4D52-B98C-5FB678D2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€40k-€120k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20ACE4-8ED3-4C5A-96E5-64DBA432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5AD54B-FBCF-48A7-8B80-6B2712D0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pipeline, billing, CRM/admin, creator pack, paid/creator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628D08-9B60-4FA3-9465-6AC9366A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A5A226-5BB4-43A5-A0B2-039E4C0C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сходятся ли удержание, CAC и себестоимость генерации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05434D-3EA5-4CC8-8D7A-89E806A8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005180-7A2C-46D8-9FF1-202992A7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Фаза 4: масштаб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6EB33D6-E36D-40F7-8BFF-D7AFC5B4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7F6BC9-A580-4C70-A5DE-1963727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€150k-€500k+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BCF462-8BD8-4666-AA11-F24C5B5A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5C2B7E2-1FE3-43BA-B9DE-E0632E30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polish, backend scale, content ops, creator network, paid acquisition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9660F9-961B-4412-B53A-F523A90E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62F05F-1800-4401-85C7-AEBD8D0B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ответ: можно ли идти к $50k-$100k MRR без разрушения маржи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23D3031-A132-4E18-8A5C-B06D97D1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9700911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D43542-61EC-4442-916B-6104718B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5BE7E5-1437-4416-9061-1B09D3A7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BA9EA-3907-4618-B4DF-6C6A55D7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F3F65A-40E5-4541-B782-923F6CFE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AFAB4-A867-4AA4-B74C-FDAA6C1B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Модель маркетинговой воронки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0EAEE-52A2-4DD4-A0B9-1C7953A0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0BC97-E04C-4610-BEC6-69D84957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4726E-5E50-4B3F-9B9A-77955C0E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868FF-8EDE-43C7-A1D8-85AD56D9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960F3-4498-40CD-AD48-21697333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9C2D9-EC78-4B37-8E04-5C306113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BC2075-7B8E-4A8A-88C1-6DECE13E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BDA05B-CC56-4F28-9D11-A9C16136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0775-8110-4771-868D-EE6E51DB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3B4469-FA31-43B1-99A5-9138C01A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28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43629F-FF6A-4401-B880-8559139C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95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089BDD-482B-4737-87E4-75C7F5E6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4287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C3340-C0C7-4E24-BB6C-0F72089C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954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FD36D-E7C5-4A63-A087-FA34C49E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DFA108-CD07-407A-982C-D5C866F8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C1D28F-02D7-4049-AF2F-5DDFCF2E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083A34-FC45-41FB-A959-D7A9A910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724F15-0F19-4E04-8D58-4969E967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3F2B1B-BCB9-47E2-BF6D-79FC683E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EDA4F8-891D-494B-8280-82EFAD35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62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574AC1-D21E-44CA-919F-1AA1DFAC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28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9B849C-1212-495D-BDAC-ADE51007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621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2D50DE-54C0-4AAB-B933-9B4EFFDB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288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нужно тестировать до ad scale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DAEE0B-EB40-43E2-99F8-636ABFBA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FA0F34-1DDA-4633-A825-33D75024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BE9832-19B7-4DD6-8707-C7135F05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D14070-8ED0-4E0C-9362-C4318062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2D6A1B-E33D-4E8A-944A-859CA3FE3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CECEE5-DE5C-4B14-B7E0-FB8B7FB0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9615AB-573A-48C1-AFB9-F3D3A735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955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53ED01-A9CE-4396-8283-F7B9154B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622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C35260-2B93-4CC3-A1BD-58779D54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955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087923-8C54-469A-813D-DB3BBB1C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622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7AA18D-32D5-496A-8C4C-5C779093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DB59C9-EB2F-4089-9732-91B87BC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9E771-BC56-44F4-9B47-891A8AE0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333973-F2B0-428A-A03D-94C65255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734CEB-71C7-40B6-9D90-5A9EE053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3EB07E-327A-455D-9748-2AB2A33A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CD43AD-9352-4438-97DA-6858AFE9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289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4BA4B0-AF21-494F-8B4A-6690EC6C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956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5412E3-FA33-4724-95AD-D73B2FAE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289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29AF91-1280-4423-8C2B-CD9007D1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956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value moment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EF1813-9E15-43F2-BAAF-2F2450DE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C64D3FB-02F3-4972-90A2-D94D6B6D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A71411B-C57D-4B3F-85B9-CB6FDBF2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D01454-998A-48E0-9062-E7287877F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FA56369-4CB4-4C61-A798-18429701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2416CA4-1162-4847-A538-975A4524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7139FF4-083C-4D09-B9DD-36BB01EC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623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183C715-E5D9-4CFD-AD4B-5A914405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290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1FEFDA8-9355-40F9-B8C0-589CC90A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623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91B9B84-A2C2-4AEF-9460-6A01774F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290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основе COGS + contribution margin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EB91947-BDDE-4D68-8059-73151D3A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ECBE830-6BD4-4E18-94FB-B9BEC8D9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5885B79-2A6E-49C7-903D-ED75B22E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FFE8CC-E1BD-4DAA-99D9-0BB41ED0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FF8092E-4A83-41D2-B0B7-6860BA5E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DE0A336-8814-4B35-8B82-966411BC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14737CB-30FE-4E43-8B84-3826CB9E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957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CDF7D00-B6BB-49D5-B83F-17B49CE2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624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7E0C3D3-98AC-420F-B7D2-9F2384D2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957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62E54E-E044-4947-A1A3-F845CDDE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624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тесты до scaling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BBCA946-6E0C-4A01-A801-8C24FFAA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4EB0112-9E7A-4C5F-A5F3-DB96EB1D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53CCA73-63C0-4169-9AC8-7EC24F60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C200F9-CC98-4006-9FC9-C1B69F43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A9FEAD8-1DD7-4FC3-B637-6B37E713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F184E59-2FCD-41DA-AE7B-DFD149B3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6E7EBAB-091B-4986-98B0-2EB08FCC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D2E3390-C476-4053-94C4-DBF4380D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95825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4A3A725-0767-49E6-A07C-9BC7CEEA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29150"/>
            <a:ext cx="2952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D90F525-ACB9-46A4-969B-4C5BB371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695825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маркетинговый слой Алины ложится сверху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7A58E45-3493-402D-A724-DDC0B624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нельзя считать отдельно от free COGS. Чем щедрее free usage, тем ниже должен быть CAC.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7BE0040-6A95-40EB-BA12-67D94331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74445332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EE48E-A528-4F5A-B741-F7D8E999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A4013-6647-4F37-9948-F29E1055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00573B-7A69-4ED1-B996-A237E626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E9F82-7E5D-4C34-BF5B-FA3FD322B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E8EB7-881C-4F03-97BE-0CB5E402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 в Фазе 1: что проверяем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6E9F3-5C8D-472C-8156-1861304A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53A33B-3D9F-4531-9078-211141E8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19CD5B-9251-4098-8664-A03DD45C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CAC, активация, платный интерес, creator proof. Смысл: можно ли привлекать пользователей без сжигания бюджета.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46670D-022B-45A6-B474-CE100B0D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391D8-95FA-488A-89FD-1F9B541F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D87CC1-B942-4332-8C5A-C2867512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A1284-E94C-415A-A946-FD866B72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CB7764-B7E5-47E7-84C3-8199557B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692C49-D684-425E-B5F6-CC657FA6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делаем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05B52-B14D-437F-8C3E-C9B3E823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A17E3D-98A1-4924-BC8E-9744A9C8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стать понятно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B2043A-C1AF-4EC8-BCED-C134929B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7298A8-CFDB-4236-927D-B1B279D8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69D36F-B16F-48D7-99DD-30E4CC4A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5B9AA4-20C6-4577-8003-BE102A4E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€700-€1.5k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DABD65-1C06-4722-9876-8B2653EE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A7591A-C5CA-410C-9FB4-7838DF39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примеров Life Canvas, future-self и week trailer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61DBBA-30EB-42F2-8A47-8069A294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280BF3-DE9D-41C7-A4F9-D4D2A9D78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визуальный вау и понятна ли причинность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41996B-01F2-4057-B225-9D017E89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F9526A-B193-4B5A-82F6-02333287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8148E3-778F-4955-9D55-D2832650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368120-EF84-4E32-9C09-33F3A126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€500-€1.2k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842248-866D-4A59-9F5E-28D0549F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30BF7C-3F89-49D1-88A0-DB96596D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лендинг, price test, lead capture, события activation/paid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8C7CC7-F584-46F5-9C5C-DB119E5C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AF1EAB-4BA4-4EE6-B255-9A01A138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какая цена и формулировка дают signup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A2C6A8-07FB-4BA4-867D-6AB3ED09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F93C90-C7AF-4608-8890-84C5BB5B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micro-tests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B412D5-2C0E-498B-B263-28CC8B46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4E65CE-A61B-4C13-8E24-2EB65A29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€1k-€3k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2FC814-5CBC-43B9-86DA-F66DD095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021CA0B-D8F7-44C0-A685-33050DDB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5-10 micro creators / warm audiences / сторис-форматы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46067E-5593-42EF-BEE8-65AFF266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E5D12C-8416-4606-B2C1-DEBA69AB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hooks вызывают интерес без тяжелой рекламы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4DC2DB-944B-475A-B76D-9F53E0B2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0587A5-4CD7-4B1B-81D1-C9407350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creative tests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FBB901-EC99-48E0-B1F4-A1D1D766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B81BFD-121F-4225-BA8E-42022BEA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€500-€2k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083B96-48B6-4064-9523-56642F64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7C8E28-3F45-4373-AC1B-51A13A07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Meta/TikTok tests по 3-5 hooks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D2511AC-6A01-4745-99B3-E47B7310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B21DA1-AFDB-44B1-875A-7A02029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visitor/signup и первичная конверсия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6870E88-1FE6-4D52-B894-3EBC6F24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319AB3-7BE3-421B-894B-715631D0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Concierge cohort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86D28D-CBCF-4F2D-867B-5D487E11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CF67F49-6500-49CE-A353-A5340AEB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€800-€2k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3906F9-1CFB-4B14-BB53-8E973A96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13F635-B4C4-4F3C-9446-1FDF62DF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ручной forecast, интервью, paid-intent follow-up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5C9169-D5C8-4B49-8296-6F25BF842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B29BDEC-4297-4ED4-8B96-0C0C29F7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понимают ли users продукт и готовы ли платить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5BFF83-F000-4F0D-BEDA-2A916516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98394225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D0B8B7-54E9-44B6-A538-A51B16F8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6F087-89D8-437D-A73A-380AD0D4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70036-6C5B-4023-B681-6A4FDEDC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22D71-1F47-43B5-ACD3-D9C8E772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76832-1CD9-4562-81EA-3EB46BDC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30-дневный план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755D0-EE29-42C4-80C2-9AF32968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F78A5-C2B5-4111-A327-7445D3A2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43D95-124D-418D-AF78-F6DD02E6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F0253-A746-4DE0-A769-ACE0D904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C9B484-FF7E-4ABA-8C68-7273DC1C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1D7CF-3BE0-405F-8F30-48F2BA3A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ручной weekly forecast concierge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37C92-A486-48F2-96F6-38E390B8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6EB78-5740-41EF-8A8A-98AC1811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610418-A2E7-419B-9B99-22CCE385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visual styles для Life Canvas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CCF254-5126-434B-8B89-9AA7DADB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10EA1-DFE5-40F0-A422-A5CB12C0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E2454-13C0-43B5-AD10-730D3CF4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$9.99 / $12.99 / $14.99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E121A-ADE0-43B9-A552-15CE2EFE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3BDA38-508D-47AB-B686-899543EC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0D4577-6D1C-46F9-9025-A6422E62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через 3-7 дней + paid-intent 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FC024A-61CF-4297-8B97-00A5817D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 успеха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2458CB-AA94-4AFC-819B-CE4C522B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понимают категорию  /  &gt;50% объясняют Canvas change  /  D1 &gt;20%  /  paid intent &gt;5%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CCD26-FCA8-436F-A8FE-473F30CE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56370661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3C89F0-9BF9-43BD-A034-0A1C9607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F629C9-E1E4-457B-AA51-A6B64786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D20EF-7911-4DA7-8A36-F6C6DF090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70060-1A7D-4C0B-82A2-ACC4CB0E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01115-990D-484B-BD3A-F42FBFC8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1: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9493F-6BBD-43B7-8FA5-1A80F5EF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3AE59-BD25-45F9-B555-DFBBD4B0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B1CCD-07A9-45A9-B2BD-023C0EB5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2AC2C6-CA54-4169-BC13-D359787A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A0C2F-25BA-4AD2-A483-86B629B3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6FA8C1-55FA-40B8-B95F-C42E22CD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109668-2DAD-477F-B208-E9DB38E7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C4F3A-8AD2-4370-A971-7BC5837D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3259BD-2246-44AA-9BB3-80A13433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6A8F8-4BD9-4571-933B-D9087D8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1C7C1-A115-43F8-B856-33640BB9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09FBB8-5633-49EC-AF09-4C116B86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D4F96E-12CD-4EC2-8C4C-3B48DC4A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1-7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E9AE10-5B57-4D78-910B-C02BA7FA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C5F78A-7E43-4067-8D65-ACF55198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концепта, 5 visual examples, landing structure, сценарий интервью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AE15B2-9F5A-4EAA-A14C-CAD8B0C9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BA2C33-D4BF-42EE-98E7-BC15D649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понятность идеи, сила visual hook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DF4616-E2D2-4B1B-BAF6-AB497A0A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7CEB44-FD08-4C12-8875-0085926E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1-2 концепции оставляем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F12FBD-AD62-4AC5-B518-A9FE6D15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98D609-111A-408E-8AFB-07BD5212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8-14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23B504-236F-417C-A72E-7183CC7F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4FC6EA-E310-46A5-BD27-5001535B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8-10 screens, prompt logic, first Life Canvas styles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620F93-BC39-4191-BEE0-E75F762D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1D6968-10A1-401B-9411-D6D09FE0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пройти loop без объяснений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C8F514-1EBF-4103-9836-22FB75A3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431898-C419-429C-B91B-E4E30231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MVP, что выкидываем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696FEE-2F66-4205-8611-F8EACE1B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AA98F3-2A6D-49D3-8319-D446085E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15-21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D16CD2-E1A4-44E8-96A0-68CEBC28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1792AB-508E-4F65-8C49-6110548B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concierge cohort, ручные forecasts, first creator tests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81599E-DB99-460F-B614-1275EA4B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18A48E-72F7-4358-BB68-50207E8C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D1, понимание Canvas, качественная обратная связь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F2A62D-3DCC-493B-8E9C-2825E63B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D307C0-FB14-4F24-8DCC-46C9535C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продуктовая петля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B53AE3-E2BC-4B34-AE97-8F27FB5C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9B9A69-71BD-421B-8407-7046A00F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22-30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1AEB13-9B0D-4AF8-962E-7223E3EB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DB396-124C-4FBA-9B7C-C24CA87E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test $9.99/$12.99/$14.99, paid intent, CAC signup proxy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26C290-89A4-4000-8DDF-08A291D8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F67054B-FE69-44FB-9F46-DF9D9341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&gt;5%, D1 &gt;20%, Canvas causality &gt;50%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959FF6C-E149-4A58-95A6-44C00546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EF51F6-7B16-409B-97E8-F1490585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go/no-go на MVP build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74A4ADC-41A4-43FE-AD9D-3E0732E9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15989374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70D26F-EF66-478C-B297-8836E75E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B9B7F-1E38-48F3-8C70-ED3B67AC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ED8C5-7280-458D-B37F-C52335FE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A2FCC9-882F-44F6-BCFC-BB58F42A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A595A-41F5-41D7-A47F-208D0337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Фазы 2: если Фаза 1 проходит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C09FC-CFE3-4D15-ACDF-9DEEABC1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6E34FA-29DF-400E-AE1C-0A25B5A2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FD0DAB-4690-4516-9FBD-8D5D8734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73EBF1-3800-471A-BA4F-2D18AE20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FFBEF2-CAF5-4867-AB9D-795CE39D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E4474-9BEB-483E-8A2A-879E87AC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9EF671-AC35-4900-B188-BE0CB0E1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строим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442E0F-45E9-4825-8AFB-B9246EFF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92B71D-7FAC-477C-B48A-624B4C3A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Зачем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AD0240-FDAC-4770-B29A-B54BBE6E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9CF453-27D3-44CA-BF09-9FF540B0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030168-116C-4543-B55B-887FF4BA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43735F-FBBC-4740-BBB3-190C2213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FD214F-1AD7-40A6-9373-8AE78775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BD28F4-6D42-4245-9C57-89DA49DD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prototype, auth, onboarding, weekly season, daily cards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A9CD04-95E6-4F97-BCA0-2605BF26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2AFD0D-D75D-4563-9C6A-9D4109DB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дать пользователю пройти loop без ручного сопровождения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4519BF-E514-4F1A-B0E1-472DE798A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CF7B5-83C6-4634-9BED-B88318B74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 активных пользователей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7A03F4-4246-403B-99C0-6F89B0E1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4D36A4-EC01-4085-B3A4-FB9A34C5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8E0BA3-FE9D-4755-B6A0-F813DAE0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9608A0-62AE-40FD-BF59-66D384A2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 prompts, Runway workflow, retry limits, COGS logging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98F055-F1ED-4020-89C6-C0A44FE6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977300-3F0E-43FB-B451-2B07991E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контролировать стоимость каждого generated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20514-65E6-49D8-BEF0-B70C928C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BEFFDF-6E47-4B8B-8235-FBFBFDF5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paid user &lt;$4/мес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D24F40-BEDE-4389-B3C3-BE1D7DA8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EE3A33-1151-4640-A4A8-E6CD6932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test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0654FA-4A82-4E8B-9B2E-5A5E6CF2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2A4D83-8F93-4277-BD61-ACCF14AE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test, Visual Plus, annual, premium token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3F5C90-26B3-4A20-A81E-B5E23BD4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A81BD2-655D-4FD0-A476-2BEB9A0A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найти рабочую цену до масштабного маркетинга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25CC38-3BE6-4FB3-B41F-CF798052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0D50A3-11C0-497E-8F78-C7620401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 2.5-3%+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17F5E8-4862-4FF6-B211-D296DD7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6A88E4-96E8-432F-B47F-7C8AE02A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scale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3F0C1FE-B3DC-4644-A5B7-EDECAB6E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ED4527-BA03-491F-9505-7292A167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pack, 10-20 hooks, small paid budget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466D0FE-7253-4B9D-A908-7FFCB3A7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CB414D-BE64-49B8-B2F2-D7CB0D92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понять, можно ли привлекать не только warm users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FE51A2-CAA8-4339-A1E7-0A6F646B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5F59F36-CE38-473A-8C80-25E242A4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в допустимом диапазоне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23EF7F9-4EB2-4825-BB1F-1447AE1F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22AA4A-BF3F-4F35-931D-9F854E3E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decision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A654D07-80A2-4103-959E-96FB0ACD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379320-C100-4AEF-9E75-1B3200F6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/ backend / analytics / billing roadmap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A6A73BC-734D-4551-AB45-E1427F5F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432122E-FD1E-4B83-A143-12FD6581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переходить от проверки к разработке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5D87D6A-8613-4900-945E-0529ACEF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221B752-14E0-4045-903D-8A252888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retention + paid intent сходятся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0CC1A44-5799-4503-A5A3-B3235C4E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467558819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1CF26F-3E62-458A-AE2F-9DE28F39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128ED-2F83-4A2F-852D-DA775534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C7336-4A70-48FC-8E00-DA8393D5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D3E5CD-A360-4D2D-9A37-8A05E22D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978B9-8667-4AC7-ACFA-345E26E6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Границы продукта: MVP и позже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89D8C-B254-431A-BA72-D025851F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9C4FC-DC26-4B87-8AD8-18DB812D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C975F-DE6F-4A21-9EBE-6A1F0BD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Слой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B41053-71E1-4029-9CD6-8BB17D76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385D46-4BFE-4B2D-9951-5B5F945F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88922-B33F-4B5F-89C2-362125EA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5D87CE-E398-48E0-8F56-C68A1D89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Позже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B751B6-246E-44CF-8908-9938FA02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74C62-810C-4139-9A83-5BC4C2C2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B29994-4B6E-4666-A4CD-4836C1A7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C3681-01EE-41DF-A7AE-C9B191B6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713AA-C140-45FB-B495-841172058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4A53B2-6160-43E2-96B6-F5E668D5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Canvas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90F012-EE47-4888-817E-AE537067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E39545-1845-4BDF-A8FC-CFAB0FFD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ветвления сезонов и deeper memory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C94B7-9825-4C7C-992A-D6B59253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E598CA-0336-431B-A343-BAEEAEFB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доказать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98729B-14D9-48A8-8B5A-E1E986A5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51A113-C4D4-46CD-AF8E-9303ED63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Помощник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3C7262-7B1A-4FCE-BD36-8ED0EBF1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12781C-08DE-4DA9-8F84-7141B0C1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тон + контекст недели + memory summary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870B00-0143-42C6-B199-5B4A4789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719177-E6C9-4693-B6DD-57E91C39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голоса авторов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32CD90-A2A1-4841-8939-C3DDAA56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4EC572-AE7C-434E-9259-5D30E812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текстовая память дешевле для проверки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895910-D250-4038-AC5C-ADF418E4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14A5D1-86A0-4EB6-82D6-C2DFBE68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Визуальный слой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728160-22EF-4FE1-AFA6-6ADE3A396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94A5B0-C04E-4108-BCDE-33845D2B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через изображения + avatar style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2D21C0-0B09-457A-B3BA-CA903EE8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3DB2C7-C499-4A4B-BA12-3C05814E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AE19D9-323B-4D5C-8AC5-2D358AA9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98EC2A-3987-4F74-A624-0F70A4E8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— premium COGS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1C993F-D550-4471-9383-940B6812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E0CAD9-93D1-49AB-BA2F-24F51A54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Монетизация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8780DF-3BDD-4214-A0CB-03287F510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A85620-1142-48BE-9597-4CC0922A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один token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435294C-5CA1-4990-BF36-8FF56592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18D53D-CC6A-4039-B0B8-C1E146D5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F08C72-AA8F-481F-9790-467D80AF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35626F-AC30-4E95-A56F-5FFD3717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усложнять до retention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CE26BC0-9138-4A2F-95CF-9B3CAC71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939EBA0-7B72-4712-8C65-DDB8B1C2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Сообщество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3CF804-9463-4661-B864-E0393136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1CE52D2-AA0F-4BFE-91E7-C9C8CA58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в MVP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C1861F2-31EC-42E4-A678-0BF0CC5F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B14D42-4046-4F39-BF43-119760CE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65EC0DD-DF20-4893-BF43-7A1A6985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D6C36F9-CA45-4C1B-B1FB-704D27BE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строить social до core value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7C60A2B-947C-4520-8FFD-4E5E6473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350477774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AD413D-A270-482E-B6F0-47FD5BC5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DC4E30-0650-4F46-8E40-6204A692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FBD61-93C1-47C2-9062-FA20D776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481F1-F230-4B62-9193-C292C6F6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DC3A8-1119-43C6-AB60-650ABA88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Риски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120F41-70B5-4510-997F-3F5E9230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E2307-BF1C-4BFF-BFAC-EA2125F3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666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A45FE-C4C1-40A8-817A-6ECA5BE8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9848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4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84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Смотреть на: условие перехода, риск, решение. Смысл: что делаем сейчас, что запрещено тащить в MVP.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A0057-114B-49F8-9D0E-FEAA9BD4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47427-5437-4276-A812-885C7DA8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BAFBF4-EBE6-483F-B8A8-6079662D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09456-CC9D-42DD-8467-BC098D6F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ломает продукт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02D1E-0012-4939-AAC0-D67C6630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F3CE2-E4C6-4E54-AFCA-8F3A3C97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Митигация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497277-6400-49AD-8DEE-D994D1CA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87FD5-AEC2-4EC4-B782-995EF333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Похоже на гороскоп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81448-A34F-4EBD-905F-59B03CBE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B4AFE1-DE13-4CB6-BB06-6F9F3633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обычную астрологию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7DAEE-A3FF-4CA8-A4DD-006423C5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BA4048-6667-4C0C-B0EE-E2034525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позиционировать как week-series и действие, не fate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FD75D-9CB8-4A6F-87AD-0DCD5C40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2C07A5-D083-4E9F-AB8D-72013748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Аватар случайный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DF034-8D85-4374-A84B-FF3F4D75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8A7D91-ED52-409A-9FFB-B5AD5A0C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неясно, почему изменился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A353B3-82ED-4693-A904-EC5ECD3F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26463B-8089-4308-9EEF-F7717F3D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показывать причину рядом с Canvas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155CF4-E41F-4BB9-939C-DDC0DC8B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9752BF-7FC0-4764-8E82-7585C536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съедает маржу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C32AF3-AA7D-43B7-B5F4-207B4136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3973A3-87F3-4DA3-9DC5-C2FB151B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бесплатные users генерируют дорогие видео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5C0E32-B60E-46EE-8120-91CB19BC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3179CA-2905-4C01-A69A-A673A531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premium/token video; логировать COGS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8C70AD-1E23-4FE5-8030-909FDC52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A4B184-66DE-4CE1-8032-61F66D34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звучит generic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459494-272D-45F3-97D0-709CF8B7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B2D9E6-5121-4619-98BB-A0A65F4F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низкое доверие и нет возврата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BE81EE-949C-49DB-A8A3-ADE6E7D8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73F58B-4692-4B80-BDB6-E09B323D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feedback и memory guardrails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1577C9-61DE-487F-BF89-98EDF87C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C6EB-5FE9-4F02-8AAD-6A039F97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платного интереса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AC0747-DF63-4C6C-B1C0-A5F8FE63F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3BB160-E9AB-4BD2-BEF1-E50F0942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нравится, но не покупают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90C5E9-DE40-454E-B829-D9369C73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3DA95D-5A95-4828-B65E-AF4191C3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первой петли + price tests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CA0D4F7-9794-4504-B6AC-E38B17C5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929552617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A6ACC2-7960-44DC-BF76-835CC72E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245D3-4902-49B8-A7D1-FFF74432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E64583-53EE-47E5-9E64-0A4778D9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7D6E5-D537-4533-8424-F4D759E2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467ADD-9ACC-4B6D-8AE6-0E94B174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Условия перехода к запуску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1FB5C5-23C2-44B4-BB50-51FBE3AD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9175CA-CAFE-4A33-A435-E6FE5E01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4CA82-4B64-425B-8789-403AFE57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2001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Вердикт: можно использовать как план проверки и основу следующей фазы, но не как доказанный бизнес без данных первой группы пользователей.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7509B3-1212-4A85-A996-EB59D808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573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56233-E0E8-4BB3-9454-4D972EB0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0672B-F138-4075-A019-6DBD07D3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18573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53D18-669D-46B3-889D-F2F29A50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1924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уже понятно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675BC5-F7D3-4350-BCC7-B7F555D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8573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D9A47-641C-419E-8715-5453204C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9240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остается допущением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DAE428-887C-410D-8974-D9CB7473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573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855642-EB31-4D3B-9FD6-D4A838C9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9240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проверяем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A87BD-C876-4946-852E-23711CD2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647824-A015-4456-9697-11CFF547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574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Продуктовая логика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98D21C-CADF-4EF5-8D21-8A330B23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3907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8DC601-1E8A-4CD4-B6A3-FB6DA873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4574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понятная петля: эпизод → действие → сброс →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7AAEC7-8765-4C43-AF1C-F903157D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3907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3CB557-A693-414E-816C-C0342EBE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4574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насколько сильно пользователь почувствует причинность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10519F-E609-4DC6-9C65-4209A4E8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907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811AB2-AA6F-424F-BF9F-7B6638BC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574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визуальных примеров + кликабельный прототип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5B4289-08FC-4386-B6E3-D1978B49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241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006070-1E1B-4284-918D-7710DA5C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Финансовая модель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F993ED-40FE-45FA-A93E-6CEBDF81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29241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74487A-D5A4-4902-A823-6354DCAE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9908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цена, себестоимость, бесплатный пользователь, привлечение и сценарии разделены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832542-0630-4A07-AEA2-60770B84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241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01CB97-50B0-4403-B261-81B61696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9908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точная себестоимость зависит от провайдеров и фактического использования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86E9F6-C868-443E-A285-4F83935F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241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D987F0-C9A2-49B8-A11A-B2C72DA6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9908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логировать каждую генерацию и пересчитать после первой группы пользователей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B8843-5484-43F6-9FB2-23E6F1B1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575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9B4BFD-14C1-4FFB-902B-B8DCC698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BBA177-EDCC-417B-A4EF-96B895F7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4575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FEBA71-D1A0-40B2-AF2B-089A0574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35242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 — авторский контент и теплая аудитория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F2602B-8B20-4646-A3F1-D815BA7A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4575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6A8F6F-1038-4259-850B-DD8D2457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5242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неизвестен до тестов креативов и лендинга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173ACF-1C10-4AFB-84CA-74EF5736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575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29870F-16C5-4EAD-B18A-AC596D8D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242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10-20 hooks + малый платный тест после paid signal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D9FA06-549B-4F5B-90BF-0F41CB1D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909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C685FE-7F6D-4090-AEA6-0A08813F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576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Технологии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A9AB2CA-B96B-484E-91F1-6A5B9D9D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39909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4C0F01-35EE-41F8-AD41-C92F4D89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0576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начинается с изображений и лимитированного видео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9A6E7E-8094-4DAB-B846-2DC89520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9909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642F8F-2119-4715-9415-A64E2D21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0576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провайдер влияет на маржу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ED7E31-33FB-453B-828A-644F13BB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909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68909C5-5600-463C-8F94-640514DA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576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сравнить провайдеров и поставить лимиты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4D90B9-C280-4A80-B59A-CFA30527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24375"/>
            <a:ext cx="1666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A10BC42-B702-4F31-A190-196CFCAD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91050"/>
            <a:ext cx="1514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Следующее решение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50253E8-0EFC-4C42-8103-FD6A1D29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524375"/>
            <a:ext cx="180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43A0EE-EB40-46A8-9022-3E12E65B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5910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начинать фазу проверки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692E65-2454-4AD1-B7FC-4AEF0846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524375"/>
            <a:ext cx="31908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BCAFF4-8351-4EB9-8027-9FD68BA0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591050"/>
            <a:ext cx="30384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еще не доказанный бизнес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F5E70E8-BD63-4EF6-8D63-AF23F5F2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524375"/>
            <a:ext cx="342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DBD6733-51AA-4013-BFFB-976EDC98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91050"/>
            <a:ext cx="3276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по возврату, оплате, Canvas и COGS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BC3DC85-C57B-481F-91B4-CF75E9D6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057900"/>
            <a:ext cx="923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98FBC2-B8F5-4EF1-9BDC-EB923ABE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24575"/>
            <a:ext cx="88963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Вывод: следующая фаза должна не масштабировать идею, а быстро проверить петлю, цену и себестоимость на реальных пользователях.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3C9048C-7A41-42A1-B5E2-440A0BF2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2435141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8276A7-12FD-43AC-82C8-85823312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0D975-E7FC-487C-8598-68A701B6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986B3-4D54-40D4-A3C3-D4790057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0B447-7B97-4737-B629-A53358D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714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E1AC22-82D4-4C53-B259-EE7226A9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38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Следующий шаг: запуск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5BE942-A9B2-480B-852B-629BE305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953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B3AA63-B115-4EDE-AAFD-028A6439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05FC9-BE66-4074-BFAA-7FD15964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сгенерировать визуальные примеры, собрать кликабельный прототип, протестировать первых 30 пользователей и проверить, понимают ли они причинность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00CDF-460D-4DAA-A003-AC2B703F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Прототип → интервью → ручная группа → готовность платить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2F260-48EE-408F-B243-B76993ED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3970144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2026-06-08T06:23:00.0790000Z</dcterms:created>
  <dcterms:modified xsi:type="dcterms:W3CDTF">2026-06-08T06:23:00.0790000Z</dcterms:modified>
</coreProperties>
</file>