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  <Override PartName="/ppt/slides/slide50.xml" ContentType="application/vnd.openxmlformats-officedocument.presentationml.slide+xml"/>
  <Override PartName="/ppt/notesSlides/notesSlide50.xml" ContentType="application/vnd.openxmlformats-officedocument.presentationml.notesSlide+xml"/>
  <Override PartName="/ppt/slides/slide51.xml" ContentType="application/vnd.openxmlformats-officedocument.presentationml.slide+xml"/>
  <Override PartName="/ppt/notesSlides/notesSlide51.xml" ContentType="application/vnd.openxmlformats-officedocument.presentationml.notesSlide+xml"/>
  <Override PartName="/ppt/slides/slide52.xml" ContentType="application/vnd.openxmlformats-officedocument.presentationml.slide+xml"/>
  <Override PartName="/ppt/notesSlides/notesSlide52.xml" ContentType="application/vnd.openxmlformats-officedocument.presentationml.notesSlide+xml"/>
  <Override PartName="/ppt/slides/slide53.xml" ContentType="application/vnd.openxmlformats-officedocument.presentationml.slide+xml"/>
  <Override PartName="/ppt/notesSlides/notesSlide53.xml" ContentType="application/vnd.openxmlformats-officedocument.presentationml.notesSlide+xml"/>
  <Override PartName="/ppt/slides/slide54.xml" ContentType="application/vnd.openxmlformats-officedocument.presentationml.slide+xml"/>
  <Override PartName="/ppt/notesSlides/notesSlide5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098abbffce94ead" /><Relationship Type="http://schemas.openxmlformats.org/officeDocument/2006/relationships/extended-properties" Target="/docProps/app.xml" Id="R819da61ac8174796" /><Relationship Type="http://schemas.openxmlformats.org/officeDocument/2006/relationships/officeDocument" Target="/ppt/presentation.xml" Id="R49653fdea6524e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7f63cadaa84bcc"/>
  </p:sldMasterIdLst>
  <p:notesMasterIdLst>
    <p:notesMasterId xmlns:r="http://schemas.openxmlformats.org/officeDocument/2006/relationships" r:id="R4ce5e0e984674001"/>
  </p:notesMasterIdLst>
  <p:sldIdLst>
    <p:sldId xmlns:r="http://schemas.openxmlformats.org/officeDocument/2006/relationships" id="256" r:id="R56b6cdfdbbe84690"/>
    <p:sldId xmlns:r="http://schemas.openxmlformats.org/officeDocument/2006/relationships" id="257" r:id="R37d22759b0a246d3"/>
    <p:sldId xmlns:r="http://schemas.openxmlformats.org/officeDocument/2006/relationships" id="258" r:id="Rf61f80d270ba466a"/>
    <p:sldId xmlns:r="http://schemas.openxmlformats.org/officeDocument/2006/relationships" id="259" r:id="R76f9da6af0604575"/>
    <p:sldId xmlns:r="http://schemas.openxmlformats.org/officeDocument/2006/relationships" id="260" r:id="R96307b1dabd649a7"/>
    <p:sldId xmlns:r="http://schemas.openxmlformats.org/officeDocument/2006/relationships" id="261" r:id="R164318a9855945ff"/>
    <p:sldId xmlns:r="http://schemas.openxmlformats.org/officeDocument/2006/relationships" id="262" r:id="R0938c273d24e49f6"/>
    <p:sldId xmlns:r="http://schemas.openxmlformats.org/officeDocument/2006/relationships" id="263" r:id="R0d83065f6ff5427a"/>
    <p:sldId xmlns:r="http://schemas.openxmlformats.org/officeDocument/2006/relationships" id="264" r:id="Rfe557a6779d344cf"/>
    <p:sldId xmlns:r="http://schemas.openxmlformats.org/officeDocument/2006/relationships" id="265" r:id="Rd0b4ed56627e4509"/>
    <p:sldId xmlns:r="http://schemas.openxmlformats.org/officeDocument/2006/relationships" id="266" r:id="R1ade13be19e949e9"/>
    <p:sldId xmlns:r="http://schemas.openxmlformats.org/officeDocument/2006/relationships" id="267" r:id="R1cca9180f9c04bc1"/>
    <p:sldId xmlns:r="http://schemas.openxmlformats.org/officeDocument/2006/relationships" id="268" r:id="R0f1d9eb692094aa5"/>
    <p:sldId xmlns:r="http://schemas.openxmlformats.org/officeDocument/2006/relationships" id="269" r:id="Rb925e3d15cbc433c"/>
    <p:sldId xmlns:r="http://schemas.openxmlformats.org/officeDocument/2006/relationships" id="270" r:id="Re5d892cbc5a1473e"/>
    <p:sldId xmlns:r="http://schemas.openxmlformats.org/officeDocument/2006/relationships" id="271" r:id="Re6d80a731b0047a8"/>
    <p:sldId xmlns:r="http://schemas.openxmlformats.org/officeDocument/2006/relationships" id="272" r:id="Rc07b3cdef2d94cc9"/>
    <p:sldId xmlns:r="http://schemas.openxmlformats.org/officeDocument/2006/relationships" id="273" r:id="R93295ead9a434e7b"/>
    <p:sldId xmlns:r="http://schemas.openxmlformats.org/officeDocument/2006/relationships" id="274" r:id="Rc7122434fd47476d"/>
    <p:sldId xmlns:r="http://schemas.openxmlformats.org/officeDocument/2006/relationships" id="275" r:id="R22934f3931004b73"/>
    <p:sldId xmlns:r="http://schemas.openxmlformats.org/officeDocument/2006/relationships" id="276" r:id="Rded3b734e0604bf6"/>
    <p:sldId xmlns:r="http://schemas.openxmlformats.org/officeDocument/2006/relationships" id="277" r:id="R27651aee1cc14e36"/>
    <p:sldId xmlns:r="http://schemas.openxmlformats.org/officeDocument/2006/relationships" id="278" r:id="R45384568d5ce46ac"/>
    <p:sldId xmlns:r="http://schemas.openxmlformats.org/officeDocument/2006/relationships" id="279" r:id="Ree3f89a6b1c14980"/>
    <p:sldId xmlns:r="http://schemas.openxmlformats.org/officeDocument/2006/relationships" id="280" r:id="R5b15b90f9ac04c13"/>
    <p:sldId xmlns:r="http://schemas.openxmlformats.org/officeDocument/2006/relationships" id="281" r:id="Re2ede261b1924b95"/>
    <p:sldId xmlns:r="http://schemas.openxmlformats.org/officeDocument/2006/relationships" id="282" r:id="R6be5e3c812434152"/>
    <p:sldId xmlns:r="http://schemas.openxmlformats.org/officeDocument/2006/relationships" id="283" r:id="R7186a5cd9dd640c0"/>
    <p:sldId xmlns:r="http://schemas.openxmlformats.org/officeDocument/2006/relationships" id="284" r:id="Rebdfb3c26e7f4ddb"/>
    <p:sldId xmlns:r="http://schemas.openxmlformats.org/officeDocument/2006/relationships" id="285" r:id="R452b39c6d2f44146"/>
    <p:sldId xmlns:r="http://schemas.openxmlformats.org/officeDocument/2006/relationships" id="286" r:id="Rd09c9b37320c4323"/>
    <p:sldId xmlns:r="http://schemas.openxmlformats.org/officeDocument/2006/relationships" id="287" r:id="R500bdfaf43e34c15"/>
    <p:sldId xmlns:r="http://schemas.openxmlformats.org/officeDocument/2006/relationships" id="288" r:id="R22b8bd1b11ee4b02"/>
    <p:sldId xmlns:r="http://schemas.openxmlformats.org/officeDocument/2006/relationships" id="289" r:id="R7124403696124191"/>
    <p:sldId xmlns:r="http://schemas.openxmlformats.org/officeDocument/2006/relationships" id="290" r:id="Rf8fde33ef3454f4a"/>
    <p:sldId xmlns:r="http://schemas.openxmlformats.org/officeDocument/2006/relationships" id="291" r:id="R0bf3758f4514480c"/>
    <p:sldId xmlns:r="http://schemas.openxmlformats.org/officeDocument/2006/relationships" id="292" r:id="R5dc50ce7050d4ef7"/>
    <p:sldId xmlns:r="http://schemas.openxmlformats.org/officeDocument/2006/relationships" id="293" r:id="Rf76f9803a83342df"/>
    <p:sldId xmlns:r="http://schemas.openxmlformats.org/officeDocument/2006/relationships" id="294" r:id="R790670ac8f4142c7"/>
    <p:sldId xmlns:r="http://schemas.openxmlformats.org/officeDocument/2006/relationships" id="295" r:id="Rb9f8a0098b2d4871"/>
    <p:sldId xmlns:r="http://schemas.openxmlformats.org/officeDocument/2006/relationships" id="296" r:id="R0f1ddb09e1ca4dfd"/>
    <p:sldId xmlns:r="http://schemas.openxmlformats.org/officeDocument/2006/relationships" id="297" r:id="Rcb9785dd74264dda"/>
    <p:sldId xmlns:r="http://schemas.openxmlformats.org/officeDocument/2006/relationships" id="298" r:id="R7d86b1b195c047a2"/>
    <p:sldId xmlns:r="http://schemas.openxmlformats.org/officeDocument/2006/relationships" id="299" r:id="R483da682814840e7"/>
    <p:sldId xmlns:r="http://schemas.openxmlformats.org/officeDocument/2006/relationships" id="300" r:id="R54fe4efa0e474171"/>
    <p:sldId xmlns:r="http://schemas.openxmlformats.org/officeDocument/2006/relationships" id="301" r:id="R93957a0f042d4fd1"/>
    <p:sldId xmlns:r="http://schemas.openxmlformats.org/officeDocument/2006/relationships" id="302" r:id="R70578452f60d4e37"/>
    <p:sldId xmlns:r="http://schemas.openxmlformats.org/officeDocument/2006/relationships" id="303" r:id="Rbb4175ee26254622"/>
    <p:sldId xmlns:r="http://schemas.openxmlformats.org/officeDocument/2006/relationships" id="304" r:id="Rd41965d1b36041c5"/>
    <p:sldId xmlns:r="http://schemas.openxmlformats.org/officeDocument/2006/relationships" id="305" r:id="R2ccf0b723489469f"/>
    <p:sldId xmlns:r="http://schemas.openxmlformats.org/officeDocument/2006/relationships" id="306" r:id="R792c7063f06d4517"/>
    <p:sldId xmlns:r="http://schemas.openxmlformats.org/officeDocument/2006/relationships" id="307" r:id="R93800bb1bd6b4445"/>
    <p:sldId xmlns:r="http://schemas.openxmlformats.org/officeDocument/2006/relationships" id="308" r:id="R24a871dba599456a"/>
    <p:sldId xmlns:r="http://schemas.openxmlformats.org/officeDocument/2006/relationships" id="309" r:id="Ra09f204c560a4ca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5b1e3ff02ab4f94" /><Relationship Type="http://schemas.openxmlformats.org/officeDocument/2006/relationships/slideMaster" Target="/ppt/slideMasters/slideMaster1.xml" Id="R077f63cadaa84bcc" /><Relationship Type="http://schemas.openxmlformats.org/officeDocument/2006/relationships/notesMaster" Target="/ppt/notesMasters/notesMaster1.xml" Id="R4ce5e0e984674001" /><Relationship Type="http://schemas.openxmlformats.org/officeDocument/2006/relationships/presProps" Target="/ppt/presProps.xml" Id="Rb73c1050798a4cf2" /><Relationship Type="http://schemas.openxmlformats.org/officeDocument/2006/relationships/viewProps" Target="/ppt/viewProps.xml" Id="R1307998cb2bb46b8" /><Relationship Type="http://schemas.openxmlformats.org/officeDocument/2006/relationships/tableStyles" Target="/ppt/tableStyles.xml" Id="Rd4573c01872d43c6" /><Relationship Type="http://schemas.openxmlformats.org/officeDocument/2006/relationships/slide" Target="/ppt/slides/slide1.xml" Id="R56b6cdfdbbe84690" /><Relationship Type="http://schemas.openxmlformats.org/officeDocument/2006/relationships/slide" Target="/ppt/slides/slide2.xml" Id="R37d22759b0a246d3" /><Relationship Type="http://schemas.openxmlformats.org/officeDocument/2006/relationships/slide" Target="/ppt/slides/slide3.xml" Id="Rf61f80d270ba466a" /><Relationship Type="http://schemas.openxmlformats.org/officeDocument/2006/relationships/slide" Target="/ppt/slides/slide4.xml" Id="R76f9da6af0604575" /><Relationship Type="http://schemas.openxmlformats.org/officeDocument/2006/relationships/slide" Target="/ppt/slides/slide5.xml" Id="R96307b1dabd649a7" /><Relationship Type="http://schemas.openxmlformats.org/officeDocument/2006/relationships/slide" Target="/ppt/slides/slide6.xml" Id="R164318a9855945ff" /><Relationship Type="http://schemas.openxmlformats.org/officeDocument/2006/relationships/slide" Target="/ppt/slides/slide7.xml" Id="R0938c273d24e49f6" /><Relationship Type="http://schemas.openxmlformats.org/officeDocument/2006/relationships/slide" Target="/ppt/slides/slide8.xml" Id="R0d83065f6ff5427a" /><Relationship Type="http://schemas.openxmlformats.org/officeDocument/2006/relationships/slide" Target="/ppt/slides/slide9.xml" Id="Rfe557a6779d344cf" /><Relationship Type="http://schemas.openxmlformats.org/officeDocument/2006/relationships/slide" Target="/ppt/slides/slide10.xml" Id="Rd0b4ed56627e4509" /><Relationship Type="http://schemas.openxmlformats.org/officeDocument/2006/relationships/slide" Target="/ppt/slides/slide11.xml" Id="R1ade13be19e949e9" /><Relationship Type="http://schemas.openxmlformats.org/officeDocument/2006/relationships/slide" Target="/ppt/slides/slide12.xml" Id="R1cca9180f9c04bc1" /><Relationship Type="http://schemas.openxmlformats.org/officeDocument/2006/relationships/slide" Target="/ppt/slides/slide13.xml" Id="R0f1d9eb692094aa5" /><Relationship Type="http://schemas.openxmlformats.org/officeDocument/2006/relationships/slide" Target="/ppt/slides/slide14.xml" Id="Rb925e3d15cbc433c" /><Relationship Type="http://schemas.openxmlformats.org/officeDocument/2006/relationships/slide" Target="/ppt/slides/slide15.xml" Id="Re5d892cbc5a1473e" /><Relationship Type="http://schemas.openxmlformats.org/officeDocument/2006/relationships/slide" Target="/ppt/slides/slide16.xml" Id="Re6d80a731b0047a8" /><Relationship Type="http://schemas.openxmlformats.org/officeDocument/2006/relationships/slide" Target="/ppt/slides/slide17.xml" Id="Rc07b3cdef2d94cc9" /><Relationship Type="http://schemas.openxmlformats.org/officeDocument/2006/relationships/slide" Target="/ppt/slides/slide18.xml" Id="R93295ead9a434e7b" /><Relationship Type="http://schemas.openxmlformats.org/officeDocument/2006/relationships/slide" Target="/ppt/slides/slide19.xml" Id="Rc7122434fd47476d" /><Relationship Type="http://schemas.openxmlformats.org/officeDocument/2006/relationships/slide" Target="/ppt/slides/slide20.xml" Id="R22934f3931004b73" /><Relationship Type="http://schemas.openxmlformats.org/officeDocument/2006/relationships/slide" Target="/ppt/slides/slide21.xml" Id="Rded3b734e0604bf6" /><Relationship Type="http://schemas.openxmlformats.org/officeDocument/2006/relationships/slide" Target="/ppt/slides/slide22.xml" Id="R27651aee1cc14e36" /><Relationship Type="http://schemas.openxmlformats.org/officeDocument/2006/relationships/slide" Target="/ppt/slides/slide23.xml" Id="R45384568d5ce46ac" /><Relationship Type="http://schemas.openxmlformats.org/officeDocument/2006/relationships/slide" Target="/ppt/slides/slide24.xml" Id="Ree3f89a6b1c14980" /><Relationship Type="http://schemas.openxmlformats.org/officeDocument/2006/relationships/slide" Target="/ppt/slides/slide25.xml" Id="R5b15b90f9ac04c13" /><Relationship Type="http://schemas.openxmlformats.org/officeDocument/2006/relationships/slide" Target="/ppt/slides/slide26.xml" Id="Re2ede261b1924b95" /><Relationship Type="http://schemas.openxmlformats.org/officeDocument/2006/relationships/slide" Target="/ppt/slides/slide27.xml" Id="R6be5e3c812434152" /><Relationship Type="http://schemas.openxmlformats.org/officeDocument/2006/relationships/slide" Target="/ppt/slides/slide28.xml" Id="R7186a5cd9dd640c0" /><Relationship Type="http://schemas.openxmlformats.org/officeDocument/2006/relationships/slide" Target="/ppt/slides/slide29.xml" Id="Rebdfb3c26e7f4ddb" /><Relationship Type="http://schemas.openxmlformats.org/officeDocument/2006/relationships/slide" Target="/ppt/slides/slide30.xml" Id="R452b39c6d2f44146" /><Relationship Type="http://schemas.openxmlformats.org/officeDocument/2006/relationships/slide" Target="/ppt/slides/slide31.xml" Id="Rd09c9b37320c4323" /><Relationship Type="http://schemas.openxmlformats.org/officeDocument/2006/relationships/slide" Target="/ppt/slides/slide32.xml" Id="R500bdfaf43e34c15" /><Relationship Type="http://schemas.openxmlformats.org/officeDocument/2006/relationships/slide" Target="/ppt/slides/slide33.xml" Id="R22b8bd1b11ee4b02" /><Relationship Type="http://schemas.openxmlformats.org/officeDocument/2006/relationships/slide" Target="/ppt/slides/slide34.xml" Id="R7124403696124191" /><Relationship Type="http://schemas.openxmlformats.org/officeDocument/2006/relationships/slide" Target="/ppt/slides/slide35.xml" Id="Rf8fde33ef3454f4a" /><Relationship Type="http://schemas.openxmlformats.org/officeDocument/2006/relationships/slide" Target="/ppt/slides/slide36.xml" Id="R0bf3758f4514480c" /><Relationship Type="http://schemas.openxmlformats.org/officeDocument/2006/relationships/slide" Target="/ppt/slides/slide37.xml" Id="R5dc50ce7050d4ef7" /><Relationship Type="http://schemas.openxmlformats.org/officeDocument/2006/relationships/slide" Target="/ppt/slides/slide38.xml" Id="Rf76f9803a83342df" /><Relationship Type="http://schemas.openxmlformats.org/officeDocument/2006/relationships/slide" Target="/ppt/slides/slide39.xml" Id="R790670ac8f4142c7" /><Relationship Type="http://schemas.openxmlformats.org/officeDocument/2006/relationships/slide" Target="/ppt/slides/slide40.xml" Id="Rb9f8a0098b2d4871" /><Relationship Type="http://schemas.openxmlformats.org/officeDocument/2006/relationships/slide" Target="/ppt/slides/slide41.xml" Id="R0f1ddb09e1ca4dfd" /><Relationship Type="http://schemas.openxmlformats.org/officeDocument/2006/relationships/slide" Target="/ppt/slides/slide42.xml" Id="Rcb9785dd74264dda" /><Relationship Type="http://schemas.openxmlformats.org/officeDocument/2006/relationships/slide" Target="/ppt/slides/slide43.xml" Id="R7d86b1b195c047a2" /><Relationship Type="http://schemas.openxmlformats.org/officeDocument/2006/relationships/slide" Target="/ppt/slides/slide44.xml" Id="R483da682814840e7" /><Relationship Type="http://schemas.openxmlformats.org/officeDocument/2006/relationships/slide" Target="/ppt/slides/slide45.xml" Id="R54fe4efa0e474171" /><Relationship Type="http://schemas.openxmlformats.org/officeDocument/2006/relationships/slide" Target="/ppt/slides/slide46.xml" Id="R93957a0f042d4fd1" /><Relationship Type="http://schemas.openxmlformats.org/officeDocument/2006/relationships/slide" Target="/ppt/slides/slide47.xml" Id="R70578452f60d4e37" /><Relationship Type="http://schemas.openxmlformats.org/officeDocument/2006/relationships/slide" Target="/ppt/slides/slide48.xml" Id="Rbb4175ee26254622" /><Relationship Type="http://schemas.openxmlformats.org/officeDocument/2006/relationships/slide" Target="/ppt/slides/slide49.xml" Id="Rd41965d1b36041c5" /><Relationship Type="http://schemas.openxmlformats.org/officeDocument/2006/relationships/slide" Target="/ppt/slides/slide50.xml" Id="R2ccf0b723489469f" /><Relationship Type="http://schemas.openxmlformats.org/officeDocument/2006/relationships/slide" Target="/ppt/slides/slide51.xml" Id="R792c7063f06d4517" /><Relationship Type="http://schemas.openxmlformats.org/officeDocument/2006/relationships/slide" Target="/ppt/slides/slide52.xml" Id="R93800bb1bd6b4445" /><Relationship Type="http://schemas.openxmlformats.org/officeDocument/2006/relationships/slide" Target="/ppt/slides/slide53.xml" Id="R24a871dba599456a" /><Relationship Type="http://schemas.openxmlformats.org/officeDocument/2006/relationships/slide" Target="/ppt/slides/slide54.xml" Id="Ra09f204c560a4c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ee693c46a847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f9014f330d4c5c" /><Relationship Type="http://schemas.openxmlformats.org/officeDocument/2006/relationships/notesMaster" Target="/ppt/notesMasters/notesMaster1.xml" Id="R28d260f419ca48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2f2d5c069c4921" /><Relationship Type="http://schemas.openxmlformats.org/officeDocument/2006/relationships/notesMaster" Target="/ppt/notesMasters/notesMaster1.xml" Id="Rea5b3f4f859f47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ba0bef83bf40c2" /><Relationship Type="http://schemas.openxmlformats.org/officeDocument/2006/relationships/notesMaster" Target="/ppt/notesMasters/notesMaster1.xml" Id="R0fe9370bee8e420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831b97083a4611" /><Relationship Type="http://schemas.openxmlformats.org/officeDocument/2006/relationships/notesMaster" Target="/ppt/notesMasters/notesMaster1.xml" Id="R0d82d684958c40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93ff08693a3403f" /><Relationship Type="http://schemas.openxmlformats.org/officeDocument/2006/relationships/notesMaster" Target="/ppt/notesMasters/notesMaster1.xml" Id="R75acd69a46314f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f88f6c9ee8c4849" /><Relationship Type="http://schemas.openxmlformats.org/officeDocument/2006/relationships/notesMaster" Target="/ppt/notesMasters/notesMaster1.xml" Id="R7b97b5daa3a24f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35162755db64bf6" /><Relationship Type="http://schemas.openxmlformats.org/officeDocument/2006/relationships/notesMaster" Target="/ppt/notesMasters/notesMaster1.xml" Id="R7ff13258655a46b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d615227fc1c48ce" /><Relationship Type="http://schemas.openxmlformats.org/officeDocument/2006/relationships/notesMaster" Target="/ppt/notesMasters/notesMaster1.xml" Id="R2ba2d8a630004f6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3dadaf727594968" /><Relationship Type="http://schemas.openxmlformats.org/officeDocument/2006/relationships/notesMaster" Target="/ppt/notesMasters/notesMaster1.xml" Id="R7da4dda23f4646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faa8a43558141c0" /><Relationship Type="http://schemas.openxmlformats.org/officeDocument/2006/relationships/notesMaster" Target="/ppt/notesMasters/notesMaster1.xml" Id="R35e61afb09b0429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4fe976786e84ace" /><Relationship Type="http://schemas.openxmlformats.org/officeDocument/2006/relationships/notesMaster" Target="/ppt/notesMasters/notesMaster1.xml" Id="R077f59e238384ee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c7c01d79f694931" /><Relationship Type="http://schemas.openxmlformats.org/officeDocument/2006/relationships/notesMaster" Target="/ppt/notesMasters/notesMaster1.xml" Id="R57b3fed67957467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491dd4a12af4741" /><Relationship Type="http://schemas.openxmlformats.org/officeDocument/2006/relationships/notesMaster" Target="/ppt/notesMasters/notesMaster1.xml" Id="Rb3a9ae8819b545b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cf3c7b8f8f4179" /><Relationship Type="http://schemas.openxmlformats.org/officeDocument/2006/relationships/notesMaster" Target="/ppt/notesMasters/notesMaster1.xml" Id="Rbf08049d03b84e8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653c8b0ba2f4c98" /><Relationship Type="http://schemas.openxmlformats.org/officeDocument/2006/relationships/notesMaster" Target="/ppt/notesMasters/notesMaster1.xml" Id="R9d809ad336f34f1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6f4e230766d489f" /><Relationship Type="http://schemas.openxmlformats.org/officeDocument/2006/relationships/notesMaster" Target="/ppt/notesMasters/notesMaster1.xml" Id="R5fec705d149e4b2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574ef44ff874915" /><Relationship Type="http://schemas.openxmlformats.org/officeDocument/2006/relationships/notesMaster" Target="/ppt/notesMasters/notesMaster1.xml" Id="Rc11a6fc80ea34b2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750a4eae3ef4441" /><Relationship Type="http://schemas.openxmlformats.org/officeDocument/2006/relationships/notesMaster" Target="/ppt/notesMasters/notesMaster1.xml" Id="Re81c4024dbdd41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9472fb79bb44184" /><Relationship Type="http://schemas.openxmlformats.org/officeDocument/2006/relationships/notesMaster" Target="/ppt/notesMasters/notesMaster1.xml" Id="R02140f514f1040c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6828d66733e4acd" /><Relationship Type="http://schemas.openxmlformats.org/officeDocument/2006/relationships/notesMaster" Target="/ppt/notesMasters/notesMaster1.xml" Id="Re93c4465d6a34e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7b511b5a5bd495c" /><Relationship Type="http://schemas.openxmlformats.org/officeDocument/2006/relationships/notesMaster" Target="/ppt/notesMasters/notesMaster1.xml" Id="R80ee24b09e9f4b06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4ae296373c34ed5" /><Relationship Type="http://schemas.openxmlformats.org/officeDocument/2006/relationships/notesMaster" Target="/ppt/notesMasters/notesMaster1.xml" Id="Rcc53038f71dc4421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f861c261ced84522" /><Relationship Type="http://schemas.openxmlformats.org/officeDocument/2006/relationships/notesMaster" Target="/ppt/notesMasters/notesMaster1.xml" Id="R4aada3b987ca4fa5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fd3c03033044c7c" /><Relationship Type="http://schemas.openxmlformats.org/officeDocument/2006/relationships/notesMaster" Target="/ppt/notesMasters/notesMaster1.xml" Id="Re112d9dff8bc4ce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0fe4fd04ff024f7a" /><Relationship Type="http://schemas.openxmlformats.org/officeDocument/2006/relationships/notesMaster" Target="/ppt/notesMasters/notesMaster1.xml" Id="R2d4c94fe03c04fe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081019f9e59b432f" /><Relationship Type="http://schemas.openxmlformats.org/officeDocument/2006/relationships/notesMaster" Target="/ppt/notesMasters/notesMaster1.xml" Id="R3a24338e18424e6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fdb975962534d03" /><Relationship Type="http://schemas.openxmlformats.org/officeDocument/2006/relationships/notesMaster" Target="/ppt/notesMasters/notesMaster1.xml" Id="R6f35e1d9bfae47d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6daca890fa8541d3" /><Relationship Type="http://schemas.openxmlformats.org/officeDocument/2006/relationships/notesMaster" Target="/ppt/notesMasters/notesMaster1.xml" Id="R9671321e3cda497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de44988814c04b22" /><Relationship Type="http://schemas.openxmlformats.org/officeDocument/2006/relationships/notesMaster" Target="/ppt/notesMasters/notesMaster1.xml" Id="R933e21dcb6ac43c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256b29a070c4839" /><Relationship Type="http://schemas.openxmlformats.org/officeDocument/2006/relationships/notesMaster" Target="/ppt/notesMasters/notesMaster1.xml" Id="R8bcd042dc5824f4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35dee9a527684684" /><Relationship Type="http://schemas.openxmlformats.org/officeDocument/2006/relationships/notesMaster" Target="/ppt/notesMasters/notesMaster1.xml" Id="R63f1ab9d9f484d3f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a1ad9753965d42a8" /><Relationship Type="http://schemas.openxmlformats.org/officeDocument/2006/relationships/notesMaster" Target="/ppt/notesMasters/notesMaster1.xml" Id="Rd64db3dd8777435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990c8d43039b4370" /><Relationship Type="http://schemas.openxmlformats.org/officeDocument/2006/relationships/notesMaster" Target="/ppt/notesMasters/notesMaster1.xml" Id="R792f0b786cc34503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c199d3a43bc640b5" /><Relationship Type="http://schemas.openxmlformats.org/officeDocument/2006/relationships/notesMaster" Target="/ppt/notesMasters/notesMaster1.xml" Id="R0fefacd68ad0452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35637fcc6e2344f3" /><Relationship Type="http://schemas.openxmlformats.org/officeDocument/2006/relationships/notesMaster" Target="/ppt/notesMasters/notesMaster1.xml" Id="R5d1cf4434f504e7f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720f97af110d4d71" /><Relationship Type="http://schemas.openxmlformats.org/officeDocument/2006/relationships/notesMaster" Target="/ppt/notesMasters/notesMaster1.xml" Id="Ra023a79488dd495f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b97923550854e8d" /><Relationship Type="http://schemas.openxmlformats.org/officeDocument/2006/relationships/notesMaster" Target="/ppt/notesMasters/notesMaster1.xml" Id="R5850fc358f9543aa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ec88eb20e9864231" /><Relationship Type="http://schemas.openxmlformats.org/officeDocument/2006/relationships/notesMaster" Target="/ppt/notesMasters/notesMaster1.xml" Id="Rad7af9f08dc94bc6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698e4723e80243db" /><Relationship Type="http://schemas.openxmlformats.org/officeDocument/2006/relationships/notesMaster" Target="/ppt/notesMasters/notesMaster1.xml" Id="R98a79c995dae4989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bc58ef59175345a7" /><Relationship Type="http://schemas.openxmlformats.org/officeDocument/2006/relationships/notesMaster" Target="/ppt/notesMasters/notesMaster1.xml" Id="Rbe3beb3742fc410f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67c7bd07990f4e03" /><Relationship Type="http://schemas.openxmlformats.org/officeDocument/2006/relationships/notesMaster" Target="/ppt/notesMasters/notesMaster1.xml" Id="R706a06e24cbf4669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c56ee8af7fa748ed" /><Relationship Type="http://schemas.openxmlformats.org/officeDocument/2006/relationships/notesMaster" Target="/ppt/notesMasters/notesMaster1.xml" Id="R707ef819ce2b4e4e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7d68e6e6d67842a0" /><Relationship Type="http://schemas.openxmlformats.org/officeDocument/2006/relationships/notesMaster" Target="/ppt/notesMasters/notesMaster1.xml" Id="R21b8d765b0934792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547e93a58d734fb5" /><Relationship Type="http://schemas.openxmlformats.org/officeDocument/2006/relationships/notesMaster" Target="/ppt/notesMasters/notesMaster1.xml" Id="Re72d4ab56538408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c8a4f90833694b44" /><Relationship Type="http://schemas.openxmlformats.org/officeDocument/2006/relationships/notesMaster" Target="/ppt/notesMasters/notesMaster1.xml" Id="Rd8fc5e8d7d9f4662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efd3839dfc804e2d" /><Relationship Type="http://schemas.openxmlformats.org/officeDocument/2006/relationships/notesMaster" Target="/ppt/notesMasters/notesMaster1.xml" Id="R3bf5b722d17f4de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5766d4c71f9748f6" /><Relationship Type="http://schemas.openxmlformats.org/officeDocument/2006/relationships/notesMaster" Target="/ppt/notesMasters/notesMaster1.xml" Id="R0d8c2b8c19fd44a7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ba3ef290f2124986" /><Relationship Type="http://schemas.openxmlformats.org/officeDocument/2006/relationships/notesMaster" Target="/ppt/notesMasters/notesMaster1.xml" Id="Rf72dfe80b97f424c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2bd60fbbe80044eb" /><Relationship Type="http://schemas.openxmlformats.org/officeDocument/2006/relationships/notesMaster" Target="/ppt/notesMasters/notesMaster1.xml" Id="R40e41e21a1504484" /></Relationships>
</file>

<file path=ppt/notesSlides/_rels/notesSlide50.xml.rels>&#65279;<?xml version="1.0" encoding="utf-8"?><Relationships xmlns="http://schemas.openxmlformats.org/package/2006/relationships"><Relationship Type="http://schemas.openxmlformats.org/officeDocument/2006/relationships/slide" Target="/ppt/slides/slide50.xml" Id="R4e9d457f8e414753" /><Relationship Type="http://schemas.openxmlformats.org/officeDocument/2006/relationships/notesMaster" Target="/ppt/notesMasters/notesMaster1.xml" Id="R1e36b8264b1f48cb" /></Relationships>
</file>

<file path=ppt/notesSlides/_rels/notesSlide51.xml.rels>&#65279;<?xml version="1.0" encoding="utf-8"?><Relationships xmlns="http://schemas.openxmlformats.org/package/2006/relationships"><Relationship Type="http://schemas.openxmlformats.org/officeDocument/2006/relationships/slide" Target="/ppt/slides/slide51.xml" Id="R80e9781ba7a9467a" /><Relationship Type="http://schemas.openxmlformats.org/officeDocument/2006/relationships/notesMaster" Target="/ppt/notesMasters/notesMaster1.xml" Id="R06a2ac548d2b42c5" /></Relationships>
</file>

<file path=ppt/notesSlides/_rels/notesSlide52.xml.rels>&#65279;<?xml version="1.0" encoding="utf-8"?><Relationships xmlns="http://schemas.openxmlformats.org/package/2006/relationships"><Relationship Type="http://schemas.openxmlformats.org/officeDocument/2006/relationships/slide" Target="/ppt/slides/slide52.xml" Id="R68490fd106a44884" /><Relationship Type="http://schemas.openxmlformats.org/officeDocument/2006/relationships/notesMaster" Target="/ppt/notesMasters/notesMaster1.xml" Id="Rfc76a696eacd4cd0" /></Relationships>
</file>

<file path=ppt/notesSlides/_rels/notesSlide53.xml.rels>&#65279;<?xml version="1.0" encoding="utf-8"?><Relationships xmlns="http://schemas.openxmlformats.org/package/2006/relationships"><Relationship Type="http://schemas.openxmlformats.org/officeDocument/2006/relationships/slide" Target="/ppt/slides/slide53.xml" Id="R03f5e220c2cd48a5" /><Relationship Type="http://schemas.openxmlformats.org/officeDocument/2006/relationships/notesMaster" Target="/ppt/notesMasters/notesMaster1.xml" Id="R58cbda5b1d8a4fb0" /></Relationships>
</file>

<file path=ppt/notesSlides/_rels/notesSlide54.xml.rels>&#65279;<?xml version="1.0" encoding="utf-8"?><Relationships xmlns="http://schemas.openxmlformats.org/package/2006/relationships"><Relationship Type="http://schemas.openxmlformats.org/officeDocument/2006/relationships/slide" Target="/ppt/slides/slide54.xml" Id="Rcc70ebf128334c21" /><Relationship Type="http://schemas.openxmlformats.org/officeDocument/2006/relationships/notesMaster" Target="/ppt/notesMasters/notesMaster1.xml" Id="R30cf7b06fd8e46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6f0593301c046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c0d9aa300f4cdb" /><Relationship Type="http://schemas.openxmlformats.org/officeDocument/2006/relationships/slideLayout" Target="/ppt/slideLayouts/slideLayout1.xml" Id="R0e2db66efb4744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2db66efb4744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bc4e1fec07453e" /><Relationship Type="http://schemas.openxmlformats.org/officeDocument/2006/relationships/notesSlide" Target="/ppt/notesSlides/notesSlide1.xml" Id="R5b32a29b1844458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f0085e06684f1c" /><Relationship Type="http://schemas.openxmlformats.org/officeDocument/2006/relationships/notesSlide" Target="/ppt/notesSlides/notesSlide2.xml" Id="Reca0989c2d20406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aaadae456941be" /><Relationship Type="http://schemas.openxmlformats.org/officeDocument/2006/relationships/notesSlide" Target="/ppt/notesSlides/notesSlide3.xml" Id="R8cea78dac9d1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94794b7d6c4a74" /><Relationship Type="http://schemas.openxmlformats.org/officeDocument/2006/relationships/notesSlide" Target="/ppt/notesSlides/notesSlide4.xml" Id="R19ac9f5d706e44a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5f6189e4844d13" /><Relationship Type="http://schemas.openxmlformats.org/officeDocument/2006/relationships/notesSlide" Target="/ppt/notesSlides/notesSlide5.xml" Id="R92f0ae4093f347c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3a2b8ec954cbc" /><Relationship Type="http://schemas.openxmlformats.org/officeDocument/2006/relationships/notesSlide" Target="/ppt/notesSlides/notesSlide6.xml" Id="Rcdecf7c916ae487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57f4a6a05146e4" /><Relationship Type="http://schemas.openxmlformats.org/officeDocument/2006/relationships/notesSlide" Target="/ppt/notesSlides/notesSlide7.xml" Id="Rfcfef38e5206420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b66334e0894d47" /><Relationship Type="http://schemas.openxmlformats.org/officeDocument/2006/relationships/notesSlide" Target="/ppt/notesSlides/notesSlide8.xml" Id="R7db3ec52c4444f6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22fc40e144266" /><Relationship Type="http://schemas.openxmlformats.org/officeDocument/2006/relationships/notesSlide" Target="/ppt/notesSlides/notesSlide9.xml" Id="R0af9fee6c7984c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ddea60fd7c4148" /><Relationship Type="http://schemas.openxmlformats.org/officeDocument/2006/relationships/notesSlide" Target="/ppt/notesSlides/notesSlide10.xml" Id="R803e1a6cff0045b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369077ea34860" /><Relationship Type="http://schemas.openxmlformats.org/officeDocument/2006/relationships/notesSlide" Target="/ppt/notesSlides/notesSlide11.xml" Id="R65399a07884341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39ea45f5b1439d" /><Relationship Type="http://schemas.openxmlformats.org/officeDocument/2006/relationships/notesSlide" Target="/ppt/notesSlides/notesSlide12.xml" Id="Rf83ae661bdd1453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d76b21d674267" /><Relationship Type="http://schemas.openxmlformats.org/officeDocument/2006/relationships/notesSlide" Target="/ppt/notesSlides/notesSlide13.xml" Id="Rba066c61db4d4de8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77c122aaa44dae" /><Relationship Type="http://schemas.openxmlformats.org/officeDocument/2006/relationships/notesSlide" Target="/ppt/notesSlides/notesSlide14.xml" Id="R9bb36e74e2674b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f181ab4f7145d6" /><Relationship Type="http://schemas.openxmlformats.org/officeDocument/2006/relationships/notesSlide" Target="/ppt/notesSlides/notesSlide15.xml" Id="Rc759033d0f674b3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702cbad504d10" /><Relationship Type="http://schemas.openxmlformats.org/officeDocument/2006/relationships/notesSlide" Target="/ppt/notesSlides/notesSlide16.xml" Id="R4cc5ffc477c0450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f281376a0a49b3" /><Relationship Type="http://schemas.openxmlformats.org/officeDocument/2006/relationships/notesSlide" Target="/ppt/notesSlides/notesSlide17.xml" Id="Raddf250b072c4da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a924f0a79f4e8a" /><Relationship Type="http://schemas.openxmlformats.org/officeDocument/2006/relationships/notesSlide" Target="/ppt/notesSlides/notesSlide18.xml" Id="R60d18d0a882c460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0ec40d1398423b" /><Relationship Type="http://schemas.openxmlformats.org/officeDocument/2006/relationships/notesSlide" Target="/ppt/notesSlides/notesSlide19.xml" Id="R4683f0a7d5d04e95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30fb14e35b4c20" /><Relationship Type="http://schemas.openxmlformats.org/officeDocument/2006/relationships/notesSlide" Target="/ppt/notesSlides/notesSlide20.xml" Id="R90336c924d30464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62c8370bd74fa8" /><Relationship Type="http://schemas.openxmlformats.org/officeDocument/2006/relationships/notesSlide" Target="/ppt/notesSlides/notesSlide21.xml" Id="Ra4f6b3d7692749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e55d9adfa47b7" /><Relationship Type="http://schemas.openxmlformats.org/officeDocument/2006/relationships/notesSlide" Target="/ppt/notesSlides/notesSlide22.xml" Id="R329a26cbad6145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f38fff6495476a" /><Relationship Type="http://schemas.openxmlformats.org/officeDocument/2006/relationships/notesSlide" Target="/ppt/notesSlides/notesSlide23.xml" Id="R236d4e8b705e4d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76784a3034a61" /><Relationship Type="http://schemas.openxmlformats.org/officeDocument/2006/relationships/notesSlide" Target="/ppt/notesSlides/notesSlide24.xml" Id="Rd8bb654b7f364ea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d8942560414083" /><Relationship Type="http://schemas.openxmlformats.org/officeDocument/2006/relationships/notesSlide" Target="/ppt/notesSlides/notesSlide25.xml" Id="Rdee77bab08944d0e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1ffdcab048f2" /><Relationship Type="http://schemas.openxmlformats.org/officeDocument/2006/relationships/notesSlide" Target="/ppt/notesSlides/notesSlide26.xml" Id="Rc33bbc631bc049d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637df302f64b77" /><Relationship Type="http://schemas.openxmlformats.org/officeDocument/2006/relationships/notesSlide" Target="/ppt/notesSlides/notesSlide27.xml" Id="R41b5691208104e6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c6f178b3d4787" /><Relationship Type="http://schemas.openxmlformats.org/officeDocument/2006/relationships/notesSlide" Target="/ppt/notesSlides/notesSlide28.xml" Id="R7ce913d49b2a420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7468f06cb84bf9" /><Relationship Type="http://schemas.openxmlformats.org/officeDocument/2006/relationships/notesSlide" Target="/ppt/notesSlides/notesSlide29.xml" Id="Rf637e68003404af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cfe180805a4f2c" /><Relationship Type="http://schemas.openxmlformats.org/officeDocument/2006/relationships/notesSlide" Target="/ppt/notesSlides/notesSlide30.xml" Id="R7b8b1a1fc2b7452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854297e1434ffa" /><Relationship Type="http://schemas.openxmlformats.org/officeDocument/2006/relationships/notesSlide" Target="/ppt/notesSlides/notesSlide31.xml" Id="R5b3f7deb237c471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a288a818fb40e9" /><Relationship Type="http://schemas.openxmlformats.org/officeDocument/2006/relationships/notesSlide" Target="/ppt/notesSlides/notesSlide32.xml" Id="R81591f7dc6294836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473f09f9749f0" /><Relationship Type="http://schemas.openxmlformats.org/officeDocument/2006/relationships/notesSlide" Target="/ppt/notesSlides/notesSlide33.xml" Id="Rfae24fff9ce94b4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6f42e45c14b06" /><Relationship Type="http://schemas.openxmlformats.org/officeDocument/2006/relationships/notesSlide" Target="/ppt/notesSlides/notesSlide34.xml" Id="Rd1a1a86a27424e1e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2e298927494403" /><Relationship Type="http://schemas.openxmlformats.org/officeDocument/2006/relationships/notesSlide" Target="/ppt/notesSlides/notesSlide35.xml" Id="R1a7b4f17e24846be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2faa34ecb463f" /><Relationship Type="http://schemas.openxmlformats.org/officeDocument/2006/relationships/notesSlide" Target="/ppt/notesSlides/notesSlide36.xml" Id="R213da945652841d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ab726a3b24a38" /><Relationship Type="http://schemas.openxmlformats.org/officeDocument/2006/relationships/notesSlide" Target="/ppt/notesSlides/notesSlide37.xml" Id="Rcea3c623672742e2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b30e380744d2a" /><Relationship Type="http://schemas.openxmlformats.org/officeDocument/2006/relationships/notesSlide" Target="/ppt/notesSlides/notesSlide38.xml" Id="R0346ddff150f40cd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cb6eb02b84c92" /><Relationship Type="http://schemas.openxmlformats.org/officeDocument/2006/relationships/notesSlide" Target="/ppt/notesSlides/notesSlide39.xml" Id="Re88688242d074e40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9e0f5a70034f6a" /><Relationship Type="http://schemas.openxmlformats.org/officeDocument/2006/relationships/notesSlide" Target="/ppt/notesSlides/notesSlide40.xml" Id="R152e737453ee4614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8487950cee4636" /><Relationship Type="http://schemas.openxmlformats.org/officeDocument/2006/relationships/notesSlide" Target="/ppt/notesSlides/notesSlide41.xml" Id="R9f60c8ac9c2e4acd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d8010894b45fb" /><Relationship Type="http://schemas.openxmlformats.org/officeDocument/2006/relationships/notesSlide" Target="/ppt/notesSlides/notesSlide42.xml" Id="R6b7fd81312aa48a2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4d25899da2409c" /><Relationship Type="http://schemas.openxmlformats.org/officeDocument/2006/relationships/notesSlide" Target="/ppt/notesSlides/notesSlide43.xml" Id="R5e2303956ea64532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a9bcd68762412b" /><Relationship Type="http://schemas.openxmlformats.org/officeDocument/2006/relationships/notesSlide" Target="/ppt/notesSlides/notesSlide44.xml" Id="R6dca4f8f93124f5d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bc4f00ccb642a7" /><Relationship Type="http://schemas.openxmlformats.org/officeDocument/2006/relationships/notesSlide" Target="/ppt/notesSlides/notesSlide45.xml" Id="R2a25b33682204b50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40f914ef047a8" /><Relationship Type="http://schemas.openxmlformats.org/officeDocument/2006/relationships/notesSlide" Target="/ppt/notesSlides/notesSlide46.xml" Id="Re218e640ee2d4635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3ebffbfc6141e8" /><Relationship Type="http://schemas.openxmlformats.org/officeDocument/2006/relationships/notesSlide" Target="/ppt/notesSlides/notesSlide47.xml" Id="Rfeda331d17664ee9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f4ff1f1ce4a00" /><Relationship Type="http://schemas.openxmlformats.org/officeDocument/2006/relationships/notesSlide" Target="/ppt/notesSlides/notesSlide48.xml" Id="R6f24439d10af4294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88620891394121" /><Relationship Type="http://schemas.openxmlformats.org/officeDocument/2006/relationships/notesSlide" Target="/ppt/notesSlides/notesSlide49.xml" Id="R376554e6e6084c0a" /></Relationships>
</file>

<file path=ppt/slides/_rels/slide5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78208e6d5647d6" /><Relationship Type="http://schemas.openxmlformats.org/officeDocument/2006/relationships/notesSlide" Target="/ppt/notesSlides/notesSlide50.xml" Id="R648d80bd8bd04e44" /></Relationships>
</file>

<file path=ppt/slides/_rels/slide5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e370dc362f4933" /><Relationship Type="http://schemas.openxmlformats.org/officeDocument/2006/relationships/notesSlide" Target="/ppt/notesSlides/notesSlide51.xml" Id="Ra286bce4a2d34c60" /></Relationships>
</file>

<file path=ppt/slides/_rels/slide5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0abb6cf1f54a1f" /><Relationship Type="http://schemas.openxmlformats.org/officeDocument/2006/relationships/notesSlide" Target="/ppt/notesSlides/notesSlide52.xml" Id="R0492a82437cc4e90" /></Relationships>
</file>

<file path=ppt/slides/_rels/slide5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eba9c8bbe04ace" /><Relationship Type="http://schemas.openxmlformats.org/officeDocument/2006/relationships/notesSlide" Target="/ppt/notesSlides/notesSlide53.xml" Id="Rcb4cbee656d64068" /></Relationships>
</file>

<file path=ppt/slides/_rels/slide5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3601a07ad4730" /><Relationship Type="http://schemas.openxmlformats.org/officeDocument/2006/relationships/notesSlide" Target="/ppt/notesSlides/notesSlide54.xml" Id="Re26f31d96d4648c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418A1-52ED-45D1-A569-87C164822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F9674A-5192-4050-A02B-83299B9E7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2382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F28B0F-AAF2-4940-97D2-ACFCB42D3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552700"/>
            <a:ext cx="8191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57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7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55D6E9-3D8B-45DF-A6DD-821243936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86050"/>
            <a:ext cx="3048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60F05-1EB8-48A1-829C-2BDCCF6D3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38550"/>
            <a:ext cx="619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Продуктовая презентация для обсуждения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74D9B9-386B-4183-A83C-B32DAAE5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67302465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86A716-BA75-4C3D-B707-04394239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3FF7E6-B096-4DA0-8E12-6E5CA8C88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F7676-6BC3-4154-B988-26B609AF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D7572-613F-4D7F-9D29-82789007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799350-06F2-4410-AA1B-7E86A383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Короткий ответ: что мы строим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CBEA42-556C-4EE1-B0D2-5AF48F58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D72B1A-A4E5-4AF8-8183-0930D079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0584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457621-E29D-4664-9B40-B40BA624C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9525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 — это персональный weekly visual self-guidance продукт: пользователь вводит дату рождения и текущий запрос, получает прогноз недели, проходит daily episodes и видит, как меняется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6013DA-0FCB-4426-918C-311D4B33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3821CF-C89E-4489-B2D2-3BF5DAB26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продаем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89C9DE-3F6E-4EC3-9131-48D291B16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“астрологию”, а понятную неделю: смысл → действие → визуальное изменение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13AE0F-C0AA-4A06-B400-0F495DA3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2476500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53C803-3DB8-4789-84BE-125C800E4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6479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Почему сейчас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807AC8-343B-444A-B5E9-01D5E7B3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647950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personal guidance, daily wellness, AI companion и visual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67D7FE-8F48-45F4-8A43-7CF30EFB6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EB71ED-B1E2-41D1-BA71-DEE963395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Что в MVP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7F157F-88ED-4314-AD14-98F36861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forecast, daily card, action/reset, Life Canvas, Plus paywall, один video-token test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012D88-A459-478B-93E0-F8C1F126D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3857625"/>
            <a:ext cx="4686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8ACF7D-B8E8-4F9F-B5AD-F82D2D63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4029075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Главный риск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920A24-8A92-4FAC-9711-BFA4BB06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029075"/>
            <a:ext cx="2495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должен понимать: Canvas изменился из-за моего действия, а не случайной генерации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D800F8-A2F9-4789-AF25-108A21786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467350"/>
            <a:ext cx="78867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9B85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0A61A0-60C9-498B-8FC7-E3D44901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581650"/>
            <a:ext cx="7562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не спорить о рынке, а проверить loop на 30-50 пользователях.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3A838A-CBDC-4BE5-B52C-B2F77BF9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594606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34E568-9ADE-4DC3-AC46-3391BBD15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C4941E-22DD-4FE6-9B79-C8FB40F7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8017C-E85D-4067-94C4-CA759AA7C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F4C4E-6012-4718-BD28-E369EA609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2F7C0-D3C4-46C9-8A22-DCB89375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Компас показателей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E4EAE-2FD1-46E4-8F87-34A655FA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DD46E3-8BA9-4C53-8561-394EF067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81100"/>
            <a:ext cx="9144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каждом финансовом или рыночном слайде важна не сама таблица, а показатель, который меняет решение.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0EC54A-B5A3-415D-8A9C-94582F0E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D1A9D-69E3-4520-AAEB-EE6BF3620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777D0C-EDC6-44A4-A931-25B17D4F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D1/D7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Canvas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684A1F-6EBD-42F8-89D8-5E3E14ADE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 ценность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9195C2-C9BA-421C-AE95-4F3BFC09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0500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A7174-F0CE-4428-9239-9A941BE4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5740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Деньги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522AF-93E9-438F-B536-961FBCA8A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в оплату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 на пользователя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8F9804-BBA5-46DE-BA32-7652F6715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3845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платная модель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4B4CD1-47A4-4298-9837-5B5E8BD34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9AA841-621A-4F4B-B910-D0540FCB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Себестоимость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3E117F-2AAA-4681-92E6-6A208A284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free-user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 платящего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83FF4E-7506-4D03-A6C8-945198A26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съедает ли AI маржу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AA42B8-1A39-48D8-BADD-5A920505C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714750"/>
            <a:ext cx="4648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A15855-7E5E-4299-9993-6A1EDC8C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Рост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CD6F-A0FB-4F8C-866B-499B05E7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886200"/>
            <a:ext cx="2000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регистрации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активации</a:t>
            </a:r>
          </a:p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Доказательство от авторов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A2BF62-EEDF-4619-9627-867F420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648200"/>
            <a:ext cx="4095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приводить людей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0C5D27-A942-44D4-A088-AD091F08F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7620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9B85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ACC678A-7996-4E3D-98AC-864776DE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734050"/>
            <a:ext cx="7143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Каждый блок ниже читается через один вопрос: какой показатель меняет решение по продукту?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8DFC49-8E08-4455-B997-FB6834FE4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2817052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F910A-156C-45DA-B128-A57EB7B7C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B1C4A4-7035-47F8-BD59-A123C00C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EF9FC5-FF04-4068-9DC5-D7D6355D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1E6047-0169-4D3F-A396-658C4487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25092-8C97-4620-BB83-AE1BF6CD0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уже доказали лидеры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CC85D-A5B5-4F69-9C07-37E8EFE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148FB4-E947-4259-B863-88D0B3A95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3D351-6D8E-49F5-A24E-275903705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/ Co-Star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C9D90-556A-48F0-82AE-CDC49F8F7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личная навигация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DF57F2-4BAE-4E4D-96B8-D7AD54BFA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рождения, недельный смысл, совместимость, платные разборы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2668B2-C028-4063-9072-E45B86B8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iOS: $718K-$797K/мес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9AB593-703D-4556-A87A-4C1C3BBE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428750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E24578-4AD1-44AA-8A6A-A16062F5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60020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/ Headspace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E2F229-54E5-4847-97C5-46F76038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1046E7-D934-4A3F-BC71-A7E1771D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057400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доверие к подписке, годовые планы, wellness-привычка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AB1C0E-451E-436D-B89E-6A1AD1DA4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2571750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proxy: около $300M/год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E767EE-B61E-4A81-B583-250A7EA9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A03B45-BBC5-49FF-A769-2665BB51C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/ Replika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B09F33-C86C-4376-80D4-4E7815F31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петля помощника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A62894-E24D-4C64-AA19-C12E3584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аватар, мягкий возврат, эмоциональная непрерывность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EFBB3D-A6D3-41D7-B6FD-87C056FA4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оценки: $1.5M-$2.36M/мес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5F4D79-6DFB-437E-902B-3A2AF1D5B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381375"/>
            <a:ext cx="4619625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B900E3-7916-45D4-B9EB-480BA2A5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35528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/ HeyGen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51651E-E774-4A76-8BC2-56634A4C4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71875"/>
            <a:ext cx="1809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визуальный AI-слой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43BE7D2-61A5-4CDB-9DA9-352CE9590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010025"/>
            <a:ext cx="4191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видео/аватар как premium-результат, не дешевый daily commodity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63E9D-E2CF-49ED-AD9C-64643984D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524375"/>
            <a:ext cx="4191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Gen-4 Turbo ~= $0.40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7299EC-8727-430C-8AD6-C2E1CDB36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102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рынке уже есть все ингредиенты. AURA собирает их в один причинный недельный опыт.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C7DD23-ACED-4539-B803-9185CCB6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646694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4815651-9D11-4ED5-B419-5B453A1D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C7B09-1A6F-4C0F-BD0C-DED9A464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42FA2-7468-4302-A20D-890E8783C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E8F038-4D5C-4581-BB2F-8D3C98E9D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48EA5C-857E-4261-94AC-9E5A23FB8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Новый формат находится на пересечении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3C8563-7B11-4078-8206-7C8809A5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31EE6A-89BC-44FD-A4E8-2AF33165B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416E7-2BE4-4375-8225-B852038A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Астрология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AC136E-BD3A-4957-BF24-3E77DCDC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смысл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A591C2-571F-42F5-BAFD-39A68BEA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7621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913896-AEFF-41D4-9500-82B8F8F5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20002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E48958-4097-4CD0-8F04-28147C8A8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384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ежедневный ритуал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454310-0610-44A6-83A7-7277557D2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199807-6190-4FAC-9843-0E6E95A98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AI-помощник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4813069-DDCF-4E1A-9CF3-9992DE309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/ ассистент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91C411-0AE2-4DAE-90E2-FD1E00723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857625"/>
            <a:ext cx="209550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920392-DEB4-4EBF-AE48-7216B9335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095750"/>
            <a:ext cx="1943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CB9AA8-BD21-4A60-920A-78D48252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733925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/ видео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F71B722-E702-4CF1-93EA-D91C7A1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52625"/>
            <a:ext cx="2857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7EF6280-0838-40F2-8530-34067F80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247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F9F6E2-15C5-49FD-9585-DB42DE41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143250"/>
            <a:ext cx="2133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визуальная навигация недели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56A767-C76A-49A4-AD84-D5312AF68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не “еще одно приложение с гороскопами”. Это сериал о своей неделе, где смысл приводит к действию, а действие меняет визуальное состояние.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C37C7A-0AEE-41C2-AA7B-6BC80C523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439241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E0CF5DB-9A28-4DC9-BD53-9842F6E2A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D4B764-5592-4113-BE3E-5238DCD8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43883E-74C7-4B20-BACD-54654CEA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D18999-41E9-472E-9709-1018F52F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7E836C-111E-4719-AD96-4325B640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Пользовательская проблема → ответ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A7A0F4-713F-4AC2-8E46-DE2C0FA83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0AB049-6942-4031-B8EB-35632A03E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сейчас болит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08C25A-275F-40B8-95B7-52EE6BBE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0662A-2A89-4769-8676-196E47658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Гороскопы дают смысл, но часто звучат общо и не ведут к действию.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5EE17D-AE39-4FD4-B612-8C6290D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EF558F-0538-458E-BE3B-25453E8E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дает ритуал, но не объясняет личную неделю пользователя.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9E0BA0-E5F0-4D1F-A8EB-414E6334B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1BAF94-3B6E-4F7C-A20D-29901A98F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 умеет помнить, но не превращает неделю в понятную структуру.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AEFED8-2885-456B-80E5-8FA29353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2DA03F-CA07-47AA-A4E5-10E7468F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Avatar/video tools дают вау-картинку, но она часто не связана с поведением.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0F762C-6C3E-48D8-A9EA-81CC2553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должна дать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ADF82A-0430-46CB-B16A-4C7820B4C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B6992B-6673-4FB7-BF29-05E48338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прогноз недели на основе birth data и текущего запроса.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14DD04-9BFA-44EC-AED0-7E94D519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ACAD8B-9182-4868-9724-E46D03D5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episode: один фокус дня, одно маленькое действие, один reset.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6C7A62-A5F4-44E1-ABF7-31603670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061F48-5D0D-4E06-8751-A8FBB17D9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Canvas: визуальная картинка меняется не случайно, а по причине.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534B9C-82A6-4C13-AA1C-77DF7C00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12F3E5-ABE6-4C66-8034-B82B60B8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recap/video: неделя ощущается как серия жизни, а не набор карточек.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B72BF69-B57C-491B-AD6D-6027615DA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78F098-FC02-47C8-B790-7EEA72CEB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Ассистент с памятью: пользователь чувствует продолжение, а не новый чат с нуля.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36AE33-588A-40D8-9B52-E7CF37B1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8B3C4D2-8098-4EC4-A673-7BFE5E3C0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605482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D070D92-DA7A-4112-AE39-9C3295BF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020E91-1E07-4D06-B57D-480A78DD9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74D99E-96A5-45A8-8F77-CA03F4A6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AB6E33-B2F2-4421-84DA-11D8B57D0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D32A32-26D4-4C15-B548-E36C4291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Финальная формула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1DC3EA-2E29-4216-B749-BD06858C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104912-B021-4E38-AAA3-F167F42E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7335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Финальная формула 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5C2778-7570-4209-AC06-6EF916B3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17335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— weekly visual self-guidance app: пользователь вводит birth data и текущий запрос, получает прогноз недели, проходит daily episodes и видит изменение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802114-DFD5-48FF-BE8E-FD76DA5BD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4098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принцип 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4D486B-7844-4DB1-9EB8-E3C1897F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24098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 не продает “предсказание судьбы”. Он продает структуру недели: понять состояние → сделать действие → увидеть изменение → вернуться завтра.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4E8A07-2B91-4837-8EA7-76C47D698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08610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внутри 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2B5543-EA07-4B76-B82A-65F53FA11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08610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прогнозист/ассистент с памятью, weekly season, daily action/reset, image-first Life Canvas и редкими premium video moments.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823A8-7CAF-476A-B58D-142A7607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376237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отличает 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E22905-FB56-4C74-8145-9C02D6D4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376237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 конкурентов смысл, ритуал, AI-память и визуал часто живут отдельно. AURA соединяет их в причинную петлю.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2F00F-9BEF-4779-9EA8-C1BEA4FC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438650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не делаем 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8762C6-9168-429B-A65E-8B989325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438650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безлимитный AI-video generator, социальную сеть или marketplace экспертов в MVP. Сначала доказываем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93ABD0-1A30-44C1-AD6F-A252B68C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114925"/>
            <a:ext cx="17621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Критерий жизни продукта 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38BFA-5D98-4331-B0D4-C8D7B194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5114925"/>
            <a:ext cx="82200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может объяснить, почему Canvas изменился, AURA имеет шанс. Если нет — это просто генератор красивых картинок.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64EBA6C-B16C-418E-9921-709C640EB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953134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4139068-D311-4E42-A904-0532AA692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5386FE-BDD0-448D-8DBF-CFF8FE14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29C838-CACC-405A-89C9-85A376E25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13644-B4F2-4FE5-AE67-4C30D4C7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506A9C-03B2-4970-956A-E602729DB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Продуктовая петля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9DD859-A868-4593-A05F-6482996F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08AB-ED06-4F9F-9139-674AE99A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A0DBDE-04E8-49A1-9F1B-06F460621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запрос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0D70CE-71FA-4D05-AAC8-485F1B420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личный контекст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E992E3-1F75-4936-86B3-A754F219C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1FFFF6-874D-4C89-B678-1B17033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90D760-399D-4F25-AAB7-88AF16EBD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арка сезона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10901D-0F80-4D02-A317-6D23FC4D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9507B2-1F9E-48EF-BCE6-305A2088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8EC448-FA3F-4EFA-BC26-B26FF4436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45F35A-59DE-401E-B373-DDC7B8097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50F1251-ACF9-461F-9CA5-44915DE76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Action / Reset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03231D-832E-4E27-88F9-1CB0906DB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маленькое действие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0B9B51-5CCA-4DA6-93C8-5F92F4F63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571750"/>
            <a:ext cx="161925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79F861-D608-498E-9CA8-F4FA1DE0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800350"/>
            <a:ext cx="1466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F2B777-2A36-448E-91CF-012A33FD9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4290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причинность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A93443-EAD3-4753-BF36-8DB9D491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572000"/>
            <a:ext cx="8096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Петля и есть продукт: Episode → Action → Reset → Reflection → Life Canvas → Tomorrow Hook.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36DED1-A12E-41B9-A1C2-3BB1189A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Источник: Google Vertex AI pricing page for Veo 2; exact video model pricing нужно перепроверить перед build.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E0D066-D4F3-4B0F-8B06-2927AFD0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69941295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09C00D-CF91-410A-9C22-04DC22CEE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CBA691-19E3-4794-B835-37F3AC99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E865DF-4970-425D-B707-7493C2B5C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C953B-C89A-409F-B2DC-9A171D901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DEC39C-6235-424E-BDA0-A088B96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Путь пользователя: первые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D2B5FB-54DB-49A4-908A-E0201A8A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5A991-4EE6-426B-A068-38F194AA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914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D57737-3C1A-4ABB-B9E5-0408E3F9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D6A617-1877-43BC-9BA6-1916B5AF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1A3740-6E2D-4D99-BDD7-62F0973C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поиска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5F76F8-D626-41EA-AF6B-70B4FEDB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хочет смысл на неделю, мягкий reset или визуальный образ будущей версии себя.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9367AA-C68C-4C7E-B204-AB7EA482A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D80969A-D43A-4319-BFAF-456F0E54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День 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79996-5BB0-48D4-A4C8-6004F075C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Первая петля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2835E4-B85F-4398-A67D-DD0B0C58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рождения + контекст → первый прогноз → одно действие → первый сдвиг Life Canvas.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B11C6F-FBBB-4785-9F63-09CAFA77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D21E4F-95FF-4A66-912A-A43B172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B4CDE7-4A87-4A89-82A8-A4E7D4DE4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сезон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7485A4-22C3-40E5-831E-B5D1354B0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видит недельную арку, помнит действия и получает recap/визуальный артефакт.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816017-84A8-49AE-878D-4A61643B4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667000"/>
            <a:ext cx="10668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64000A-1F39-46B5-8F8A-99BA821A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28950"/>
            <a:ext cx="8382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 30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8B1DAB-7CE8-49D5-BDA0-BE30F7D23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957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Личная система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6F02D2-2EA3-4DD7-B118-8C8A03320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457700"/>
            <a:ext cx="20002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становится ритуалом: память ассистента, сезоны, premium-визуалы, годовой путь.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29BE6F-312A-48B8-8806-93F3AE61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7150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работает только если пользователь понимает цепочку: ввод → смысл → действие → видимое изменение → возврат завтра.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C4C421-AD63-4B24-BA70-D3FF78008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6144058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8B8B1A-78CD-4F9C-9B6E-CA11CF17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000348-7CB5-4227-A826-E6BECD216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19D40-86CF-432B-915D-32AA7E2A6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1AA994-BC90-461F-9010-7F7DE11DC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0F1B76-02C5-4B9A-867C-831963D7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Life Canvas должен объяснять причинность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F4F912-B570-4E3C-B273-68355F29E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2DFB3D-5DB9-4BDF-A4AC-72DF9E7F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действия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8C1E665-750D-4061-A980-CC5633842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581150"/>
            <a:ext cx="2476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После действия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A354EA-A2FE-43EC-9F83-C74610B1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234E7-D47D-42CA-8C0D-775C52EF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4765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8D5E6"/>
          </a:solidFill>
          <a:ln xmlns:a="http://schemas.openxmlformats.org/drawingml/2006/main" w="0">
            <a:solidFill>
              <a:srgbClr val="D8D5E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408967-395A-4C8B-9E8B-73CD1A88F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238375"/>
            <a:ext cx="1381125" cy="13811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4B7F5"/>
          </a:solidFill>
          <a:ln xmlns:a="http://schemas.openxmlformats.org/drawingml/2006/main" w="0">
            <a:solidFill>
              <a:srgbClr val="C4B7F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75D40-8D05-402C-A3E6-0BE837525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туман / давление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неясная неделя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77AC7F-FB42-4FDC-A56C-6A1A3329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2000250"/>
            <a:ext cx="3429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FF0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9D6C5B-0770-45A6-9068-34117B5B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5745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0">
            <a:solidFill>
              <a:srgbClr val="DCEF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656D9-2ED0-456C-88F6-96833CF7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552700"/>
            <a:ext cx="1190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2B6EBC-7BC9-489D-A6A3-948A5F94C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28950"/>
            <a:ext cx="857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B61D1"/>
          </a:solidFill>
          <a:ln xmlns:a="http://schemas.openxmlformats.org/drawingml/2006/main" w="0">
            <a:solidFill>
              <a:srgbClr val="7B61D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EDEF9-57EC-4927-A48A-AD56A06E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57625"/>
            <a:ext cx="2571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ясный маршрут</a:t>
            </a:r>
          </a:p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собранное состояние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2588B-0245-47FC-91D6-E3822C86D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857500"/>
            <a:ext cx="476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7E5D72-B59E-4CE2-8014-087C186DD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7524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4ED733-EB68-4505-9C7C-439AA9DE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57750"/>
            <a:ext cx="7143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Пользователь сделал reset и reflection, поэтому Canvas меняется из “туман / давление” в “понятный маршрут / собранное состояние”.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46A798-28F4-4A9D-A846-A7EB88E7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191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пользователь говорит “ИИ просто нарисовал другую картинку” — продукт провалился. Если говорит “картинка изменилась, потому что я действовал” — AURA жива.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D55D9F-7689-4295-B3EA-8E0F8C33F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5983856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2D9ADD-1AD4-4AFF-962F-7192FAECD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E38AB5-4B7E-49E2-B849-EB362176C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0046D4-A6F2-4C84-895A-7E1586603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2C6F9F-2698-4B77-BADF-A6A55D3F3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BCEB0F-344A-432D-9B28-427808079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Premium-видео — это момент магии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E8CDC-631D-4D2B-9AA4-B56F7DB50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25E87-6B6A-4F46-93BC-4C32F253B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56197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1022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FB468-1E9B-4F3D-871B-939A53C2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190750"/>
            <a:ext cx="2000250" cy="2000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5E3F2-66D6-43F0-83F2-31E4B543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33675"/>
            <a:ext cx="1619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WEEK</a:t>
            </a:r>
          </a:p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TRAILER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0E72FFE-07A9-4B3D-9384-D75829FD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400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Premium video moment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C1CBD0-B77A-4F2D-AEF2-120F540D2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1619250"/>
            <a:ext cx="3143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можно включать в подписку только если модель дешевая и жестко лимитирована: один 8s ролик в неделю, а не безлимитная генерация.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8213D2-2D15-419D-9F94-33A840C9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146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FEDBE7-545E-4660-B7E9-3B087E1CD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7813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 sec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B1A492-BF46-4461-AF61-084317EC2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7146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ED2507-4D5C-49A0-AD0D-069FD41B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7813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 себестоимость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07A69F-525A-467D-BFAF-1AAB7CDBE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908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CD1DB4-D484-407E-89AB-0CE6C40DB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575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888092-9B4F-4765-8840-3D3C672B1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908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D64FFA-911D-49CB-9FA4-20CE4CC9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2575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 себестоимость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E93CC-F946-489D-A6C7-909D7B76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66712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F6FA9-07E9-4948-AF4C-B37E7F75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73380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images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EBEBC7-EDAC-4D94-92C0-22FF53946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66712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DC6026E-5B63-4EEA-A0C3-17FB2265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73380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~$0.60-$1.20 себестоимость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5AD8B-D40B-465A-9AC2-E51A4BE30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4143375"/>
            <a:ext cx="1619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398A81A-E0BA-4B39-9F85-ED605C6AA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210050"/>
            <a:ext cx="1466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Итого media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53454F-8551-4B1C-952A-6259C86FF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43375"/>
            <a:ext cx="2000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372566D-6987-4FF0-9BD0-912A0A9D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210050"/>
            <a:ext cx="18478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~$2.20-$3.80/мес до буфера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90FE39-9C6B-44D7-B0A8-C748B5C2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24500"/>
            <a:ext cx="8953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Бизнес-ход: продавать визуальную подписку, но жестко лимитировать генерации и считать каждый asset.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4F4480-1040-4E41-B135-122F0B65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07463846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F98613-7DBB-4884-BE7E-6675CB6AF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D8E0C2-25FA-4DC0-AD32-71AEC838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5A898F-6628-4764-95F5-85C5FEC52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1DA7CD-853A-4DB2-8032-FCB1FD488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8A0AF7-2FE7-4DAC-AAB1-A9AF4CBA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Архитектура paywall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7A0CF0-0608-4A3E-A687-CB835BA9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F800E0-B1CF-41F1-9324-C0A8EF78E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2BB4DF-3C31-4335-B4FA-E7BBD9E7A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4A94D7-8E4F-4CB2-8774-5607113DD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029117-F17B-4964-8C9C-591BB954F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3-7 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лимит картинок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 weekly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31E29A-58F4-4EA3-A034-211EBF99E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456F32-3D51-44F2-84D8-097613E6D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активация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41E4D7-8920-4E61-8867-3BEF9432A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5E7339-D952-4248-9AA3-8F130533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1B78B-91EA-455B-BFFC-6C4EC543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EDE95A-6C42-4E77-B02A-BAFA6205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cards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0-2 видео/мес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2EC34-2FD5-4865-963D-B1638FA5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B36BB2-CEFF-4E75-8628-C1EC810B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стартовый тест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2B9A5A-F207-4919-B2C8-300C06D77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2C6237-94F0-4C7C-A94C-F6A07DA3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990D2-F286-4F58-A682-C5B81897B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C037A-E182-4A7C-8F25-95F72B73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videos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861D8C-C6D5-4E0D-8F3D-F736BFBE1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4FCC1D-1185-459B-BF15-EFEE2EE99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пакет с видео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998D9-EC0D-4721-96F9-63CEA7CFA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1619250"/>
            <a:ext cx="2238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1430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5EF704-92DE-4C25-A9D7-F52C3776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1866900"/>
            <a:ext cx="18573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Annual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CCCFFA-1694-4F20-A515-A93EE6F1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333625"/>
            <a:ext cx="18573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$79-$89/год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5C09E65-EC9C-4EF6-B0B9-A8C29E83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2525" y="2990850"/>
            <a:ext cx="1781175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пакет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ниже churn</a:t>
            </a:r>
          </a:p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деньги вперед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099A71-4B78-4EAF-A9D2-3E3248B92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171950"/>
            <a:ext cx="138112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A306C-A59D-415B-B9A2-69DDBB676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4248150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60BE839-2320-474D-87B4-1900E707B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76875"/>
            <a:ext cx="800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не внезапное повышение, а верхний тест для пакета с 4 видео/мес. Базовую цену нужно тестировать.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363D50-1BF9-4A1D-B8C7-DA4379EAF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67340896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7814E7-BC79-478F-9D2D-E9271EE5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DE07E-5CCD-4FD5-BC83-02EA9A2A7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A94EAD-A0C5-4358-A740-C43BBCCB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1E0E5-FDAF-41B1-A669-6C749F013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4B099-5F41-47FB-BB12-A71466F7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Почему это не просто астрология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32782-8CE1-438B-992A-A376A39B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E5C955-6901-4FC0-BABC-744834DA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428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дают существующие приложения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447F3D-72DA-4D35-A529-BBDF5ED2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18EE93-A161-42A1-89A4-21918DDE4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860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Astrology: смысл, но часто слишком общий и пассивный.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CDE5A07-E212-48CA-8FE0-192A7BB3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54A326-C236-4781-93CD-27221441F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384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Mindfulness: ритуал, но часто недостаточно персональный.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06455-D953-4D9C-8DA0-0CDC9D10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718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2474C6-D7D2-4B94-A74B-2D2282AC5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9090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companion: разговор, но не структурированная неделя.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BC4B64-EDBE-4740-8CCA-F610C3713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2430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5C1FA-E4F9-4F13-A3A1-74DBA709B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43350"/>
            <a:ext cx="4114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tools: визуал, но слабая причинность.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7C2527-6DEC-4C39-84EE-B41120E27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714500"/>
            <a:ext cx="4095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соединяет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90FA7-453D-4AD3-8943-65EFD27D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2669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7173AB-2DEE-4570-B626-7EBEAAD0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860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Контекст даты рождения без фаталистичного позиционирования.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CB3777-B3B1-41AC-8A0D-53C4AC7B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7241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869DD1-89EB-4B56-B041-46E31768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432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Недельный сезон, который дает структуру.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80FEB0-4132-43A4-BD23-1D5EA8D01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813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7B7DCF-42F6-4475-A57C-A5A99FA35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2004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micro-action, который возвращает agency.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9F983B-D702-4291-A619-DDA7895E2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385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576743-C648-430B-9371-3AD845267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576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Canvas, который меняется по причине.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3E922A-BFCA-4C58-AFFD-D39428833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95750"/>
            <a:ext cx="228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•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6F7D5B-6560-4FB9-AA03-120D9C28E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14800"/>
            <a:ext cx="3924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Premium-видео как редкий proof-of-magic, а не ежедневная утечка COGS.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FE7073-9653-48B1-B353-F897EBE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66875"/>
            <a:ext cx="190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05CEA1-3808-406D-B938-D49DC73D0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2719247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191745D-43CC-4195-B67D-9317754A0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0C895F-1D89-44E5-8381-903DA903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C3D0DC-FFB1-44C2-B68B-F5888FEF4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18CF8F-2A19-45CF-B7C1-B44028A8B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6C7F25-65B2-4FC0-8C17-F040F22B0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Рынок: 4 денежных пула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36FC2-FFBF-49C3-9FFF-53FF3DDCD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08445D-5DB3-4631-93A9-E8378923B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D2D544-F7A3-45A8-9328-FA1EFC7E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60DFE5-8BBE-4F8D-87E5-1777E0D2D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FCC73-76A4-477B-BE67-0A1BDFE2E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Публичные сигналы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310F1-EF1F-4D0F-A8AC-2632D7D3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ED97B-1487-48A6-8F64-FAF566997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/ деньги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E80957-AF03-49FD-A888-58DAC6AA0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FD9C93-7AC3-4B37-AC9D-DC30EBDED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B89EDE-48CC-4DF9-95AE-CF1147483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3760FC-65C1-486B-9DE0-AAC3DD15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Astrology / guidance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BE085-C693-4D4E-86D5-185296E7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84D21B-4B92-4B3F-935A-0D5C932C6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The Pattern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A9E7F6-054F-426F-AC6A-9CA0E9FB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F3BF1-6D88-4946-8597-4C50E73C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Co-Star: 20M+ downloads; Nebula/CHANI: сотни тыс. $/мес public proxy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8A678F-CB57-41C5-AB0F-A6510E45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D99F3A-C3A5-4128-BCCA-F7DF88CA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платеж за персональный смысл, но нужна менее “гороскопная” подача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58F473D-09EB-4477-9827-936D8CD9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CCD305-99DF-4D63-A170-095E8227D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Mindfulness / habit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B195AB-7CCF-46CD-9241-B6FF0236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47C9603-BE9E-4EA8-A921-8234883E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8BF0A3-6961-4DC1-8480-765B8AD6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5712F93-C7ED-4DFB-8C1E-50F651355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~$300M/year и 4M+ paying subscribers; Headspace: десятки млн $/год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10609B-B680-49F7-8859-F202290EC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010A6BF-C616-4973-8297-427C9CCD2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держится на daily ritual, trust и annual plans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0B2A83-F3D5-43EE-8FD9-B0C50CE61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D00B602-2F90-40CF-B86C-DC8A6EB57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7D9FC3-6D81-409E-84DC-F6EDC5717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25BCC6F-0E62-43A7-97F3-B1ACAC26C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Character.AI, Replika, Finch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AF58B23-FABB-43EF-8563-D968E50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17168E3-ACDD-4A04-9B6F-73E3CB295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Character.AI: 20M MAU; Replika/Finch: ~$1.5M-$2.36M/мес proxy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B1A540-9075-44ED-A349-A51AC76B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C912AE0-C465-4331-B509-6B4EAB7B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память, companion и avatar повышают возврат и willingness to pay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A9C6660-0FBC-4F46-B486-80CCE80C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FF3F70B-6E7B-41DE-A736-BA876D6A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avatar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7196FDA-74FC-4707-9147-D3EF20F8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5FADEA-E731-4846-940E-C41104B8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Runway, HeyGen, D-ID, Luma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BFF8D9A-8F4C-4AA7-9E66-C9B94953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E59F4-9AC2-4496-8D86-C7015517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8s video ~= $0.40; talking avatar может стоить дороже daily image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2A4E1FE-2072-4EED-878B-2DFB84B30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6CE231D-F202-4E70-8FC6-F6D7F2DD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визуал должен быть premium layer, иначе COGS ломает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C65BE1C-341C-471B-A335-9331D6A1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AURA не выбирает один рынок. Она собирает платные паттерны из 4 рынков: meaning + ritual + companion + visual AI.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5223E0-15B2-4966-B287-6B6436577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17292332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2E814D-F1EF-4F24-8C37-B98B2169F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657DEB-849C-4216-AA31-DE2D486E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5CE09D-44E2-43CA-9270-970F98FF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378D6C-2AB6-4A3C-86A9-E7FCC3D86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F82C40-7D64-41DF-B511-137E3792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Карта рынка: от категории к деньгам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80BB2-5FAA-4D84-9344-83F69D70B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30641E-AB0A-4C37-83B0-E325110C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5EDCF9-E6A4-4FEE-9379-9922E3A7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Уровень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8E6D4A-99EC-44C4-B61A-3F3B1711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85C891-1B40-44D7-B9D1-BC4B609D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считаем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0DC30-968A-41C7-B16B-13E712FA5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C8AC85-81CB-41CE-97F6-18115E338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08914-DA76-4C8D-891A-67469476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74057D-E655-4B13-B84B-69CFAE11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Денежная логика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B44430-BAD3-4B09-80CE-3A8512526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2F314E-A8AC-41AD-9F78-108B79463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7A9601-CA97-47A3-9E0F-7B9092C71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14C034-2945-46DA-9D5B-065631F9A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платные поведения: astrology / mindfulness / AI companion / visual 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B9740-726D-41B0-9080-EBABACB25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2EDF46-A62D-4377-8647-13BA5C74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сотни млн потенциальных users в соседних категориях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981A06-CBBE-411D-8A97-B818874A8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F2BC0A-2C10-48F0-B3BF-079760A47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лидеры уже продают подписки $9.99-$14.99+ и annual plans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E3C903-C457-4E00-8991-EF8C926A7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2AF82B-54BA-47A4-8596-8D80FFF1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229A8B-8AE1-4252-A38B-2A1D18CA6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2B01C-63B9-4447-B9E0-6EBA91C4F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доступный сегмент для AURA: mobile-first self-guidance + visual AI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7972286-7C20-4AE4-999C-A5D438E3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33E69E-B817-4E35-8969-1021F9C6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условно 10-30M reachable users через app stores, creators и short-form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85C18D-0725-4FF3-8B2C-E758BF64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3CE813-CBC0-433C-B66F-F92712CC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при 1-3% paid это рынок десятков млн ARR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811370-4DF6-409E-B2BF-5D2345BEA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0A5451-B0D7-422B-A323-799910C5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Beachhead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D826F0-2694-4BF8-B549-096B0CC5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95D0EC-72F9-4006-8946-FA6436F8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12-24 месяца, не весь рынок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67E7774-A721-4517-922B-ECC6182D4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AF4F2D-6EE6-4909-905B-2BBF1FB4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100k-300k registered users / 10k-60k active users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332F5D5-03B7-4218-B3F4-F708644B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239FB22-5817-4341-80C6-8D6F24A6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2.5-5% paid =&gt; 2.5k-15k payers, ~$0.4M-$2.7M ARR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78D758C-3C67-469D-A4D3-011B41814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E101FA-609C-44E3-8F3D-952B7D0D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case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F67219-5161-4D50-A831-2447252D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2680894-293F-4264-ACAF-230E1B1E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loop и GTM повторяются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3129CB3-F5A4-4C6A-80BE-933B025F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19717F8-9A27-4400-8AD1-0BA6DD6B1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1M-3M registered users / 100k-600k active users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59E575-9168-43BC-9AE2-E607B2722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BFF0E47-123B-490E-861F-EE2CC40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25k-150k payers + tokens =&gt; ~$4M-$25M+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39D8216-100E-4120-99AA-ABFB848A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2963BCE-3B11-459A-8EB4-ABC89D431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Venture upside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3511FB3-FCB2-460C-98CF-4DB3D5DA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360DC63-B8F4-4D2D-8250-A6E734AE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масштаб категории, а не первый SOM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92202E0-4383-44D4-9006-97F2A5885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1923DD3-89CD-432F-BE56-DC0397229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5M+ users и сильная годовая подписка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69FC4C5-45F6-42ED-94DF-B21A1D92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9A5CEF-2A9F-4F39-8669-A83AA680B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$30M-$80M ARR path появляется только после retention + CAC proof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3437C49-7014-4AEC-8FE5-5537E519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100k-300k — это beachhead для проверки масштаба, а не размер рынка. $30M-$80M ARR — сценарий scale/upside после доказанной петли и маркетинга.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F19B161-4C04-4BC1-8377-10B02C34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94959755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301BDD-27E5-412A-87AE-05EEB155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4D067-F26C-4D1A-BD7F-413724D9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20E0D-01E6-4C7F-989E-AAFBF68D5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68085-053E-46B6-9906-F3805508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551E1-F723-4431-A9C2-E4900A94E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Четыре главные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FBC544-C87B-4F82-88E8-CD54F7837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01AAF2-0628-4FD7-BCC9-F4B2083E3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22E1AF-00B3-44BC-83C2-3102A2FBC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91474C-C557-48DD-8218-7FFEEADD6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F1CA48-DC32-43C9-83AB-E1033E20C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 Co-Star / Nebula / The Pattern style subscription apps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B1E64C-EABC-47CA-8CF5-7147EFF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66687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2AA39E-8709-45EB-AE81-8EE0D17B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7642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2E06F-C36C-47B1-B421-375E83A34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4310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ARPMAU target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B629F-C319-478D-A0CC-DE257745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0507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нужна подписка + visual/token uplift, чтобы быть сильнее long-tail astrology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0A606-E2D1-4949-A3C8-3FC5F188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FBAF26-CE9F-4C7B-AC93-705ABF6CB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84BE46-C50D-476C-8346-913600C52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ARPMAU target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9241CE-DCD5-40A3-83A0-82F0D192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работают high-intent premium moments: future-self, relationship, video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71BBA0-71B4-4C9B-AB29-D1E24F22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667125"/>
            <a:ext cx="461962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FD7C74-0953-4B87-81C1-888927D48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76675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&lt;$1.50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B3D699-9979-42E2-BC5E-998AB97F0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943350"/>
            <a:ext cx="214312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AI/image COGS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195354-2831-4A6E-8599-2359D6B4B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505325"/>
            <a:ext cx="4095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ежедневная петля без видео должна быть достаточно дешевой для подписки $9.99-$14.99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619FDF-13A8-48BF-8058-2F68A347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857875"/>
            <a:ext cx="8096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ломается хотя бы одна из этих цифр, продуктовую модель нужно менять до масштабирования.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60135-F198-4466-9319-E49E6BC6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648881071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DAE12C-F929-40DB-82B0-325BD174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0D7E8-0559-4125-92B3-917275B9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BA6E02-141D-4E72-BA24-83973DF7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EE03AB-6685-4E27-863C-29D9BB8A2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F7D966-EE38-48A0-9E52-D883CF645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Пороговые показатели запуска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3B71A3-69F9-408F-869C-C6A0448B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A025E6-B914-4600-A80C-41923E8C5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123950"/>
            <a:ext cx="895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KPI “на вырост”, а gates для решения: продолжаем, режем scope или останавливаем.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FCEF7-0A23-461F-911F-4F03CF5E9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0CCCE0-B820-4C63-B210-8A08F21C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85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ED744B-7D89-4133-B6CB-5794A338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619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C1C09C6-C5DA-4B41-8688-2609172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685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Минимум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67E3E7-0EE1-4C15-9419-5EFC7866A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19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147E1B-75C1-421B-B13E-A0A67D25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685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Хороший сигнал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FF545-2575-42DE-AC9F-53C99F42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1AB45C-8AA6-402F-9265-46E6A7EB5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685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677229-298D-4E1C-ACFE-FC0ECDA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CFDC00-0453-492D-8B47-4C74B154F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Понимание категории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42F9D4-0229-463B-867C-ED2087563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152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B7BA50-75B1-4FF2-84ED-EA1D7540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219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03058E-9851-442A-8D95-FFEEE3FB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52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B4190E2-9722-4186-BFF5-0791E84EF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219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&gt;85%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2F8286-FFB3-487A-89C3-A6B34516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3CD4A4-3B8F-45FA-9927-33669AF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19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объяснять продукт без длинной продажи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9F09B0-1F5B-4388-B699-4A84C7FC0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860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CFAF9A-4871-43B2-94F0-51DABEDB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527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6D5F67-5E5B-476B-93BB-4EBC0CC08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860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12C38FA-07F9-45F2-95BD-21EB2C9D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7527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&gt;50%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D64226-F538-474E-BB52-139802F6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860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1F44B6-E991-4B05-BCEF-8E92086E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7527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&gt;65%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E218D6-B5DE-4212-A8F5-EF8EDAA1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3756BC5-71E4-4466-8CFE-1A85AA9AF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7527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работает как ядро, не как случайная картинка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F82346-1DD4-4DA7-B811-6EE83D532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194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1F174CA-35EE-4695-B9D5-DBDA5AC4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861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Возврат D1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73E4E6-BF5C-4B81-9BBB-7F2FA358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2194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32DA17-A632-4AE6-8FBE-3F4FF072B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2861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&gt;20%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9ED4099-6D64-4585-806E-200F31322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194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60083B1-3443-4705-AA8F-D34CCF07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2861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&gt;30%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3D630A9-E9DD-47AB-93F4-1EEE9A977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194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EA33AE-84B5-4DB9-BC3C-134A4DC8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 вызывает возврат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2AE30F4-8B72-4F01-9DB6-5C20AB2FC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1EC3BB3-7B5B-4CE3-B78D-2178DD05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95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интерес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8AB3A1-3818-4959-BAC3-A15AAB8AD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7528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0C2178-F1D7-49BA-B87A-24B0D4A20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8195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&gt;5%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9D0755C-62A7-43BD-963E-8CA34861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528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FAFEF86-F875-4B98-98F7-9E8F6AB0D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95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&gt;8-10%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0B32D32-D6F4-42D2-A054-7CB6C5C36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528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213F71-2B94-4ED1-9D79-E30A46754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195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переходить к paywall / pricing test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5AA4108-3DDF-4FCD-A2EB-4EA1B845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EF10FB8-6B37-448A-9434-56DB8F02E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529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платящего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19B668C-3B2A-4F41-A483-125CE30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862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73FF7E1-BE20-4ABD-80C4-23C0A7E47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3529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&lt;$4/мес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ACBC35-4371-410D-81AF-01B3B6007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862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705281-7D26-4772-AABB-C5F07ACC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3529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&lt;$3/мес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82AB27C-0064-4951-8D2D-B7EF78202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2862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A49A6E3-40C2-4087-93B0-D049C8565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3529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не убивает маржу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B933B1-0F69-4953-80A4-C164515B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19650"/>
            <a:ext cx="2000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8665CE3-2999-4F48-9DD1-70BE8DAD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86325"/>
            <a:ext cx="1847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активированного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14BA05-4DF3-4B75-9640-538B993F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196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DCAD6D3-E39A-41BB-AC30-54F3493F0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86325"/>
            <a:ext cx="14668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D2555E9-0D21-441A-8BF6-17C661C4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819650"/>
            <a:ext cx="209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100B68-73B6-4BF5-9B5D-451A3B18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86325"/>
            <a:ext cx="1943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 при сильном LTV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D7AC93D-1187-4478-8A38-05A8B9139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9650"/>
            <a:ext cx="4381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0D5E62F2-A356-4542-917A-D80EB1F54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886325"/>
            <a:ext cx="4229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маленькие paid tests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6DF80BD-C1C0-44F7-ACE8-76E8BD6A9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05500"/>
            <a:ext cx="904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131362-E528-4272-B4C3-C55CECB17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981700"/>
            <a:ext cx="866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Эти пороги превращают презентацию в систему решений: не “верим в идею”, а проверяем конкретные условия перехода дальше.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CAEC5B4-D6B8-43B3-9905-35FF994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489845395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BF1DC5-E88E-4747-9B79-C8B0DC06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1B1189-33A0-49EB-9107-8D02D7E67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298AD3-0563-4259-9139-129C69D6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753C01-8ADE-4807-A8DA-52CB22273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5E1103-7786-485F-9E96-93913518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конкурентов: главный вывод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A54686-842F-4A20-A6C4-496526E3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2D377B-F29D-42F5-BE15-301041D1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72105-A328-44C2-AA3A-6716A6EF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Вопрос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1AC499-1114-4F37-A713-B78C31A8B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14097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8338A5-5A0F-4372-842B-4E9E09B3F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4763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Сигнал конкурента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6597CC-A316-46E5-A19F-4A6AC283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097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8819A5-28D9-4C9F-8B6B-42691C3C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4763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доказывает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A57F46-A98C-4DED-9FD2-0BFFC2FF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097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8389E-2D10-4A2B-AB65-DA83D458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4763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54313F-122E-40B7-9024-C3DC5232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74CB8A-791B-41B7-AC6F-203B80A25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812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 платят за личный смысл?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83C7E7-8757-415E-A7E6-F2E3132D7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145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DACF96-B042-43F0-BBED-71E82E744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1812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iOS: $797.5K/мес, 2.7M MAU, 64K payers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A5C855-74D8-476B-AB70-41952C8C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1145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8B28B0D-0B94-43CC-9CB8-68A067E8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conversion ближе к 2-3%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16EC9D-3E18-4B42-BF2C-4B119313A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EB87B-092D-4A17-A93C-711D3F220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1812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conversion: 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E550A8-393B-4AE7-8584-EF44819C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194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007508-BDED-4199-A366-09ED77A2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860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Spiritual guidance монетизируется?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354C1D-265B-4E03-9AE5-49FE4A2BC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8194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739990-F624-495F-8E2E-5A05A4B4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8860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iOS: $718K/мес, 52K payers, $0.33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2CC09A-10C1-4E0C-A019-15CCA195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8194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4736E8-8742-4E88-BFE1-96FA1147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860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но агрессивный paywall ломает доверие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BE1CBFB-D664-4732-8930-1D3BD27C7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194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70F660-BACF-477A-8E02-C95B100FD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28860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causality + season, не vague psychic pressure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7B453F-00F3-422E-BF7E-26688551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242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2DAE27-AEAF-4A0B-910F-B228A890E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909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ritual может стать большим?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6B427E-D5ED-4473-938E-8FA6AEB2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242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A00E699-A13E-49FB-9496-057486323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909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Calm: proxy $300M/год, 4M+ subscribers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9E91F07-6AEE-47EC-9C44-2607AA221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5242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65292A-A597-43FE-89E6-F7CF8623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5909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если есть доверие и annual habit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B76117-2F83-455C-85AA-0E1D4A87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5242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351635-1A99-4009-826F-FC7D961A8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35909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plan после первой завершенной недели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C192473-F72B-4DA5-AC5D-6BF8343FE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91150A-377E-4FBD-86D0-78D49D308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AI/avatar создает paid intent?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DC3555-C9B3-4D0D-A735-B7C7706C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22910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A87F2D-E640-49E7-8E65-70D63E4F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29577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Android: оценка $2.36M/мес, 99K payers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7C4352-DC8F-43C2-BA7A-CAB96822F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22910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C10DDE-EF90-4BA7-849A-9808AC40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9577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пользователи платят за memory/avatar/voice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6C15A9C-3DF2-4155-B776-B71983FE4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22910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2CFE875-714A-4603-BFCA-5F30C9A9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429577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память ассистента + visual identity layer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AF41E8-EF0E-40BF-8827-8F6999AA5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93395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CA7954-AFCF-4CBC-BF65-8B893072C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00625"/>
            <a:ext cx="1800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повышает ARPMAU?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1742194-C3E5-4F99-839B-24497A74F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933950"/>
            <a:ext cx="30003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B4D0A1B-CB28-4134-A27D-2D94992CC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000625"/>
            <a:ext cx="2847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Android: $1.82 ARPMAU, 4.5% conversion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A0E887F-5235-4A0B-8227-4E3E9D697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933950"/>
            <a:ext cx="2714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098DD3F-3446-4D26-8147-A363981B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000625"/>
            <a:ext cx="25622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да, high-intent moments монетизируются лучше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94D845-BDA0-4EB2-BAF4-3E7E88D5D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933950"/>
            <a:ext cx="2571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4A1FC2B-7359-4F68-A3ED-6EA9061F0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5000625"/>
            <a:ext cx="24193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future-self / relationship / video tokens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566D4B2-5A14-437F-BB50-D5F1A9154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05500"/>
            <a:ext cx="9525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Base-case AURA должен считаться как subscription self-discovery, upside — как premium visual/guidance moments.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967A125-7AA7-4ACD-90A7-9BC346DA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87526340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A2E2D9-E7F9-49CD-8850-D7DABBEB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58D42D-3B0D-4ADB-89FE-3701738F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0B2D3F-C21A-4A61-8877-8C7C76A53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11176A-ABA5-4A3C-8AB6-2FBF218E8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C552DD-E691-4EB6-89E8-FEEBE177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Что данные конкурентов значат для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8DF4C5-F9AD-46A8-B1EE-01F607FF2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2E2EB-9B92-4CC9-A982-DA8270AFD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B41408-94EF-4482-BC5E-CF2F24BF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095037-9767-46E0-8284-E54EF31D9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05CDA1-417C-49C1-BDA2-04CB8F5C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рынка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F4F897-0039-4008-B95C-F5E76598D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DC303C-7565-412F-99AA-24A1327A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видно у лидеров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FB072-AAEC-41C2-91F3-33F17DA92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7266C-ED6A-4CCB-80A1-B06925D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 для AURA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205784-F4CB-4CD8-B713-8629FDBA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E3007D-A918-46DE-A045-836ADC64F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F4446-0B1B-4350-BF42-9A468B83C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21507-E72B-4A98-8E37-9A3F01C25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работает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DFAD04-AB3F-42F7-8FC9-6DB528D2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1C44D-556D-4798-B499-C2D31A00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астро, mindfulness и AI companion продают $9.99-$14.99+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77727B-1974-491B-B92B-3F5DEE85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DE5856-B8D3-41D5-8303-24000ED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тестировать подписку, но не обещать безлимитный AI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78B21-2802-43F3-BC4E-996EA4E6E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B12431-4AFE-4EB8-AE49-E93F16819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Visual Plus + annual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B9BF28-D64C-480F-9830-DA05D9904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03D95-55EC-44FC-8864-FB0058BF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не магическая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92B517-3BFC-4A1E-B9CD-EC7D3D95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FE5187-EBB8-4AB7-A60F-87690CB2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proxies дают ориентир 2.5-5% paid conversion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5F365-1DAD-4E74-A8DF-C1A011E1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1B2AB2-EF3D-4FA6-AB4B-E135C217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экономика должна сходиться даже при умеренной конверсии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A3E3FB-62C0-49C6-A011-0C6FD32B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7E1CC58-A114-4345-B9E4-377F56B86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считать free-user и break-even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ED8D2A-3F76-4A2B-9ADD-A0B9DBE0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313FD8D-B7B8-4871-A085-26179CFDB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дорогое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C754541-DA6F-4D7B-8C74-87EB8F81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7EE86C-D1E4-481C-A100-0DF803676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дешевле Veo, talking avatars дороже daily images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7483A7D-64E6-474E-B455-4E787496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8783CB-FD22-4ED5-9C29-1503A7142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видео должно быть premium moment, не бесплатный daily asset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CA902BC-43B4-463E-823A-46333BB67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9548503-707B-4F71-AF49-E0D687F5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 видео/мес только в Visual Plus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8F0EC5-F52B-4948-8DCE-CAF695965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17DF230-AEE9-4266-AEDB-2C3D7AACE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широкий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AF0FD1-AB06-490D-8117-C476972B1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05EC3B-702B-41F6-930E-9938E141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TAM/SAM/SOM есть, но вход начинается с узкого ICP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E0FF07-EAF7-4612-807C-5A72E2D09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0AD2D40-A5D2-4A22-9326-71D8EFA6C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капитализация появляется не из “астро”, а из repeatable weekly ritual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A01E4D4-E28D-4AB8-B138-BAE964A92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C8EE533-14C2-439A-9C3C-5564E15BC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доказать loop и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07F2818-B995-4E2E-85E6-D4BF1C588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конкурентные цифры не доказывают, что AURA уже бизнес. Они показывают, какие цены, конверсии и ограничения нужно проверить первыми.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8DF271-17C4-4557-B1AB-6702E3397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644828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BF1A6E-8BE0-4825-8D58-7CD056450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587B4B-CD5B-4666-8BAA-DD9D85C3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424E5D-1162-43C2-B86D-721745E22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9FFA45-E367-4CDC-B816-EB11E9E5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FA44AB-A2B6-4B12-9172-F9F86ED3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За что люди реально платят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B9E02B-8124-4F6F-8E33-066C1C58B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707685-71CA-44DA-A598-25B6B262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3157B0-3ADB-4FF2-AE72-D196C385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5A344E-0776-4789-ADD0-A0BCBC85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FFFE4F-0DA0-4E7E-B6C1-763CEB4CF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Платный объект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8F1AFB-CDF9-4D1A-96F2-1B9E627FB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C22E2E-505B-4920-B2E3-52DEC524F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Где видно у конкурентов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1B0325-DE00-4D36-B14F-454295A5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5552B8-F829-4AA1-AA78-69710EE3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C82CEE-B959-4F8C-AEB3-C16730EF6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FC5297-EB55-4C26-A4B5-1A29EB6D1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Эквивалент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3D5CBE-2B57-4CBE-90BE-9FC5A90DE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532DC-16B4-444D-AB2D-BD628E68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Месячная подписка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CEEC7A-EE50-4D04-8707-1BCF3F87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0367EFA-FC00-4056-8F2D-5BD719F9C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Nebula, CHANI, Calm, Balance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73D3AF-356D-4E13-99E9-7EE3202C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77B937-5E6F-43FD-AA02-0418A608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регулярная личная ценность и низкое трение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229CF4F-042B-4FC5-A9CA-E39F1B89E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6504E3D-7D11-4533-B117-1DF92A673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Plus: weekly season + memory + Life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0FB8F-C5C9-41D8-864B-B2701D20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78EDA75-1EFB-4653-A576-B84788D3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Годовая подписка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E930D4-B977-4919-BB07-26E561A0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AFE6FC7-647B-43F6-8635-08C7F8F65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Calm, Headspace, Waking Up, CHANI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CB95D-03FB-4B6F-8AC8-16886A984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3FBD28-C3A8-4C30-9C47-55D0FC1C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commitment и cashflow, когда доверие уже сформировано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B0EB9C-735D-4D86-9C4F-8CCC15D1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BB1036-F525-4217-8AA8-B1E37717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 annual после первой завершенной недели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54EDA0-C899-4922-8F88-8EA275FBA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B4138C0-8DD5-46EA-96A2-EDE0562B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Compatibility / relationship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11988A-2002-4C0D-B61F-65FAD727D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64F7A04-043F-4A2F-9218-8823E0CE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Co-Star, The Pattern, Nebula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D95B621-5A47-4936-B58B-26DB8978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65C78EE-7CDF-420E-8739-F6CCDE3E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эмоционально важный personal insight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C324FD4-785E-4C5B-A576-8401BFF71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25C4C25-8810-4BA4-8DA7-FBA26D1E5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 / future-self special episode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813261A-B9C7-4C53-9A3E-5CE4D9BE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22E445-4DD9-4845-8A8F-F604A4661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Live или urgent guidance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88845C9-A7D2-4539-8241-DC981790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3E9CAC6-0D78-47BF-82E0-1CD91094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Astrotalk, AstroTime, Astroyogi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D2EB952-A8B9-431C-94C7-3544C175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B63D539-F408-45C3-8381-C188BBD6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момент тревоги: “ответь мне сейчас”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B35D54-2002-4379-81A4-B7F00BAF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9FFA942-7845-4000-BA8D-961B1807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AI assistant; human/creator layer позже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249A005-6501-4581-BE06-94F38DC9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5CBC34-E1F7-4128-B875-F4FD2E659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Special visual asset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F04ADA-5FFC-40B9-88EC-D3BD69A2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32BA72-2900-4AAA-B61A-809B4E3BA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sketch, aura reading, avatar/video tools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F813CDA-D43D-44AD-8900-2BE51B5B4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8435F8-E014-4A2C-9FDE-1743538C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ownable image себя/будущего/периода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F7E6D04-3CE5-4107-9BDC-CC72F1C66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852E987-A271-4833-96E8-32110F57D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trailer или future-self video token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84B9252-0A89-4B9B-BA80-C5A0D5411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868519571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9F6F8-B4A2-47D2-B3B3-96AF3DB50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55D6FD-D321-4F13-BD82-6172C5D9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ACC52-203D-4B52-927C-783D4B908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B0B153-8564-4B2A-B250-ACB4E7356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BEC875-22D5-4216-AE24-6AF338D92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Решение по pricing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ABD8B-E1E3-406A-BEA6-650EA2B13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C74B6-C3BD-443A-99DF-AB154FCED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BA9470-84F2-4715-9877-088C2591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D59F80-123C-448C-A974-2D628F86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44308A-F368-4C38-A77A-6A17DBE24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BD1798-C76D-45B4-8BE6-0196AF3AC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386C7-D88D-4ED3-8C9D-06D12CEB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70CBFB-3F21-49C8-B639-6057FD53E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287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092020-959D-4DFE-B2AC-85D20F5E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14954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по генерации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26F13B4-11AF-4253-A4BC-4D7FEAD1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4287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3E70DC-85BA-4F4D-87D9-EBBF7DC64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14954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маржи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7537F-86B9-4B49-8CB6-ECF5B677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F7374-30F3-4AF4-975A-C870EC1BE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38DA730-3E7C-483D-ACA3-0EBA92E3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812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ADE016-BB0C-4379-B820-BF93D579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478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07D12-DFCB-474E-94B6-EF7FD237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812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B351DE-68D3-4C75-B604-763244930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478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Day 1 loop + один medium Life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ED7E5C3-7962-483F-B61D-2AF85BA2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19812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B86DB5-AA91-413F-A97A-C972DD97C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0478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target &lt;$0.20; цель — activation, не щедрость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47844BF-16C5-48E5-B9E5-4654E98ED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33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462E70-B64A-4037-B41A-0A036B8B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00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E49C1-8654-4176-A4C7-77EC6537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336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EA2633-2883-49EF-9815-36C98E18F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003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48024C6-622F-4C92-A16B-BE007C626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336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EC84EE-8A4E-4AC1-9D4C-B6342B88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6003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loop, memory, weekly recap, 30 images/mo, без обязательных 4 видео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77634EE-74F5-4BCF-B9AD-B3F78E375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5336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15E79A0-52A3-4F72-83DB-0461F31C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26003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нижний price test; проверяем willingness-to-pay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FAA5B9-2BA8-480D-9BC0-64C88A86A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61F2E8-9610-49EA-B38F-4193BA9AD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52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44AAC3-75AF-4AE4-A553-24A100FD8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861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3EF7D9-47DF-402A-9F8C-C4983D00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527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CF6B07E-3877-4B18-B1E5-BDC512103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861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410DBC-492C-4716-9E64-C7B9687A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527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images/mo + 4 weekly Runway 8s videos + recap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4700F6A-07CB-43DE-8CC8-C67C83E4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0861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6AB3F5-87BA-465B-8818-1899CD11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1527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 — верхний тест для полного video bundle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2A25F00-7039-42F3-A35C-0A2C20D77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6E2147D-242B-4932-AD0A-F65E2262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annual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07FA98-F535-49B5-8E16-5B751FAC4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BC54E63-0F5B-4030-8392-77D40459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$79-$89/year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E57A48B-AC12-41E5-99AC-CADD397B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385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62F057-A4AB-4EF1-AA2D-9367087D7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7052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тот же loop + annual season framing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1A018D9-17EB-407A-83EA-E8C5BD16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385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842958-6C63-4C70-B6D5-FA944E580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37052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cashflow и ниже churn pressure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7A31F01-7871-4F53-B66B-67453EDE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910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1C861AC-6632-4369-9D92-1DBDD36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576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video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5CAE52-26FF-46E1-973D-2CFB380B3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9100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EEF4D8-8D49-4618-96B6-FB2C8CBA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5767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$4.99-$9.99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716DDC5-6EDB-44DC-B1CA-F8A5A4EC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9100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8362346-06E8-4D4B-9B5D-62F6214C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25767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Veo/Replicate/HeyGen high-quality moment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0C14FC7-423B-4A8A-A2BC-8BD4E1B0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19100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0AE5560-CFC7-426A-A9AF-856CF788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25767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нужен, если COGS $2-$4+ или нужен “wow” выше подписки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C752302-9CDF-42E9-8F97-AB2963E6A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434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7085702-4FBE-4124-9FF3-A1A189F1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101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98341ED-A81F-4011-A1CF-E26BB65E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43450"/>
            <a:ext cx="152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9502106-8DCA-43BE-A0DB-0A9621D2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10125"/>
            <a:ext cx="1371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$14.99-$29.99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A41A8E5-AA6C-47C8-B2A0-EB270E629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3762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8F7F977-ED81-436A-A0DE-EA872EE09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810125"/>
            <a:ext cx="3609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limited guided pack / custom assistant style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E88D31A-0393-4250-9668-9CA464816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743450"/>
            <a:ext cx="3095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E8DD80C-0822-47AD-9B00-7E7934426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4810125"/>
            <a:ext cx="2943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монетизирует content leverage, не только compute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1EA14B-9EBA-4B4B-A294-B6042505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828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FB6808F-4184-435D-B7FA-DA7833BB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90550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не должна продавать unlimited AI. Она продает season, memory, causality и лимитированные visual events.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B742A7C-3C4B-447D-A754-16BC1CF72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617555595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B34B02-803C-4F84-B381-450C269A7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E61D2F-2B99-40FC-9DAB-AA34BB74F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789AD9-7DB5-4962-AC6E-0E2E50890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80C17-CE81-40DB-AD12-302DDB77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97EDC7-FC55-4225-AD64-A708E95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Гипотезы conversion / ARPMAU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E61106-BFE6-418E-A885-5B909757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3FFEEF-8530-4129-A3C1-A8C4E3E38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B207EB-90A7-4139-8F6A-A4BEF2F83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диапазоны conservative / base / strong. Смысл: какие предположения должны подтвердиться.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96E0751-7919-47AA-BB82-F4D05348B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19B964-7BA5-4706-8026-78114064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9D6C32-35CE-428D-B0CD-B893D6C4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295F5-B0F2-41EC-98B5-B165893B7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36612-D44D-4BEB-AE28-4DCB6ED9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84BDE9-2E63-455B-8BCF-4388EBADD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5C807F-0EEA-4B88-84F1-970BEBBB1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C1F70E-4C98-4116-8933-BF82EFD8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02D97B-08B0-4E64-B9E9-3EBC4A06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4CBB8-4A64-4803-B4A6-1FF04949F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2C20E-DF3E-4049-93A0-D67FEFA8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B23378-7F77-46BE-A3D5-149BBC07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C41693-E968-40B5-A001-AE574B357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BDEF51-AF93-4B8D-AF65-BD40EB6C4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2.5-3.0%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478F9-0ED2-449E-8AF2-F771DEE76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CF6F33-7128-486A-9974-2EBF31DC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4.0-5.0%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36DA63-3DA5-4E00-A249-B1C55C945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A1EF48-FD25-4323-9EDA-08148A56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ARPMAU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413A70-9E33-4D88-AC23-0DFF9478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4C5AE4-6264-45E6-86BD-F4AF3ED8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88AD77-E3CE-40BA-8B51-9DE7EEAEA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386583-F4AD-4A4B-B627-82AAE5940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$0.35-$0.50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1C1CF19-29EE-444E-95CE-EA4B0358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1BAAB2E-33F1-45F3-8AAE-4BEB7B74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$0.80-$1.50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36C2A-4323-41DC-9439-5E82C6238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391032-B88B-446F-A3ED-1E71D247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price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A31DA23-8324-47B8-8ADB-7B732C7B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70D7233-0BD0-4F7D-B876-93370F5A0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0F72FA-8D19-4B49-8620-3672E1A4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8FD8512-694A-4528-BA8A-185BC5F0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$11.99-$12.99 blended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D074A16-A51D-4082-AA54-A3E68113B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8220155-1137-4F2C-8006-2538C4242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40BA4DD-0C7B-43D2-84B9-EBE7E0D37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BDC01D-1803-4949-9DF4-CECE7A733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Token buyer share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85ACCF2-8B10-47B1-A37E-A96589E4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4E920D4-4257-4C40-8724-9A75FEC37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891844-3CEF-42BF-BF66-18C6C9988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C3B0F0-A9E1-4871-81EF-6996297B1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8-12%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617B7F-02E4-425B-8599-8B315BDB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0E4D8E-0D3F-4EF5-9E91-6A8180716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15-20%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97F69A-C221-4B65-98AF-877C1DBE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6E13B25-F891-4076-B627-7D174EFEE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payer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F9A231-A689-481E-B3B6-04D18046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D8DD194-3D13-488C-83AF-6D656A49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$300-$800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5390324-06EA-44FF-860B-F8811761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71DCBC-B818-4812-847A-21B5AE8F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$100-$250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135FE6B-5532-40B0-AB4C-B24D95C26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EBDE54C-CA59-4237-8B7C-3743CF839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$30-$100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8018460-142D-42D9-868A-39FE2BCAC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387F89F-2395-4807-ADB5-BD85512BE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153858B-AEEB-425B-A000-F31A44F8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287CDE3-34C6-490D-A76B-0E9428A0F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content app risk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1B4DA98-579E-40F6-9C7B-36DD49F0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810687D-F395-46D7-9EA6-12CA426C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работает, если понятна causality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1C8C84B-FA1E-4482-ABC1-456B2B3F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11D542B-AD26-47C6-962A-F9AD462A7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с high-intent moments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3D168EC-D7E1-4140-B9B1-0043D9BC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Гипотезы построены из оценок конкурентов: Co-Star, Nebula, The Pattern, AstroSage, AstroTime, Calm и Balance.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EE114DF-3333-4149-88A5-0E50ED96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4C139E8-0BC6-4F2C-A202-24909DF84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42587662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8829CF-F4A2-40D0-A2AB-E0BCA4AF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C677E-07F0-4AE6-AAA3-A16CC00B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32B697-208F-46CB-8BC9-F1DC6AA86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B3325D-52AD-4D78-9067-D738D610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A8B62-FDB6-4761-ABCE-8E8C8814A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Подписка на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B3F17C-6A63-42F4-A5A3-3CB5543A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DC68EA-2A52-4CF0-A13F-3248510AB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A285A3-ACFA-43F9-889F-A4E739FAF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цена, что бесплатно, что платно, где появляется premium. Смысл: за какой момент ценности пользователь платит.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330A37-4325-4401-BD91-EE5F3C63E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2524125" cy="423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6956A-FD8C-4CE0-AF18-63368BA9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657350"/>
            <a:ext cx="20478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E3EEC4-AC4E-45E6-83A6-04B258E6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18573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cards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8s videos</a:t>
            </a:r>
          </a:p>
          <a:p xmlns:a="http://schemas.openxmlformats.org/drawingml/2006/main">
            <a:pPr algn="ctr">
              <a:defRPr sz="16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memory + recap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BF7393-348F-4446-BA92-D2F2BFB0F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9100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75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475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~$2.40-$4.05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46885A-237F-4135-8EEE-AA2E298F5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686300"/>
            <a:ext cx="1952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/ paid user / month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B72A2B-85C4-41C5-9298-39139DAB2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3811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BABEC-0785-4CB8-AAAD-6CE7EC0B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4478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23491-C34D-4A91-87FA-C175315AD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3811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13444C-26B7-40A5-A8A5-5328E5B7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4478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Частота / месяц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3522D-8CAD-4E10-BEC8-62EA27F08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3811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8789E0-FAF0-4956-93C9-732EB0747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4478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Модель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2DD915-ACAF-48BD-99E2-6B3DC474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3811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71758F5-4769-4BCD-B9F4-327F694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4478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 COGS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91519C-5A0F-4BA6-A3D6-C79153B3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3811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5F5E2A-D2E9-42B2-94BA-E5EF8F214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4478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Monthly COGS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D3ECC6-C39F-4849-A631-7A3BB2E78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8954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192BFC-CC15-4069-BF2E-C30F5585A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19621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Текст daily card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22BCC2-DCF7-46DD-9C54-1E75996CE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954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88EF4D-79B8-481C-8EE8-F08936DE6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9621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A8B7E-241B-4FB9-A375-307F9757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954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72C4B09-7E7B-49BD-806A-0610B1D16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9621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LLM mini / structured prompt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C03460-5FF0-4413-8B6D-8BD487E66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18954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5E06FEB-3953-4F3E-9E13-A5AE2E758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9621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$0.003-$0.008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8DD7CF-1C58-4C31-8B73-F605CC75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18954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BDD268-F97B-4EDB-9CCD-6D89093B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19621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$0.10-$0.25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E2F466F-5029-4963-9DF1-9791BD0B6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098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46EC358-4475-4D31-A77A-6C66A8B6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image / Life Canvas frame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77B7D9-1244-48AC-825A-55AF13F90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98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F69F01-5F61-484F-A692-4AF43C165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4765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BEE92C2-75BF-4F12-AB3A-BE39213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4098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9B2B95A-9C73-45A2-AA71-D46F5CD3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gen4_image_turbo или low-cost image model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55488D-C317-4A36-8CC5-E3185B6F8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4098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9F7810-271B-44B6-82E0-8ABFA2EC4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765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$0.02-$0.04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8C3E2CA-03B8-45BA-BE77-5EB1B2083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4098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3AC38B2-33BE-4662-B62E-F17684AF1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4765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$0.60-$1.20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76EF00-A5C2-4E86-8687-88E65F7BB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9241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E44CA3-B59A-4AB3-9F56-38A0A4FB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908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8s video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3D7FA4A-061B-49F1-905F-32915E69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9241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8556742-F88B-4A4C-B163-02DA5786D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9908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E0CBBC-2D4E-42DC-A07D-E618B17D9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241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A5106E6-B5F0-4C86-9BAA-2DC4274E5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908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Gen-4 Turbo, 5 credits/sec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D3713E2-43B4-459B-A8EE-2C54AB5C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9241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D0A5408-5D24-4AFD-B9D1-A14793267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9908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~$0.40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E8B9CD-4D17-4B31-8CB6-C88B7973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29241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F4F830A-60BD-4855-B455-D453620F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29908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~$1.60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7EC4A12-93E8-4702-95AC-96E57112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4385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8EBC66E-84C9-42FF-B4AD-398E5239A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052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Retry / failed generation buffer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5885E21-B766-48DB-880F-684FED9F6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4385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D1AC063-AAC2-41DD-B00A-93DFCB00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5052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20-30%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6AD309-4A66-4749-B42F-4FD3F9AB3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4385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44243B5-5D9B-4DFF-8496-54BFD68D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5052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media retry reserve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3D4ADDF-7ED4-4051-AAD8-B9EA0BCF7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4385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3151DE2-20D9-44BC-98AB-4C6FB6A7A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5052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22EE2ED-85A9-49A5-BAAD-6AD48733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4385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6C30DB2-9606-4A59-810D-9E009CB4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35052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$0.50-$1.10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BA088A2-2C54-4F30-9E06-AC9E9359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95287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5ECF7A3-64F6-42B6-BC36-EC6BA6B2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01955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Storage / infra / analytics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0BBA636-1C7A-4825-AC05-C23F660B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5287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40FFFCA-5FAC-4007-8D77-B9D7C939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1955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D72CAF4-402E-46EB-B1D4-25BA9774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95287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5875F33-2D5B-448D-AC48-FF4C6277C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01955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S3 + backend + events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D46EB24-E50D-4932-AEAE-E9762493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95287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1C9317F-34FB-46A1-992F-2C02F4C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01955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2D37EA7-10B0-4AFD-9D6E-9A450C2B4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395287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DC828E5-0881-4EDA-874B-B0623D23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01955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$0.20-$0.50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B39C209-5628-4AAA-8FEF-222D52F27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67225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DF97913-6FEF-420E-A830-E58DF2C4A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4533900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Total paid user COGS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82779C-5C41-41C6-9038-B6372AC6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67225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570245F-1F22-4C68-A4D2-8379F16C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533900"/>
            <a:ext cx="12287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package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B178A56F-D755-4430-9B05-A71BEDFA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467225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11867B9-8138-4C20-BCAE-9B2139CA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533900"/>
            <a:ext cx="2228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subscription generation bundle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E4D6A6F-5FD2-4CA2-9604-AF7535BD0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4467225"/>
            <a:ext cx="1123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8E42D782-4835-4168-8013-B2FE3EE0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4533900"/>
            <a:ext cx="9715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n/a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1429EB8-8B54-424B-936A-21EF0E4B3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325" y="4467225"/>
            <a:ext cx="1238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319BAAE-1CEE-49AB-85EE-291B4BEA9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533900"/>
            <a:ext cx="1085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~$2.40-$4.05/мес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E23B1CD-615B-4D88-9392-FF2AA4E1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981700"/>
            <a:ext cx="8191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Рекомендуемый Visual Plus bundle: 30 daily visual cards + 4 weekly videos, жестко лимитировано.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013EE78E-CCF5-4ED9-8713-3ACDA4BC2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800688813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2471C6-617B-4300-8CC7-C64B5402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A938D9-528E-4F50-B6D1-0747BE319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B5FF81-B14C-4176-8133-F5D39D8A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BC6E95-5822-47F6-A751-FFB52A65F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443B8-7D48-4343-A3C9-5F5630DA9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free user и break-even conversion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22E2FE-1FC3-4A4F-8C76-73E53DA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6A6EBF-35B6-4F9B-8029-5E7F10518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6008E0-89A0-4F26-9CB1-A05590B83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032DA9-F6AB-4AA7-932F-74C2835A2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09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F388E2-278E-46AA-8486-1B904844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Free-сценарий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9740CC-2CB9-4776-8868-4780B281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409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D3E42A-504E-489C-8702-219BAF450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76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58E8C5-6E49-4202-A97E-5E7B729A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409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E0DB53-D739-4EAE-8D6E-BB8B33594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476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COGS / activated user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7CB24A-9799-4B54-8D59-F68698519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409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464E90-5678-4BA5-B07C-370DD4C2C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476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случиться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17EB73-657C-48B0-9613-F5F9140E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9198F1-05C3-42E5-A694-EBEFF4BFE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Light free trial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4D2CAD-BAB9-49CE-83AE-8B207CCB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717BE8-BAEF-4E84-A627-D4E31AA63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первый прогноз + 3 cards + 1 image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02F3C6-2FB4-4D4F-BC1C-36A25D54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1981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B121A96-7262-4710-B4BA-656501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047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$0.08-$0.18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E31717-C6C9-4FCD-9093-8BFF4AD2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981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71ED38-86E5-4B19-B2A1-C0A453CC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47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для broad acquisition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0ADA4B-5924-40EC-8588-3516C524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52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298ED5-07FE-4421-8C28-5B0670EB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19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7-day free loop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D26B6DA-4369-403C-B463-249B6303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52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72F2C7-907C-44A8-9C06-04D06C96D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19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7 daily cards + 7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F4FC88A-5E3D-4F1A-B722-866473BDB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552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5E80B-0638-4B24-9424-3023ADE7A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619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$0.25-$0.55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EBF042-28D9-4585-8B68-421C46153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52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58AD46-2125-493B-88B9-83BCCA56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619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только если видны D1/D7 и paywall intent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6EF997-92D5-425E-B455-3C883F368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358954-9224-4EAE-A53D-34990193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video trial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C2324-FB4D-459F-98FB-9889D820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24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375F8F-EFCF-404F-AB45-462441D68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190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8s Runway video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5C74B4B-F94F-4E5E-9114-1E4B3D8B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124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A3B4DA-982D-476C-A822-C27E7F613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190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+$0.40-$0.60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1EC915-E738-49C0-8E46-328E76A9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124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774BBDA-D7B0-49D0-A6FF-5DB2DA32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190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рискованно, если не поднимает conversion резко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2B4ED04-F9CD-46C0-933A-427358B1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95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B0AEE41-45A6-4F03-A115-5D1C24B0F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62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contribution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5DD67EA-C744-4CF1-A911-7CF7BC19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695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D5079DC-C057-439A-8C4A-C9CB0E49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762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 blended price, 15% fee, $2.40-$4.05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9FEBD6C-9999-4AC0-90C3-855A1D6A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695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112FD5F-2251-4D0A-BE85-694A4D69B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762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$6.99-$8.64 / month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79682B-B0DA-4DBD-A0BC-1134B7C8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695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F70A6F2-8284-415A-8A1D-80C722A8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762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базовая subscription margin per payer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CF12359-85DD-4CC4-B8AA-F3DA9E086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DEF700A-EE47-452B-8EE8-69B2906D6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CAC activated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17CAE0F-0E8A-47DC-914E-FF818C7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2672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286F360-A7FD-4ECD-903D-E00FA66E9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3338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3% conversion, 3-month payer life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4567130-3A8E-40C4-926B-8D725337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2672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622177C-62AE-4967-824F-9B11E26B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3338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~$0.42-$0.78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32C51EA-B48A-4BD8-B070-1913417EB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2672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AB15EF-7126-4C54-A3EC-9223E393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3338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ads пока нельзя масштабировать без лучшего LTV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A46B6D-F7C0-40CF-93CC-3593D4AC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38700"/>
            <a:ext cx="2000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0299CDE-392D-496B-BC05-B8846867E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05375"/>
            <a:ext cx="1847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 CAC activated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4764D3-32E9-447C-8667-2F70BAAA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83870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1F4423-69EE-4565-AD30-FBDAAE766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905375"/>
            <a:ext cx="27051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5% conversion, 4-month payer life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212C59F-FB27-4841-97F0-EC85D0AF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838700"/>
            <a:ext cx="2190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047B457-D565-4C40-97E0-2CEC10E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4905375"/>
            <a:ext cx="20383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~$1.40-$1.73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A4C4A17-8471-4CB3-8E4F-F36FD3600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838700"/>
            <a:ext cx="314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B9EB33-4955-4038-AA5A-C14FBB6A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05375"/>
            <a:ext cx="29908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возможно только при сильной retention и visual proof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0AA1DA-B3C9-45F8-A02E-5E25F334C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57850"/>
            <a:ext cx="9334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AC3DED2-DF66-4209-A7F5-4C3F9FFCE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753100"/>
            <a:ext cx="895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8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не бесплатны. AURA должна тестировать paid acquisition только после замера free COGS и paywall conversion.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67791DB-29B3-48D6-958B-013CB77F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142086829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B71E00-F5B8-439E-BE2C-9C517161E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25D77-C784-46A2-A51F-97230124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E51686-FB4E-472C-84EF-720CCF46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A148C6-A8C3-45B2-B131-265D23810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AA4BCC-4F7A-4F90-B4B2-47F38B62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Финансовая модель: главный dashboard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DF559E-AB99-49D2-911C-A9723774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82C413-EEF0-41AC-BBC8-3091D480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9D4B9-3B72-4B9E-8475-4F712AEAA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E872B5-AECD-48C1-9860-2F7623E0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992C6D-CCDC-44D6-BB50-659D0E05D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Фаза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C82516-9938-4F4B-9A19-30EAC8D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2E291A-252A-4C08-8B52-FB351D20F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визуалы, лендинг, 30-user cohort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992905-EEAD-4895-A868-A27A4DFD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72B23F-9DCB-4C72-8D76-157AFB71D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Pre-scale runway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B854BB-7CAB-4F01-8E4D-4DA9F7C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€80k-€150k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DBE0F-9E36-4F3B-BBDD-793B7D7C9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бережливый бюджет до сильной MVP-проверки, не весь путь к 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E82849-5963-4877-8FA3-FABEFFEB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2573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DCDF0D-CBC4-4712-893B-F42D0831D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3906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Base price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848EDE-F1DE-40DD-BDDA-8ADA4AC9D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13716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$9.99-$12.99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DB30F5-8A2D-485E-A6CB-699423E33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097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основной тест подписки без перегруза видео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7055F9-AF1A-42A6-B7EE-E608820B9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D92F0-AB2A-4709-B3A2-1FAA698B8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Visual Plus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8DBCAC-897E-4EEF-B673-ECA76295F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$14.99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1D4F8A-8366-49CE-88CB-3A8F8A61D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4 видео/мес держат COGS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34473A2-47BB-4AD1-86A1-3570076F6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DB09CA-096D-48D8-B0B3-C7236A29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Paid COGS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9037E-1722-46BA-861E-20F83068F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81940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8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277CBF-DD8C-495E-BCFD-3B44157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57550"/>
            <a:ext cx="27051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images + 4 Runway videos + retry buffer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8A861B-8053-4767-BA25-87FBE81AC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705100"/>
            <a:ext cx="30480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A419C1-869D-42DC-9D39-06D4205BD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38450"/>
            <a:ext cx="1047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Go/No-Go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DA97BE-A600-47E9-9E32-45C034A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71775"/>
            <a:ext cx="1428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&gt;20%</a:t>
            </a:r>
          </a:p>
          <a:p xmlns:a="http://schemas.openxmlformats.org/drawingml/2006/main">
            <a:pPr algn="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intent &gt;5%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19C588-0CC6-4799-A0DA-73E6475D9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71850"/>
            <a:ext cx="2705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иначе режем scope или останавливаем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32AF47-EF45-43A1-99C0-EEBB0A0E7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9525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F3C89BF-5AA0-4AD0-8A49-0E0D5A78F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C42F58A-A703-4F2D-B9A6-31E2D5E9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M1-M2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2F56E16-DFD5-4BEF-AF09-BAC9F2A5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proof of desire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579774-8D34-4CC9-AA65-004453DA1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27927A-6E9F-41E2-B8CB-C783878EF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M3-M6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6061133-5847-44F4-8C82-09EB9DC22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loop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42FEA6F-E9E9-4BAB-80A6-6DDEBCF94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E2C6C5-EFC2-44E8-A0E8-AB833CAA8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M7-M12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FC0461E-F4B1-4997-BFCE-D13C2A126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BEEAD5-5382-4E19-910E-C14F995D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125730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7186880-0270-4231-ACC3-9532CF048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95775"/>
            <a:ext cx="1104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Q4+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DB920C4-4C14-408F-8359-0BD42E01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933950"/>
            <a:ext cx="1866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83DBE51-E12A-462A-A5C1-4206DFC9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53100"/>
            <a:ext cx="838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 — не “сделать весь продукт”, а купить право принять решение о MVP.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16F2A40-A75D-4365-A9C7-35034160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213036468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B8F294-67A6-48B1-884E-78E96358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E8BE6-1B7D-45D9-8F86-FEF7ADF0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FFA254-0D61-4E2E-A88B-C51F0F8C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64006-AA51-420F-A715-5C323B12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2A54C8-A996-4B95-ACB2-F77E409A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Годовые сценарии: сколько может приносить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3C74-8DFC-4BF3-BE50-F94BBC3A2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1DA569-C893-476E-88C1-698B93D6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3D213B-4304-401C-9C72-B1A24C7D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EF235B-2902-4353-A2EA-CBEE9022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906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D067C9-0CBA-4210-8E8D-073734AD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573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6C7E16-68C8-4DA9-8EF0-818E66CDA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F16AE0-7370-4CA0-AF51-51A30B8B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A37E86-FE7A-4BA6-9FC1-9F4F5F7F3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469D81-7287-4928-B76D-A591D2B8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B66DD-C9D5-4315-9C26-858FBFB1C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3906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03B780-2292-4ACB-93AF-1532A57F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4573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Год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110FE4-4051-4CAB-97E8-D7F30B519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3906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06E90-746F-43F6-9F43-E9F10F09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4573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это значит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7C7AB1-4FC1-4FA1-A654-521EA75B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812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0BFF90-958B-4E0A-89EC-4143B798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478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08E4E-87ED-46F5-BEB6-32FB243E6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F4AEC5-6016-47FE-AF31-2A9BF72C2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$40k-$120k ARR run-rate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19A905-9753-4A09-B3ED-759B0956F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A9D2E9-1691-45E8-9E01-1E975917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$250k-$600k ARR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3ECB40-5AD3-4F06-907B-5BAEBF0DE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9812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BF076E-4939-43B2-9BE4-74F0F0A8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478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$0.8M-$1.5M ARR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36013F0-8841-4023-8AC3-03BC0BF8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812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4BD3F5-B37E-4641-AF0B-BB1FCBDBE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маленький cashflow-продукт, если CAC низкий и команда компактная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84C294-33ED-49FC-9FAD-3E526090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DCB0D5-867D-4201-BAD1-E322B67FD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EDCD3C-79CA-401D-90D7-DF5255AF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EB11ADE-98CB-471A-AA45-6150AD1D2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$150k-$400k ARR run-rate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45F616-9D77-47B4-8BFE-C159377CE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7F6BF1-ED19-481A-ACAA-43C39899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$0.8M-$2M ARR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80514F3-9EDD-4860-9D42-EBC0E1539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717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2A4609E-4864-4F5F-9BC4-BBF896885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6384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1AB6AE-0F2D-42CD-A2AD-09E79862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629C40E-2321-4C9F-A24A-5510DE940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6384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строить standalone business или поднимать seed под рост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3D9B0A-B3CE-4EED-BFF8-C19BD5F4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05460D-99EB-40BC-AE18-11E9AE97D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F65F94-03A4-40D3-8C99-A2BAF3F9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4E3AF41-DB6D-45F9-8225-4DF5EC71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$0.5M-$1M ARR run-rate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520E828-3D63-4C4C-8272-90FBB8974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C3C166B-E3B6-41B8-9813-6A3AECC3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$3M-$6M ARR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1EE4D07-F798-4F2A-9C26-3C31F615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1623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7F3758-46D6-41F4-8FA0-494F074F9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289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$8M-$15M ARR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2C9DD0-0C00-4F64-9278-2729AA543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623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A8E463E-9927-466B-B38A-3F3F1F70E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2289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появляется стратегический интерес: wellness, astrology, AI companion, creator platform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558D4D-12C5-4018-AAD3-C9CEDE39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1CB9BB7-2945-4E71-93F0-8FAE4350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1952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драйвер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998637-2B0C-4F40-B008-F0C759BD3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EA0E88B-FAE4-4377-AC1F-2C88ADB6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и понятность Canvas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55A014-66EE-421C-8544-13B0F78D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5B15DB-B56F-4E9A-8B47-ABE2487E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+ annual + CAC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7F1FE6C-B549-47BB-A517-58EE68B2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81F76F4-47CC-47ED-BA3A-BA71B9A83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952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layer + paid scale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840D58C-8D34-4C25-869E-B2683E86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75285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D6A3F26-0765-460C-9B67-C3A2EE22A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952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рост держится не на “красивых видео”, а на повторяемой петле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1411F38-82EF-4F54-8051-4F2E52D6F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3434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E6A94F8-4CAF-40B9-ABCB-057AF77F7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10075"/>
            <a:ext cx="18478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Главный stop-signal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067F132-1FDC-41FA-BF8B-939E8C516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C857A3-D017-45B8-9CCF-7738D5E9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 &lt;20%, paid intent &lt;5%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9E37061-8FD7-442E-9CDA-1447F97E2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E9422D2-A141-4576-A503-3FA174325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&gt; LTV, video COGS ест маржу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910BEDA-C7AB-4541-BEEF-C497EACA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343400"/>
            <a:ext cx="1905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51A128B-5636-4AF0-B634-F58800C1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410075"/>
            <a:ext cx="1752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retention после novelty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B4B70FB-3AB6-42D7-8A9C-034ECEEA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343400"/>
            <a:ext cx="2476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DBDEECB-EEBA-4437-9D3B-F9DAC8CE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410075"/>
            <a:ext cx="23241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тогда проект останавливаем или режем visual scope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81C538D-9C2E-46FE-9F45-646F84395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прогноз продаж, а рамка: сколько AURA может приносить при разных уровнях retention, CAC и paid conversion.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A16596E-87B2-4346-AB53-EE2DEFE8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1129468369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61E524-32B9-4DF4-B94E-4F58A4BF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A14187-666D-40B5-9B87-FAC61ED4D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993C5F-E91D-436C-8085-5F0CDD3F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025C7B-83F7-40E7-9C52-6D96E60FF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9F4ABD-C728-4E3D-BEF0-0E9D5B79C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Сколько может стоить проект по стадиям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C30AD7-E2F9-446D-98D7-F8AD906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124146-35E9-4B4C-A250-D70E2558A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2A7AF6-4797-4718-9B54-A4A76F80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Стадия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1630C-6047-4EB2-9B11-45D8309D6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F4E0E1-E13B-4A0E-BE8C-2D69DAD62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Бюджет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82AFF-D347-4FDE-A1E6-4F69B90A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F2D30EA-36F5-4CB0-AB96-4C6D2F0C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1DF04F-F5F3-4798-9883-F0E9C710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BE029-E6D0-4C17-87C8-7DB461B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покупаем этим бюджетом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507F45-A24B-4F65-A614-2C4D6A47E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4A0B6F-600A-4CD5-8231-0BCFA120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1: проверка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255936-9820-4833-BCF5-10E0C2246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BD6681-28D6-47B5-A1BB-F9A651D63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€4k-€10k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27E844-BAA0-42DD-9E4E-89EF32FD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A848BD-E6C7-48AF-B18E-9856EE53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прототип, visual examples, лендинг, микро-маркетинг, когорта 30 пользователей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114F38-7A8D-48D8-B3AE-E3D4CE5F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822517-6FCC-4791-B076-2EC923869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есть ли спрос, платное намерение и понятная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C17A6C6-D33D-41EB-9F05-CC4F1911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AA297F-DFA9-454E-94EB-4B9ED77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2: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0F9147-1995-49E9-A442-96FB19789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29F867-AF23-41FE-B9BD-80030055B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445171E-09B3-45E1-9987-FB423011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B702A5-28C3-4427-B75D-E3338DC2C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MVP, вход, onboarding, daily cards, Life Canvas, paywall, аналитика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13ADE2-ACEE-44C3-A216-6B256CA6B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DEBA1E-D791-4059-A733-50CF7B04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может ли пользователь пройти петлю без ручного сопровождения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FD992FF-F7CA-49C9-817C-EAFB843F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056569-C8A8-49F1-A923-B6BE4431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3: запуск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0B6766-FCCF-4681-8AE2-E1A34929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17A277-AA5D-4DE6-B7BF-A376A89D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€40k-€120k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8EAE19-0D94-4E10-ABB5-062590D1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472F2F-12D4-4605-BC64-2815ABCAA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pipeline, billing, CRM/admin, creator pack, paid/creator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F213C3-D789-41C9-9828-1E1B76C51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1DA4AEB-D86E-4D9C-8058-4E8104CA6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сходятся ли удержание, CAC и себестоимость генерации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494934-B8BC-4168-B5D0-27BE5F719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9F16F7-6DD9-4170-8A08-8DCEB20EB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Фаза 4: масштаб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9F19B61-C55A-40FF-A6D1-8E86F3A18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6C35E8-9DA5-48BA-8B8C-96CCBD5D4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€150k-€500k+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C559F1-30D2-4A33-BA69-9F044120C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EEAE96-9CA2-48D5-98AC-5F54A350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polish, backend scale, content ops, creator network, paid acquisition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15967EA-CBBD-432B-952F-C900B2F9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EE4C412-ACDA-4A46-B558-94E7D8FE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ответ: можно ли идти к $50k-$100k MRR без разрушения маржи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03760D8-3A65-41BC-BB44-11989D90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1813887138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CF9957-80C9-4837-B7DD-E3F010A3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D51D32-3207-4EC2-BE34-296CB6F5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25C3B9-A08F-4C1A-9A36-43345F19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A759AC-C649-477E-B48E-F64A9B1D5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B447F-9585-4846-ADAE-0BE1048A8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Модель маркетинговой воронки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31ACE9-C547-4213-B259-147700B0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C5E9A9-D86C-4E93-8923-0E56D32F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9ED97D-0771-4B6B-904A-98B0C882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232479-C006-4027-A2E3-8D79DAD8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F7FD39-507B-49BC-BF0B-A6C20870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D794BD-DCE2-4C6F-85F7-78EE618A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C6EE8E-AAA8-4236-BB02-70695A36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Conservative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D5DF78-DB07-4385-AB13-A5119F3F3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3BF2AB-4742-4FDF-AE5E-99A1E6E15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E33AFF-016C-4C8C-A546-8807509AF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B8792-15B8-4BC7-A59C-5E860B25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495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Strong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45D2BF-30BB-435B-A754-C53884433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28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08BB84-7EEB-409A-A70E-43335A83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495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9E10A8-A177-4985-B151-9699976F3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35D3234-3873-4449-87C0-E95EBDB6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Visitor -&gt; signup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4E90D4-3C3E-405E-8AB2-8ADD9A3BD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C814CA-39CF-4112-849E-1A1A8AAC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8C66B-A78A-454B-8055-E1339DE7C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17A90C-AE84-4444-AB13-5259C273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169662-74D8-464E-9174-D0A5F84F8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962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47442-9BB9-4430-AE39-916881438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28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7712BF-3D28-4453-9D71-1A5B0A58E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962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C67B29-6323-4FC5-9745-4D9C6564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028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нужно тестировать до ad scale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846E8B-0996-4782-ADC5-EC88DE9E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C8340A-EFC9-477A-AFBB-A7F08AE7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Signup -&gt; activated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C13802-C859-40A0-A767-3F787459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705E726-DAFA-4EBB-95C7-80DDB8BC5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711D52-5744-48BA-ADF0-75D1D49A5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14A404-92F5-4D68-ABCB-352C5D99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8F6DCA-0155-4A23-93CA-023894A9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955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ABFD3A-57D4-457E-98B0-C587AA8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622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65%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5415CE-05DA-495B-AE13-2036089A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4955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6688C5-3B1D-4E02-AEBC-1F4398568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5622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activation = first completed loop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C8801D-B374-4582-803C-EF09ACB92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888B8C4-A2B5-4B2C-A80C-5B11DC594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Activated -&gt; paid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E38769A-4A09-44BB-A703-F4C50694B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F16D78-3057-4D04-A015-8F6BF6BA8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1DFA18-D65D-4E17-B9B2-3C7E92F81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1D9773D-72BC-4A95-A6AE-C996FC54F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A36CB96-C322-4CBA-B8FC-FB22F5BC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0289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BA8CAC-4374-46C3-A3C0-D45C15B0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0956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1A55BED-D539-4A36-B36C-71AA7A53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42A15A1-ED41-441B-9B71-D45004E6E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956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после value moment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724270A-ECCD-48B7-B8A0-39187278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583586-B6C2-4B75-AF85-3880B35BF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target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DE0993-3AA9-4B86-B4F7-07C8AB730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C5B91D9-6A5E-4D86-BC7E-CC840F96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&lt;$0.50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C95661-807F-495A-8B53-869D6CEC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BA91B42-35B6-4B03-AE36-FD68833D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&lt;$1.00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0328D3-B3F2-43A3-B122-93CB81895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623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44726CC-70E1-4992-A13E-656786FD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6290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&lt;$2.00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A656100-FAF9-4D9F-9A75-0FA13AF09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623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B5F5B69-5969-49E2-8C73-8643EB747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 основе COGS + contribution margin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60987EC-859A-4D47-8621-8160C091E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8628545-ADF7-4C33-9261-B5E025964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test budget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5EC2985-F42B-443C-B061-0ACE6E1B0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8FD3512-4581-4E62-A7D2-42158DD2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ED2600-59A0-4CD0-A4AC-6EDDD7B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B3BC6ED-AD20-4E4E-A7F8-BB1390905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$1,500-$3,000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761E4C-7593-483E-8E44-277E72AF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957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B68CECBD-7627-467D-A862-AF2185F85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1624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9320610-E8F2-459B-B34B-55B8C1EC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957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786DAA8-D25C-4349-A279-24876C1D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624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тесты до scaling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D4CC7E-B33A-402C-90A8-371BEF66D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D3F3F6C-18A7-47E4-B7EB-07A5956C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1,000 users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025CF38-09CE-4FA6-B0E5-C07E5D469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E41CC59-8C6D-421A-9C8F-94CBB40ED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warm/interviews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C9EFF7-E92D-410D-BC93-79F33F55C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A621C2DB-CE64-4576-8EB1-971138CA0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organic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B93243-08E0-4140-BD99-A8741B4B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629150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151A5F6C-5BD9-44C3-A149-EE3E2DD2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695825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+ paid test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10E3621-6296-4654-950A-177630A5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29150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76740E7-66F5-41B8-8363-06362BFB6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695825"/>
            <a:ext cx="2800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маркетинговый слой Алины ложится сверху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FA666AA-30E8-477A-98E0-EB64F4AF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905500"/>
            <a:ext cx="8096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нельзя считать отдельно от free COGS. Чем щедрее free usage, тем ниже должен быть CAC.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609523F-7EF0-47A6-B27F-B70B20BB5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993547048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E0DF4EA-A8D9-4766-9336-9B25DA26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E6C8D7-16F9-4AD5-BCBF-4F17564B3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EDA4C-2AED-4E27-9754-EC02DA3CB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643BE8-E2A3-4E0C-8038-E0A2C520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3F30BB-C81C-493E-9B45-1892F381E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 в Фазе 1: что проверяем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CC820-3E22-4ED3-9244-084EC369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D416F0-773F-41D6-BEC3-11E8CB30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D1CA45-EC27-46A0-8014-7430A634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92E38CD-24FF-4B77-8E7E-E5DB4FDC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149E54-430B-45A7-BBA0-C8CB09E0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97C9B1-AE45-44A2-A297-BB5F7FC8A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6DCD57-FF6E-45A0-A0BC-D16C5F921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Диапазон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21891E-96E2-411A-8B3A-2E7630164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A0F751-5A6F-494D-BC80-B3F40DBE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делаем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91B97B-747D-4C59-B215-D19706640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AB0541-D186-4918-9CAF-AB5E1D89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должно стать понятно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144A8-737B-49A7-8B8D-D95AB5312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971906-A035-4EDC-92C2-C97A4011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examples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77886-6F71-4978-8405-D4DDE3ED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6BE885-32AA-4B5F-8656-09E10517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€700-€1.5k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5B3D38-48F1-4F25-B293-B85EC998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E63D75-CF9C-45EF-96FB-2E4C333D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примеров Life Canvas, future-self и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B4F82F-0BE9-49A7-B158-717B67DA6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E71E41-64F0-4F50-83BA-0304C9AE6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визуальный вау и понятна ли причинность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8741FA-E232-4B6B-B704-AAE7A145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281C47-6545-4BB1-AEE4-CF09F337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analytics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1DEE4D5-CC1B-42AA-B28F-C36D08468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A345DE2-64F5-42A4-86E7-9A9C85E85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€500-€1.2k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4D5E94-F835-44C2-A51D-0DB278E9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EEBF77-A3D2-46AE-8592-DC31EDC80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лендинг, price test, lead capture, события activation/paid intent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7BAB4E-F147-4837-BBE7-B6A26C25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5EB9ADA-84AB-459B-A0CD-992571ABE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цена и формулировка дают signup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64D718-2019-4D9A-BB7C-E1665D26C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879D15-D6A4-4AFF-91F0-1D63BE5E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micro-tests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A478786-64A9-46AC-9AB8-10B0FDFD6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6F621F-1345-4854-AC9A-69ED5DBC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€1k-€3k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B2DF15A-BCB0-42C3-93FA-8F7565396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454CE2-6F37-43D5-A38F-7E9D8A83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5-10 micro creators / warm audiences / сторис-форматы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5ECC6B-C42C-4ED1-89BF-9A9EA0948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6094363-8590-433F-95D8-D5EA3773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hooks вызывают интерес без тяжелой рекламы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C7C19A4-2B40-470F-8895-22FD3565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E757DC5-7AD0-45E9-91ED-9E4EDED0A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creative tests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990242-BF4E-4DEE-8DE6-CEA7CB57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9107016-07AE-4D59-8635-A4E175EF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€500-€2k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250BE07-A826-4E6C-A7B9-E4E62DCEA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6E87DA7-BAF1-4F38-A0B9-4D161D1C1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маленькие Meta/TikTok tests по 3-5 hooks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EDF9F9-5CB7-4F52-89D1-C5A511529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58168A-E654-4C98-AC08-34549F1D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visitor/signup и первичная конверсия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17A882-B1F1-4343-B3D7-AD21140F2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33166D-6704-4CC2-B558-B68E59A1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Concierge cohort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89650BE-C686-488F-B32D-0AE948D9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51F5C17-E0E4-49A0-80C7-E30E0DD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€800-€2k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D677EA-EEFF-461F-9B3D-C2385B6A4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953AB1B-36ED-4D93-BA37-5E9C245B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users, ручной forecast, интервью, paid-intent follow-up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CA07CB4-A2F3-4476-93B8-4B5F191F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ECB2C0C-9908-478A-91CF-935605252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понимают ли users продукт и готовы ли платить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404354-D230-4C89-A7B7-DEB4D3E4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17126338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978275-2C95-49A5-9E0B-FFAA14BC5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240C72-4A6B-4E27-B10D-98EB570F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EC3662-2D65-4257-AD02-921443B6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B9A8AC-3A43-4366-90C4-3B2A9356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EAB27-77AC-45E3-838E-CBD5674F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30-дневный план проверки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D183EB-D522-42AF-B3A5-3C9A1D36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B1F1BF-39A1-4C29-BD9F-B6341CA03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B3F8A4-FE7B-4CDB-849D-C14F93CC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D4F7EAD-13E4-4F5F-A16C-88AABF0E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E6B19D-0276-467E-9A8E-01D9081F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7EB0E3-138A-441D-A184-7E3AB978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20-30 interviews + ручной weekly forecast concierge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994B8A-9E2A-4107-B53F-6155E5B3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966213-CD78-4CBA-A092-146C7763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91A06C-FD16-46C1-9504-497B5924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10-screen prototype + 2 visual styles для Life Canvas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AE5A88-79AB-43AE-B6F4-4074E5E9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BDC6D6-57ED-480A-A362-B37434E5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2F4985-8491-4305-8BD8-46160640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landing + price test $9.99 / $12.99 / $14.99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90B97-0453-4838-9CC4-906EBFC4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90750"/>
            <a:ext cx="1428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333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378B12-7233-448A-843D-C5D04025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90775"/>
            <a:ext cx="1276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9728FA-1DB1-4CB4-9061-8C1C72E7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95625"/>
            <a:ext cx="1809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30-50 users через 3-7 дней + paid-intent 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50D36E-45F7-410C-9908-BE5640FC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572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 успеха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8F2A3-6972-4FF6-908E-C1ED22282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72050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&gt;70% понимают категорию  /  &gt;50% объясняют Canvas change  /  D1 &gt;20%  /  paid intent &gt;5%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83D218D-3322-41B4-8B54-14A5EAFC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591352925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E09D9A-3CAB-4018-8E5F-F3D4894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88A1DA-2041-4CA4-BB93-B936EC318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9859A3-D69B-4D5F-A513-053B160C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79DEF9-00BC-4865-9B8D-F5FDBB28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D29F5B-F078-4694-8FEC-5A85D7D3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1: 30 дней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478B97-D428-49E0-82C2-A738848D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E605F5-3F73-4B34-9128-627C126F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0BB1D-8E3C-4504-BDA2-A950E7A9D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8FE4DB-466F-4EE2-9F71-C85E664BE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73865E-253E-462B-A306-0E1316AD3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Период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CFC677-81E4-470B-9E27-AA7A6910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624943-6AB2-4150-B6B0-11E80747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Deliverables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468EFD-4B86-4248-ABA6-CB2E06B1F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853A2-5EF7-46E6-9375-0F6C6C590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5F5491-68D1-4574-A2EE-11972DFC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7C770A-A96D-4DA2-8520-185900D29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8C00E1-C7BE-4F35-9CE1-16A51F940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5B53A8-5F38-4AE7-8D70-7F1C6C35B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1-7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DABA24-BA58-4819-BFD6-18D9BEB2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609D3F-21E8-4A92-840D-4D7B5CCAE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концепта, 5 visual examples, landing structure, сценарий интервью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F4DE1A-6813-490F-B46B-C50D2DB5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D1C598-67F4-4509-8508-8120CC09E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понятность идеи, сила visual hook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C4BDA9-43CB-425F-B533-05E2B1034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38837E-88AD-4F1D-9446-2F0B581F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какие 1-2 концепции оставляем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649AB2-D7E8-4EEF-95AC-7EB4BCF0B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A4746A7-705C-4FA7-8306-ED8CD1DE5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8-14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F35532-830D-43A3-A34C-25E32679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0F4307-0189-4B4A-AF16-C78E0E228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8-10 screens, prompt logic, first Life Canvas styles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598DD-EE91-4F17-B80B-E956308F0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CB5A10-74D7-4F65-B0F7-E7A2DF4F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ли пройти loop без объяснений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3D2606C-9EEE-4525-98C2-521249943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C90A5B0-B59B-4025-B5A8-EEF29BCF7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входит в MVP, что выкидываем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F6EAE15-355A-4F50-9BCD-EEE2CD051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012659B-B6CF-4E2A-B87E-4491489D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15-21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EBAD07-BA2D-488E-8631-0B3DAF91E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536F7B1-2CC6-4A52-8E73-2F8D9CDD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30-user concierge cohort, ручные forecasts, first creator tests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840459-56F4-4006-893C-3B28F8F9C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93A605-B6DD-4B5E-B78A-4CC0040A8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D1, понимание Canvas, качественная обратная связь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66717A0-3162-4115-9C16-A4A531E3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C3C9032-EB94-4A6E-853A-304690EC0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есть ли продуктовая петля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0ACD9C-CA35-40BE-963E-7788F9A4F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90C51DC-85BC-4ABE-8734-AE791EE75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Дни 22-30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C21234A-DDFC-4E73-8E8E-8624A8D3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6499B1D-547B-495C-BD19-FA797B02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test $9.99/$12.99/$14.99, paid intent, CAC signup proxy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DB5A0E-D53F-499C-97A7-DA17364B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12F2F49-132E-498A-8252-5B142899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 &gt;5%, D1 &gt;20%, Canvas causality &gt;50%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1611CED-DA22-456F-AA03-2735574A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2FBD9EB-6D2D-4987-91B5-D28E6F2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go/no-go на MVP build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55BA46F-89CB-4945-8281-C4AE16A18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712146559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E41BBA-3BC6-478A-9B0F-2796AF7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60C166-7ABB-40BB-910A-47C7A68DB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A692D9-8705-4D91-91A9-8CB2D1AF3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1D046F-F3FB-437B-A859-147B59666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291408-4286-4431-918B-83AFBB623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Roadmap Фазы 2: если Фаза 1 проходит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0A9B4A-20E4-4AC9-91D2-A81A25190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2D71C-DDEF-4E18-9644-4A0D2071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880DD4-2E52-4F1C-8993-9DC3A0C0B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3C2971-EDD4-4654-9BCC-4850B8A8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13A644-21F3-4244-A8DE-F8218D3CC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Этап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900ACD-52F7-416B-9AA7-776C316BB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2F629A-7855-47BE-82AF-49D6BD45A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строим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4EFB23-75E3-4D71-BA75-0FE95D444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0EF6B1-56B6-447A-926D-8A585A8E7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Зачем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D818F5-E8DF-4898-AA56-B99F0CA89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645F77-4BA4-4A19-9FC1-DC7E8CD99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3EAA4E-A0B7-4AEE-BF40-36E28A03C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1FD651-8B11-4848-95E6-CB6F83B9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CBB806-69C8-46CB-87D3-434590E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48C4DA-FCF9-428A-87E1-2F77A209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mobile/web prototype, auth, onboarding, weekly season, daily cards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720D5-9825-46BF-9F89-E628E41D7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DEE5AF-A427-440B-B69B-0FBA8889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дать пользователю пройти loop без ручного сопровождения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C6E12F-C2BE-4D6A-B6A1-D067B0891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54A64-F7E7-41FA-98EE-BB6C7BAB1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 активных пользователей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9ED233-C571-48FF-9013-39AB3400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11BA00-35CB-4DC9-AFE2-1E85501FF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Generation system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FEDD1F-AF36-4290-87A0-6D699213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B3B750-2C66-4572-B1AA-F55B3A3A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 prompts, Runway workflow, retry limits, COGS logging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DD9D3F-9149-430C-B7B0-56F1FC190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C307BBC-2E81-42A2-A45E-A2C49F55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контролировать стоимость каждого generated asset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1A54B3-94AD-4561-BA76-3E5B94E46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8A710D-922E-4A0A-8674-04A84A15B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paid user &lt;$4/мес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A5716DF-BAB8-43AB-8B87-F4AC36F4C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03C8DC6-2B23-4619-B140-578E2F45A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test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20A71D3-56C1-4FA4-83D5-96D3E048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FFAC27-56B1-4190-BB6C-0E49C42F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test, Visual Plus, annual, premium token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C166F85-DCB3-4913-9C3E-DCA82F9BA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28693EB-C743-4594-B20B-147671C5A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найти рабочую цену до масштабного маркетинга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137EBB9-7243-4132-9E14-E2709B24A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2C65F86-7CB6-4C15-9DAF-A04FBE63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 2.5-3%+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0A4D11-76B6-420E-A91B-7C610D68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3F1EF3-EDA6-4C62-B576-8B445B0A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 scale test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5625A0-7559-4858-941E-4EE235AA0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9B1EF6-FBD9-4F10-9924-BDC5C8C82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pack, 10-20 hooks, small paid budget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DB5955B-B444-4B55-89DA-7A557902F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078F58A-BFF3-4796-BEA2-BF6FF2C48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понять, можно ли привлекать не только warm users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3D8E44-7355-4483-83EE-F1D63C0C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81CC0D5-390F-46E9-9432-B8D1A6C4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CAC activated в допустимом диапазоне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6C6F54-2A0E-4A96-ADE5-E8180D02A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0449971-225A-4719-8B5C-04FB19BA6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Build decision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31C9B8-EFAC-49F5-B32F-0F14F01E2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E558AE-5BE5-458E-BD54-E09BD8FB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native app / backend / analytics / billing roadmap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4EDB555-4A4E-4942-BF18-5F1D485F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BCFF704-604E-4542-9079-C46A1010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переходить от проверки к разработке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872D03D-D85F-48C4-A8A4-FF3DCDBB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8A3272-BA13-4DBB-8513-7C7E5A350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retention + paid intent сходятся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7A461F8-C7AF-48F9-9109-05ECB29E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139129746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B69A0F2-A0A2-4834-868F-0DB8A95E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754664-4712-485D-BF7B-A657D6D2D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F57299-BDE0-40DB-89C1-63D3B199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85D022-684E-44C6-8528-6098AF46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5F7FF-C807-460A-95D1-287CD41CA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Scope продукта: MVP vs Later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79E4-89FF-4D88-98CA-465052F8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246650-37ED-42FB-812D-43D7F3EB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E7C394-994E-4B45-8D2A-BED58885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E93911-F645-4A72-844C-F00D36015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620019-3A5C-43ED-99A0-D88418D96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B91D7-31DC-46A8-A62A-1CFC0F324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EB3AFA-0D81-47D1-B3C9-51FF0E70A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MVP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0F90B1-B4AD-4B93-9EB3-FB60BDD9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8A6A2D-8688-462D-97E6-06694EE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ED1415-E804-4013-8BA2-E2AFEE0E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0725F5-2A23-4266-9936-7E826623A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D90060-6DCF-432A-A49A-C44DF701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081D07-02D5-46EC-9AF9-AC76B4437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Core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037D2E8-82AE-493B-8A29-DE41BAD1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F38E81-449D-4B4A-9652-E045733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Episode → Action → Reset → Reflection → Life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78AE23-6911-4682-80BB-7C645DB2E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3CE74B-F047-4C76-A32F-6CBEC1DB8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 branching и deeper memory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E0944E-3CF0-4FA1-A81F-89300C7C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4510F0-872D-4E78-9EF7-40C7220E1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сначала нужно доказать causality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2FC28D-0C9F-4FE0-AB49-901887F9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C677D-CC64-40C7-A7C0-895BFD5D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Assistant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CB49DD-509F-4F78-BADC-C0B83668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E3930-4BC1-4B56-AC3F-9FAC656B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chosen tone + weekly context + memory summary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3AFE3C8-1BB6-4BB9-8646-D593B145C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C0EAF90-AFA5-4482-AC32-EBBE1E01E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voice/video assistant, creator voices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FB9CD4-C857-42A9-BEEA-3191FC64B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2C9CB8-D75D-4CA6-B5F1-A7911473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text memory дешевле и быстрее валидировать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82C7D7-2B13-4BE7-989A-21C8FB086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2AB0364-EA48-4AAF-BD2B-2AD0FEE1A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layer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A4E0530-1B08-4DE6-9C8C-C921309AB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B530D3E-1C76-4AEC-9015-F48B5564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image-first Life Canvas + avatar style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F127942-8ABE-4D49-AAA7-35FF6EFBE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90D1D4-A2A9-44CB-9264-72A8C8594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video, talking avatar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930F8B7-36C1-4478-8AC2-8D82D0F6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D7F296B-7C0E-4DE1-8F2C-CBD27AB7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— premium COGS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ED62E0E-03D0-4A66-A1CD-7EC07B14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93E5AF-8E14-4EC7-AC8B-84939ED8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Monetization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423F10-996B-478A-95F9-C4ABE7FE2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506C4A6-829A-43F0-BD78-AC70F60A7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+ annual + one token test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C63A8D-AFE1-4A0F-A22C-C03874286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2343223-C129-49C6-8332-40CFEA85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seasons, expert layer, marketplace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4CF16A5-4CAA-462F-B3E5-86645D27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133CEC3-4C11-43EA-B534-6A2A9525D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избегаем complexity до retention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1B1F081-A166-4CEE-9B39-EF16B039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A7D49D-345F-4DBB-A46C-7B9E1503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Community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E5FCFD-F9F5-4E7B-8646-72080732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100BC13-75F7-4413-AEA7-62DAB132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в MVP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7D617B-B229-4844-BB82-3FF4930F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C60C628-F9EF-46CD-9B7F-4AB988B76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sharing, social, cohorts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B3E2A8C-4526-46B4-81EF-696FABE7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1743372-6C28-4041-9CCD-B13A975F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строим social network до доказанной core value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D5DC374-78BC-4870-94F6-9DECD0A8A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2106393609"/>
      </p:ext>
    </p:extLst>
  </p:cSld>
</p:sld>
</file>

<file path=ppt/slides/slide3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5F595B-72A9-4484-9685-054814F1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2988C0-238E-4726-9268-FB82114D9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BE7CD-1AA8-42C3-AB85-A0529322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CB0774-02E6-427F-818C-B31B5685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AE0B63-2FCF-4876-B427-B9EF76D9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Риски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645D2-F072-4B5D-A25A-1E100B96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5765F7-78D2-419C-9401-06403BAE3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BED37-9817-4F3C-B34F-C3556546D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условие перехода, риск, решение. Смысл: что делаем сейчас, что запрещено тащить в MVP.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BBA90-002B-4983-A900-2F888FF67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C6D8F3-B7ED-4A57-B957-108904B5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CFCCD0-093C-40CB-A47A-2B39BC17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714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5B474B-FBCF-41F5-A874-C333334B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781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ломает продукт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9CE13-A9A8-4E88-BEC7-EE375CB35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F6F5BC-F7FD-4B43-98C4-BC618369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781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Митигация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40C376-14D8-4520-98FE-427EF630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003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FB0B79-0C01-453F-BE24-BF83ED850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669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Похоже на гороскоп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7FD8A7-9264-4072-9276-011BD95A5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003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909867-052B-4C6F-BBCB-14FE0A6C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24669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thinks it is generic astrology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1BA9E0-207D-4600-AE95-6C7F87F93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4003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EFE4A0-51E7-4491-8713-126BA8483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4669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позиционировать как weekly life-series и action, не fate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B4446-7799-4B6C-AF18-55BA0938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861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50121D-C696-4D55-9966-63D19D245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527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feels random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0FC827-0936-4E37-A101-DB9720FD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0861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F666C-6C3D-4D41-9B97-883320C9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1527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 cannot explain visual change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2EA08-10E7-4679-A742-F1575030D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0861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D7DE760-EC36-4572-B23B-3E16B7B13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1527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показывать cause рядом с Canvas и связывать с action/reflection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F13EBB2-7827-445B-91E4-931B67836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719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5CC6313-48EC-4BF7-968C-CE9225D3F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385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cost kills margin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0AA5A-373B-450E-8AFF-6930CF476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719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3B2FBF-8001-4D77-9DB7-1D45B34BF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38385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users generate expensive clips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74EA61-4322-4675-84CD-06110BC3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C22C872-A68D-4D89-999F-9ECEFC495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385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premium/token video only; log COGS per asset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31592BC-8DAA-45BD-8993-21AB8F40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577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83839F-E6F7-4FB4-9CB7-8A18F246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243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AI sounds generic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55C5BD-85FF-47EC-BEDB-2AE3C1DA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4577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DFC857-36C5-4D08-B2F1-9EA76D862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45243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low trust and no return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A6F823-1332-4E8F-B1FC-68C7095BC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4577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405FD30-DCDD-492E-BD95-EFEF3ECF5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45243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prompt QA, user feedback и memory guardrails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1C08101-1969-4916-AF4E-2E1C991F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143500"/>
            <a:ext cx="233362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25E750-914E-4820-9EBF-76D5389D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10175"/>
            <a:ext cx="218122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No paid intent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77CFF9-17DB-4C06-9E28-A97B3197D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143500"/>
            <a:ext cx="3714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F97FB5D-A858-419E-90F1-64836E41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5210175"/>
            <a:ext cx="3562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users like it but do not pay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8DF851F-AE84-41EC-9746-B6806154E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143500"/>
            <a:ext cx="4095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C7833F-A162-4F85-96E7-38212D578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210175"/>
            <a:ext cx="394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 after first completed loop и price tests by cohort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4D1B146-B140-4C28-9DBD-636AB15AC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2130836639"/>
      </p:ext>
    </p:extLst>
  </p:cSld>
</p:sld>
</file>

<file path=ppt/slides/slide3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D79E0A-CD2F-4E00-9583-9F14B1C51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3865D0-3824-4A4F-98A9-518F12BCD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DCA5B-ADE8-41D1-AC27-D462CC1E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D8FC0-35EE-43BA-810D-0BB3E210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00A60C-E45F-48E9-A720-596BD134C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Условия перехода к запуску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4D4A9F-0624-41EE-91F8-89C3915A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12BB07-F2CC-44A7-8C6F-7DA73C1E2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6800"/>
            <a:ext cx="9906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12D6F8-AEDF-419B-A01A-6FA201D74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2001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Вердикт: можно использовать как план проверки и основу следующей фазы, но не как доказанный бизнес без данных первой группы пользователей.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E8A16A-66BB-4809-937C-C8D7E74A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57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FB04C0-9842-47B4-9EDF-7896C3141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24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Блок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6F177E-F675-43C5-AD30-0B01EEF0A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57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479787-E87A-4813-B5B3-E6ED8F4E0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1924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уже понятно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FD4BED-BB32-4F68-A74E-4B5DC866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1857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F0DA3E-1454-476B-9785-DDA6A39AF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1924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остается допущением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27E249-51CF-4027-8251-8EAC1D5F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57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1BCE1C-D1F9-4E4E-993E-CC0FE26F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24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проверяем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632795-13F0-46A4-853D-2934C99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907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37E8D7-8DC2-4FE6-9474-958B1D28F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Продуктовая логика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C9F7E7-EBBD-42DD-A439-6417F5C4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3907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09A622-2999-4B6F-862B-5DFB21575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4574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понятная петля: эпизод → действие → сброс → Canvas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3187166-ADEB-42A1-847A-AE067488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3907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5B9233-C662-4907-A0A3-AA70B0606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4574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насколько сильно пользователь почувствует причинность Canvas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514286-0989-4937-9774-EA304321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907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BAA6BD3-5186-4589-9D23-2441CF0B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3-5 визуальных примеров + кликабельный прототип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13AD1D-E8F6-4F87-8280-D082DD5E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241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F50D2A5-2F0F-4566-84E3-87F9AA3A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908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Финансовая модель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03D458-1164-40E7-A84E-A8A1370D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29241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6E1810-FA95-43C7-A9D3-332CCD01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29908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цена, себестоимость, бесплатный пользователь, привлечение и сценарии разделены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BA5EDE-499F-42C9-8782-E327A54F0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9241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B6C29A-E882-4BB1-9CDC-3FF3E8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29908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точная себестоимость зависит от провайдеров и фактического использования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59B460B-3CCD-4387-8574-C88F49321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241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B0D9300-677F-4FBF-BCDB-F2F97B97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908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логировать каждую генерацию и пересчитать после первой группы пользователей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D1B5A9-0327-44EC-8206-67A947960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575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8C3DF83-3CE3-44F4-AEC4-51405B9D8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242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486799-D873-4CB5-A26A-A918FF79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4575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5A6610F-47D3-4DC4-9757-9CC15708A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242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лучший старт — авторский контент и теплая аудитория, не закупка трафика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E0790B-7EAE-4C0C-8D03-5207B673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4575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549B54-A19A-417D-960B-79EA27E80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35242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неизвестна до тестов креативов и лендинга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05B3F2-B295-4669-8779-0DABA27C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575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351203-7CA0-4E1D-9744-C0C9B37B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5242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10-20 креативных hooks + маленький платный тест после сигнала оплаты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8229FCB-6CE8-46D9-B9F5-07DCD8F9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909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71C3FE-C17D-4FFD-87F0-E9853C87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576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Технологии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767078-D972-4FFC-93A6-54858963E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9909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F63D92D-E651-4BEA-BB2C-FE7C4C5F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576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должен начинаться с изображений и лимитированного видео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696281-547A-454C-A664-DAB6CEE6E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39909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8D511E8-5D76-470C-A814-26B17603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0576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выбор провайдера влияет на маржу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1908EE1F-E76D-49F6-A06E-0CA10A4C1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909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4C1DC5-1022-4294-9EC7-3B8FBDDD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576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сравнить провайдеров перед разработкой и поставить лимиты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953D208-1158-4435-8214-122902F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24375"/>
            <a:ext cx="1666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E6FF4E1-AB44-4A0A-8001-18F5BF1F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91050"/>
            <a:ext cx="1514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Следующее решение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F27054B-7465-4244-B14B-A3A6BFC9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524375"/>
            <a:ext cx="1809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04382C-B637-4E0D-80F2-67715D964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591050"/>
            <a:ext cx="16573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можно начинать фазу проверки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8E7646E-72A7-4184-BFD3-E6B0294A1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4524375"/>
            <a:ext cx="31908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78932FD-42E4-4DC7-A03D-90845599B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4591050"/>
            <a:ext cx="303847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еще не доказанный бизнес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7022A8-302C-4F00-9E72-FEE175024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524375"/>
            <a:ext cx="342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7E5ECFB-FE70-45C2-8780-B53C4838A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91050"/>
            <a:ext cx="3276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 по возврату, готовности платить, причинности Canvas и себестоимости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123A9B9-B1F1-4F30-8A92-C3649DE8B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57900"/>
            <a:ext cx="923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422B8A-BB46-4663-B301-1127322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124575"/>
            <a:ext cx="8896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38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Вывод: следующая фаза должна не масштабировать идею, а быстро проверить петлю, цену и себестоимость на реальных пользователях.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E2ED162-09FB-49BF-9325-1F600687A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340715930"/>
      </p:ext>
    </p:extLst>
  </p:cSld>
</p:sld>
</file>

<file path=ppt/slides/slide3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EA8D8-71FB-416A-8A42-1F770043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50F3D3-D435-4373-BB43-00A5BB8F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E9C81-F8C0-4786-B7DD-83D76F1C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3C5E0-C3F0-493B-81E3-7B6069C9F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B47817-FF0B-4A66-B3B6-6075C6B29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Контакты / следующий шаг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0FF565-C382-4497-BB77-39E7D6D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78AB73-B200-4A16-AFEE-C996A3C1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38375"/>
            <a:ext cx="3429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20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DEA81E-922C-4D1B-B2D0-984E4446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3333750"/>
            <a:ext cx="6667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9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Следующий шаг: сгенерировать визуальные примеры, собрать кликабельный прототип, протестировать первых 30 пользователей и проверить, понимают ли они причинность Life Canvas.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E50934-1CE1-46D3-BCFC-91B11C716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762500"/>
            <a:ext cx="7239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Прототип → интервью → ручная группа → готовность платить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612104-505C-4C27-8C48-E5560D3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1897386115"/>
      </p:ext>
    </p:extLst>
  </p:cSld>
</p:sld>
</file>

<file path=ppt/slides/slide3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7DC529-F919-49DB-AD5C-899B3D58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558EA-078E-4D7E-AA11-7772F617C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1F8934-F4CD-41C5-92E2-C59DDAA78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876300"/>
            <a:ext cx="10287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C6E4D2-E243-4CEB-9539-736128A00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057275"/>
            <a:ext cx="6477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6B3ADA-808F-47EF-B2E1-33EA9C68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8858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40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Appendix: доказательная база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89F050-EF7F-45BD-9648-3DC76574D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Подробные таблицы, расчеты и backup-слайды для проверки цифр.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C56085-377C-47D4-9E0E-169191794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853971-E3BC-424A-B51D-9E5D1829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243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Unit-экономика конкурентов по категориям.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B539B3-3F19-425A-8B86-93F4C99CC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196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8C484"/>
          </a:solidFill>
          <a:ln xmlns:a="http://schemas.openxmlformats.org/drawingml/2006/main" w="0">
            <a:solidFill>
              <a:srgbClr val="98C48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B57128-6E0A-43C6-AE0A-C05A7299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434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генерации и stress-test видео.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5439E6-2103-4152-A48B-ACC7365C1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387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BCFD13-207E-47E2-B4CF-FEB9A4DC0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625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Помесячная / квартальная финмодель.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6B3619-B2B3-42DD-BA8E-4CEF0E51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578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ACBBF1-85EE-49D6-8B9D-3B12E3FF3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81600"/>
            <a:ext cx="752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Маркетинговые benchmark и hooks.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03A17C-9F21-45EB-9C5B-E6AAEE08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37</a:t>
            </a:r>
          </a:p>
        </p:txBody>
      </p:sp>
    </p:spTree>
    <p:extLst>
      <p:ext uri="{BB962C8B-B14F-4D97-AF65-F5344CB8AC3E}">
        <p14:creationId xmlns:p14="http://schemas.microsoft.com/office/powerpoint/2010/main" val="435623245"/>
      </p:ext>
    </p:extLst>
  </p:cSld>
</p:sld>
</file>

<file path=ppt/slides/slide3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D60AEB-B2BE-4FED-B80D-D1F9D3C42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6595B3-EFA8-407E-B5C3-9AAC30EC0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3DBE30-E4FF-4598-B5B4-E70CC3D47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7CE3FD-516E-49E7-A379-BAFC48553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F2BC1-5951-4FF2-984D-B9D43720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Словарь метрик простым языком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9A87AA-41F0-4329-894E-EECADFAD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63D519-57AE-4363-A179-1095D8E0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14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Этот слайд нужен, чтобы Алина и клиент читали финмодель без финансового жаргона.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BA9ED76-910D-416B-BFE3-0DAECAA12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430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8B47C9-BEF1-405D-B5FC-203A46F60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Метрика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C06594-BC0E-4859-8E38-98722DBB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5430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2B3CF-8A9F-461E-B4C9-B908BF3B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6097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Простое объяснение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5C87DB-F9E3-4F1A-911F-20E4F3D94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430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B68131-2755-4583-8A6B-0BE3355C2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6097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важно для AURA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47514-27E9-42C9-89DC-DCF1A1306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669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20AF29-31B4-4051-808A-118C199B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336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D1 / D7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A98B2A-EEA5-4487-A50B-41D1500E2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669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6EF770-4A25-4C63-AB20-D0F68F5E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336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вернулось на следующий день / через неделю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2ACE45-9053-4088-AEC7-3A9C195E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669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69E58C-0CA2-4814-A14D-5681ABC41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336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показывает, есть ли ежедневная привычка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E27A4F-7755-47EA-996F-B69A0A53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C492DE-F9F3-4A7F-941D-5CA5A2560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Canvas causality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CB36A5-1BB5-45E0-89F9-C7B7C79AD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908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5E3B26-EF9E-48DF-9717-1D61EBCB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574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понимает ли человек, почему изменилась картинка Life Canvas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F76C6A-2E0D-4ED8-8DFD-0D049F78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908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CF9648-277C-4102-A7C2-5CA95C4CA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574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главная проверка: это продукт или просто AI-картинка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817C7F-8FBF-49A3-858B-77703B31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146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0547C2A-D960-4C8A-A32D-1DA8E5832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813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intent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C512646-28F3-42F7-B0D2-D873D581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146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CA4C58-D08D-4D29-93B3-54A3888B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813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людей готовы платить или оставляют явный сигнал интереса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1288C38-FE36-4D98-A793-5B3F2BCC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146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5492213-1305-4467-AE99-EE78161E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1813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разработки нужно понять, есть ли деньги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87F847-7B77-4AC9-9FB4-3C91995DF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3855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A722D9-462A-46A1-A323-5F9E08866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0522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Conversion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86AB1C-611E-4406-840F-3ABBFED9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3855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F2A63-8BC6-4E99-B6EC-5D62C881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0522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какая доля пользователей становится платящей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60850C-674A-4CAB-8EFA-107BB18C0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1CB5B9-345A-431D-A147-EB95BC190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0522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определяет, может ли подписка окупить продукт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33EDA88-8CEB-4E78-9497-4DBD707B3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6242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1BD69F-04F3-4145-BA1C-2A06721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2910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37BD7C0-EA15-42C9-908C-4D66D634A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6242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9080B66-C402-4C59-9838-EB16FBCF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2910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переменная себестоимость AI, картинок, видео и поддержки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8D8938-81B8-4FC6-91D4-B2F65FA6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16242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59A57DB-ACC9-4ED0-821D-65BA24D3B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22910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если COGS высокий, подписка не держит маржу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5CFB4ED-AE50-454E-A8DE-9B428DCA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86300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0B31CF1-1118-441E-8DDA-2913053E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52975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CAC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7F74D17-D098-4CFD-A43E-A3994614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686300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7CCA90-BD43-491F-96D3-665FFACB6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752975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стоимость привлечения пользователя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33D4F19-8432-4DE2-8D67-F72FC648C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686300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B435D27-1A4C-4595-AD48-C4488EAFD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752975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маркетинг можно масштабировать только если CAC ниже LTV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FA8BAE1-1A42-479E-8A68-2429963A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10175"/>
            <a:ext cx="1809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3463CEC-0088-4146-8B93-DD3A5224E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76850"/>
            <a:ext cx="165735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CD2DDF1-B4B4-40FC-9B5D-BB0EBCC5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210175"/>
            <a:ext cx="3810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E5DB9A3-FAD7-4257-B3B7-97766F75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276850"/>
            <a:ext cx="3657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сколько денег нужно, чтобы дойти до следующего решения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95998E-6AA1-4B18-9D6F-5CA3DD4A0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210175"/>
            <a:ext cx="45720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86B6AB6-228F-49CE-A398-EA841D5E3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5276850"/>
            <a:ext cx="4419600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путать первую проверку и год масштабирования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7DC6AF93-D3BC-4B4A-9C50-5341BE64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9055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04529A3-1B1D-4E46-8D90-263826A7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91225"/>
            <a:ext cx="8953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1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1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сокращения нужны только как индустриальный язык. Для решения читаем русскую колонку: что проверяем и почему это важно.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7855F4-72AB-4311-8854-B2302447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1775244033"/>
      </p:ext>
    </p:extLst>
  </p:cSld>
</p:sld>
</file>

<file path=ppt/slides/slide3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E18D58-1576-4A6F-9074-4ECF2B9BB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DF4D4-E83B-4FC1-94A3-1372B0CF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E595F-EEA9-4629-8BC8-66DC82E5C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414E83-6479-4AA1-B44D-1DC8A0318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D40DE4-0379-4631-979E-F1B60364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Как мы выводим продукт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8FA9C-A1C1-4C93-BE61-A95C53E0F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C576CB-E9CC-4775-B9E1-A3F708CEF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43250"/>
            <a:ext cx="90963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E89782-287C-47E8-898D-2C5BA2C6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7388A4-9C30-4BFA-9533-EC9806B9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E31471-1355-435B-A7D0-0101DB00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Смотрим лидеров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A7E0FE-3817-49CE-BB05-ED587E75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Nebula / Calm / Finch / Runway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BFB9DA-00DB-472C-80AB-DC40FB39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рынок уже платит за смысл, ритуал, память и визуальный AI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9EB3AF-EB4B-4522-9377-F93A9DEC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C1E395-F2C5-4251-80FC-C79348C5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1EBBAD-DBD7-4967-8C7E-469D6558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Находим разрыв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702262-BF4C-4E22-9AC5-50428B3B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приложения дают куски опыта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AC5C1E-0493-4D55-BBC3-086461BC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нет формата, где смысл превращается в действие и видимое изменение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034CBAE-DC1E-454C-B4CB-25A49033C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F92D5F-4DC1-4797-A1E9-34052A26E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DF0E33-E727-4507-AB73-3EEE9180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Формулируем AURA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EB290B-B023-4E2A-B248-3C2F323F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weekly visual self-guidance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A26B241-4A54-4B7E-8FDD-7566244D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неделя становится личным сериалом, а Life Canvas показывает причинность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F18A925-065D-45E0-A21B-016D59C8C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000250"/>
            <a:ext cx="1028700" cy="1028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10478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965579-A97D-4180-A74D-3A482FC48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266950"/>
            <a:ext cx="6096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C261F5-18CD-4C0B-81C2-6ECCFDF41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4480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Собираем MVP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80EDF4-BD38-418F-967F-5F8C4EEE9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981450"/>
            <a:ext cx="219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5555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55555"/>
                </a:solidFill>
                <a:latin typeface="Aptos"/>
                <a:ea typeface="Aptos"/>
                <a:cs typeface="Aptos"/>
              </a:rPr>
              <a:t>Episode → Action → Canvas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9DE365-2281-4602-B50E-7F9098B6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459105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проверяем не рынок вообще, а понятна ли пользователю причинная петля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6785035-9965-4E5F-987A-BFCEE7C8F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8382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Логика презентации: не “мы придумали приложение”, а “из существующих платных паттернов появляется новый формат”.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72C0516-B012-47CC-8E16-AAD730D7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39</a:t>
            </a:r>
          </a:p>
        </p:txBody>
      </p:sp>
    </p:spTree>
    <p:extLst>
      <p:ext uri="{BB962C8B-B14F-4D97-AF65-F5344CB8AC3E}">
        <p14:creationId xmlns:p14="http://schemas.microsoft.com/office/powerpoint/2010/main" val="388089549"/>
      </p:ext>
    </p:extLst>
  </p:cSld>
</p:sld>
</file>

<file path=ppt/slides/slide4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5C30353-FB72-443D-9C78-88931179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222390-4EA1-48A7-AD6C-F6D375131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6EF48E-EDC7-410E-9B4B-E246E2DC8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0F7147-20B3-4C9C-9AE8-1CB85EF9D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81919-12D2-4CB9-9CC7-F7EF797DC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3 рабочие продуктовые концепции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6C4169-D044-4257-A74F-FD1735A2F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EB88F9-63FA-4AF3-AF2B-0A6B5CDE9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0746DE-C410-4C54-8848-5F7C6123E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Концепция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E0D2E5-3030-4371-A784-54DBAA2F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C61A0-C6B2-43D7-B2BF-6D99AA163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выглядит для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F0238A-247E-4D0F-950D-7AF90ABDB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707E1E-D162-45D7-82CE-394951E5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Вау-момент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CAB70F-30CA-4195-ABB2-67560EED2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D816D9-4BA4-4374-97AF-D23A46444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проверяет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47A64C-7CED-4C73-981A-54438C9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3A2CC4-E4C5-4770-BFD3-DB57984B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Weekly Life Trailer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E77F2E9-1749-4DC5-8DAE-2176FE108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806098-CC46-4757-AEC6-11A7CAFA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раз в неделю пользователь получает визуальный трейлер своей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92A6B9-2A6F-4053-A30C-5A37C4582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075B3E-83A6-47F8-8D4B-B9C5E281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“моя неделя выглядит как фильм обо мне”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AE33C5-7652-4BA8-A979-323337F3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6E7FE52-3561-4F0B-A338-C87A2587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готов ли пользователь платить за premium visual moment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C2C6EC-5F6A-4D2E-88AE-9DA60EEF6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613C6A3-5D39-42A7-8BA7-2FE39156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Future Self Canvas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A369CB-3C88-4B99-9FC4-DE9AA6B52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ADDFB9-7B3B-4084-8662-AE081D66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ежедневные действия меняют образ будущей версии себя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0322AA-3B4C-49A2-B0A8-23D14EB7D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9076CD-E7D4-4474-830C-B02B45F0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“картинка изменилась, потому что я сделал действие”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EFD7FF-EA88-4D39-8976-5295DF202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BB4994-5AD2-4145-8D22-7F5C7454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понятна ли причинность Life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6F5FA77-6902-48B5-87CE-EF3D5B7F8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FC8B06-3EB9-44D1-B0B2-CFCB4736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Pocket Forecastist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1B6C464-23C7-4480-8B6D-B46D49A77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CD535A-8611-4458-9D95-89EA4FBA3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карманный прогнозист помнит контекст и ведет через неделю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01ADB45-CCA0-409C-B5C8-D7F6EE0C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FD5170-76E7-4628-920E-793ED133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“он понимает мою ситуацию, а не просто пишет гороскоп”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F7B08A-B5D0-4B8B-98CE-EEFCDEB2C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D940AC-4C3A-46AD-8A10-B65A5244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ли trust + memory + weekly guidance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37E63AF-D57E-4E3F-AEC1-1B326E9A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</a:t>
            </a:r>
          </a:p>
        </p:txBody>
      </p:sp>
    </p:spTree>
    <p:extLst>
      <p:ext uri="{BB962C8B-B14F-4D97-AF65-F5344CB8AC3E}">
        <p14:creationId xmlns:p14="http://schemas.microsoft.com/office/powerpoint/2010/main" val="2039768077"/>
      </p:ext>
    </p:extLst>
  </p:cSld>
</p:sld>
</file>

<file path=ppt/slides/slide4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EB0498-02B2-4864-9EAE-D452BCDB1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1DC916-BDEC-47EA-BEA1-6015A5986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150962-36F5-47C4-B26E-E4F75EAE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59701F-4694-4DF7-9AFB-FDDE214DB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3D0DF9-0BCF-4B43-8C90-3150C481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Ключевые экраны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724C12-CD50-4950-8026-4BDB50212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8D6DD8-AFB3-4528-B401-0DFF953E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5FBD90-3E13-450A-BC80-B250FC0E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FDA8BC-6221-4B6A-88FB-48C45F43A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D0C14F-F8CB-4D8F-9C95-18ED4DCFC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Данные рождения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3689E-DC29-4203-A072-8B68A03F8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E7331D-3F25-4295-B337-4ED7C7AA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дата / время / место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текущий вопрос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97286E-0686-46E5-924E-48FF4ACF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43332A-05ED-438E-A7F6-A84F2092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50E732-718A-4F79-8630-7B9B43BD0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E0B75C-49AE-4714-8D3E-62614E9E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733727-242C-40E1-B6BA-E0BDACDE4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34952B-55F8-469C-A076-71F9A46C3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Прогноз недели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204931-BED8-44C4-8C04-41876AAF5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BBDC3-E78D-44D1-B9A8-B03CC574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сезона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 напряжения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первое обещание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E9EA47-4135-4640-A6AC-93B48965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B26589-3440-4873-9F78-54A84B06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F6162DF-8987-4DE1-B26D-24435BFB0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8F06318-6E9A-412A-997D-D99C2F390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EB3EA5A-15DB-4A3D-AE76-031FDE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C2350BF-29B3-4229-AA09-541CAC99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episode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E085E-6DE7-4231-9D8A-5D4DC4603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962977E-40B0-4439-A4E0-41B81B253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 дня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сообщение ассистента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карточка действия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1D02A-54E7-4BBE-B750-13AB3FD7D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B9B571-4291-41F0-A157-852E0E5B9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5F7924-88E5-4AA7-96FE-9CD0E74F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083CAA-4A55-430D-9068-6745D797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1DCC0C-5023-4AD2-9709-7D63040C7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7D023E2-098C-492B-8365-962E5D1C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Reset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8557070-E1D7-4ED9-9733-23B2B9FF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D6C38A4-3803-485F-A294-904F8231D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2-мин практика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рефлексия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завершение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FD2FA3-8EED-4E49-BEF3-93121CEA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E7E056-4DE4-4590-A25F-8849ECE02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F8219CE-B492-46FE-9000-AFE97C441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827A774-A9FC-4D2C-AA51-23D83F5A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3C77D90-8E48-4846-A0C6-5B7F40684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51F222D-7FCF-45F2-8E1B-0E5F54DFC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B6C65A9-B94D-4FBF-8826-1381F2C63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48CF894-6F1E-44F1-B18C-7581C8388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 / после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что изменилось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почему изменилось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0C6CB0D-59D3-4D6D-B918-ABC52AA24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375C12B-9C40-487E-9DA0-84FBCCA6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дальше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FB11C6C-4D8D-4F26-B4C1-7A5D1C92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1571625"/>
            <a:ext cx="13144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B75E91-A4EA-4524-A8A2-04499C2B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04975"/>
            <a:ext cx="110490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53329BC-290A-4937-84E2-79660908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323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7B61D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B61D1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BCE688F-DB37-4FAB-B8AB-28360CCD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0275" y="1790700"/>
            <a:ext cx="685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Paywall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845F27D-5B57-443E-8DAA-B4F4ED0A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9077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7620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C32D20B-7BC2-46AF-B977-641405A7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152775"/>
            <a:ext cx="10096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продолжить сезон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/ annual</a:t>
            </a:r>
          </a:p>
          <a:p xmlns:a="http://schemas.openxmlformats.org/drawingml/2006/main">
            <a:pPr algn="ctr">
              <a:defRPr sz="90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token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5BDF25-647D-40BF-B5FC-E063C9E9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181475"/>
            <a:ext cx="857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571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ED4288A-5B45-449F-8101-C8B5B6BA5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9775" y="4229100"/>
            <a:ext cx="7810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выбрать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614B853-51C6-4D77-A210-FBBAE0F1E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7810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Это не финальный UI-дизайн. Это логика того, что дизайнер должен сделать видимым на экране.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344C7CE-2E0F-45A2-B631-10C6277D5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41</a:t>
            </a:r>
          </a:p>
        </p:txBody>
      </p:sp>
    </p:spTree>
    <p:extLst>
      <p:ext uri="{BB962C8B-B14F-4D97-AF65-F5344CB8AC3E}">
        <p14:creationId xmlns:p14="http://schemas.microsoft.com/office/powerpoint/2010/main" val="2068622890"/>
      </p:ext>
    </p:extLst>
  </p:cSld>
</p:sld>
</file>

<file path=ppt/slides/slide4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43E474-D0FE-464E-84E0-862D15A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00DAD-1285-4DE0-B1CE-3943125FD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A4303-A595-40DA-9EDE-9EE18316A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E8E90-04EF-43FB-8C79-0405363F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246C22-27EA-4792-A601-90D6693D8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astrology-приложений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2EB07A-9C55-4A27-B918-EC4A022BD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FA420-D140-46B1-A660-C045C9A3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F6D923-ABDE-4872-8D0B-821CBD17E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DFBD0-B578-4802-9721-EC07B5FD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06C90D-FDC4-4F3C-A78C-8E491686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E2107-B1C1-4E61-B422-4DE585A5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403593-9F02-41E7-8B20-E330CF15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1E42BD-48A7-4540-B30F-B25CE22A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4748D-2836-479D-BBE6-C05CD5FB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4E8644-E7A1-40A4-9838-D121FD6F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B0B237-BBD2-4993-BB85-6825B2F1E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B99C1-594C-4A1F-B452-9A6E89C3F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022EC1-79BD-4A07-98E2-3242E483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 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DFA922-B882-4DF4-BA26-82397D7AF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90974B4-E089-4FBD-ABBB-30C253B2E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$797.5K/мес; 2.7M MAU; 64K payers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AF0839D-BEEA-4AC6-99D8-330FCB783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130A03-6948-4C94-BF8C-5E8EFEE50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~$0.30; conversion ~2.4%; $8.99/мес + IAP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4B327D-B9A5-4950-B69E-5965B7E1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8DD63-6247-4188-8256-173C964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paid conversion должен быть 2-3%, не fantasy 8-10%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D075A8-634F-4AF8-ACF0-747608E26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BFE8F75-FBB8-4886-984B-6C1AD52A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iOS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B2C5D8-709F-44AA-A072-36E87235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99808-BB62-4450-A51E-6D252F76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$718K/мес; 2.2M MAU; 52K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F0AACD-1CBC-40C7-B9A9-59E7BF871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AF1281-A27A-4CFE-B844-533EBC198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~$0.33; conversion ~2.4%; $9.99/мес + weekly IAPs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25099D1-DB57-4BE6-9F78-8C41C648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2AF643-E789-4FF8-9B3C-47438451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 guidance монетизируется, но trust paywall хрупкий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BBF19A-AFF0-45EF-8E74-F23DADCD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66FE3CB-D696-4646-ABF4-717DF0CE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The Pattern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F30274-5D85-43A0-9552-8C2B5F2E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A35DD97-3FAA-41BA-A90D-09E7C5724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$36.1K/мес; 160K MAU; 4K payers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61BFD7-8A58-4258-92CB-DABCB6686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C1F4156-7222-40B0-A6A5-90590B4D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~2.5%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6F54EC9-A4FE-41E9-BB3A-249FDD09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67BE326-CA24-4B9D-B699-2E33D72F7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relationship/self-insight работает, но depth сам по себе не гарантирует scale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438C82A-10CB-4780-9B2E-F1BA905A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442CEA1-CBEB-46FA-83EB-22F04BE1E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AstroSage Android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1ACD64-C654-475C-8D88-E2BBD7D5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E4463F6-C72D-4545-852C-8DE932A79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$547.8K/мес; 2.4M MAU; 34K payers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D104FA-BF96-4ACC-9CA9-7B754A7BD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92D71A6-0B67-4194-B696-D124517A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~$0.23; conversion ~1.4%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EDD0A4D-882C-4D20-B576-5CF77DD6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6ADDE8D-76F9-4EF3-B772-7F641F4B2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birth-data utility дает большой reach при более низкой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7F095A-0397-42B5-96C7-445A6D2C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E9765A-32B5-496E-A7F8-B186B8D90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AstroTime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17ADDB-6402-455B-8081-C9F54702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ABD59C-E765-4C70-A8D1-BC5E714A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$440.8K/мес; 242K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8310FFC-A045-455F-BD0A-18311F2C8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16ED280-30D7-41FB-9C9B-A8087B7D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~$1.82; conversion ~4.5%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8A1A98A-C093-4C95-9FAD-855AF503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88E9347-DEAC-4927-88F1-EBE98F1D0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urgent guidance mechanics могут поднять conversion и ARPMAU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CDB6546-6E3C-4645-8F4B-C1D87BDFC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3059DB-6900-4F61-B1CC-8142BAC1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 company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4A0E27F-EDE3-41DC-8C50-152D7CAF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39A9D4E-ED6A-4876-8FAA-EB423C714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Rs 1,214 crore FY25 total revenue reported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CA56021-2237-4513-965F-270AFF92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C487C42-5D35-4002-AB81-DA51D354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consultation marketplace, не pure app subscription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DA20827-D999-4EB2-8CB1-E044D326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42DEC82-76A0-4133-B02E-5218D3F1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human/expert layer — upside later, не MVP core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476C7D7-47D9-4345-8B71-DBD8F7918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Источник: оценки Rev.now и публичные отчеты/пресса. Это directional benchmarks, не audited internal P&amp;L.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CD34284-6C5F-49BE-8C20-017698B25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42</a:t>
            </a:r>
          </a:p>
        </p:txBody>
      </p:sp>
    </p:spTree>
    <p:extLst>
      <p:ext uri="{BB962C8B-B14F-4D97-AF65-F5344CB8AC3E}">
        <p14:creationId xmlns:p14="http://schemas.microsoft.com/office/powerpoint/2010/main" val="845020768"/>
      </p:ext>
    </p:extLst>
  </p:cSld>
</p:sld>
</file>

<file path=ppt/slides/slide4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564FE-CC34-411A-AB26-A5CCD89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111B8E-4291-407C-BE87-FA7BC753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2091FC-D54D-4AE6-BC83-96408B4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31465E-0303-4D06-8DE2-2BDE1E17C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939157-D979-4886-A002-D84E625A3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Unit-экономика mindfulness-приложений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2EC883-8F72-424F-92AD-92A0C2722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E6B965-1D87-4C28-8055-BFC177617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49B87-7D43-4811-8867-866769496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2D2AE-045F-47F3-BC75-251DB768D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B3992C-686B-48F7-921B-513D1B3C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D9DECB-B1DF-4144-8EA6-3C7E67F29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85C44-B81E-4180-BCCD-59EFB860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E3A51D-1D93-450E-B46D-39B17FFF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A654FA-930E-48B9-9102-AB4E7F9D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Видимая экономика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B7C86F-2506-4D67-BD9E-97F52279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2BC719-A00B-49D1-AF4F-76E60D1E2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71C29-83DD-4B43-AE3B-28519633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FE404-53CE-4166-AC58-A601A79A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brand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BA5BA9-7E0E-4EEE-93BF-98ECEE1D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11FCC5-B5C5-4C2E-82B6-1E0E9C47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proxy $300M/год; 4M+ paying subscribers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061308E-3D29-489F-9E7D-2639C328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3EBAE2-31A5-4610-9753-C1DC2A525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$70/год и $14.99/мес price anchors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42C2B1-6F71-486B-9C78-3AD53779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E21D5E6-D0F8-4AE9-9D87-B650C27F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 wellness subscription может быть большой при доверии и routine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9D495B-7844-4193-A2B9-2BB7D52D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0A4BCEE-F52F-405E-AF3E-92CE30F46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Calm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4A72B7-37B4-4C91-8C03-E1D81536F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E71587-D706-496A-B500-5783C591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$2.35M/мес; 3.6M MAU; 85K payers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90FDAB-EF6D-488C-9F6E-B2192EFD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A56F2F-6400-4EA1-A0DB-DD3AB1AA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~$0.65; conversion ~2.4%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FDFD5E-B7F2-41E1-819A-2F276EA5D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9C8EB9-9874-4D4F-829E-8F9BD7472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wellness может монетизироваться выше astrology ARPMAU, но нужна retention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6638E56-4087-4E46-8E6F-F04B33CC6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0A8956-9D8F-49BB-B68D-5A9B00FB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Headspace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5165979-0662-4B13-87C7-94249BE5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9130D3-36DA-43FE-A0D8-911F23FF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~$200M/год brand proxy; app-store proxy ~$39-40M/год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E83567-00DB-4297-99E0-7CDEAB8E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C87375-115F-4893-B3BE-9D2DA0BE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$12.99/мес price signal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F6FDBDB-81D3-4AD3-8EF9-E66D91DF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9D86F04-C93D-4E20-8AB4-9E34FD8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off-store/B2B revenue может занижать видимую app economics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B0A90A-C058-430F-923D-FA280EDA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4EFECC-B2A7-4B3D-8E03-404A18151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Waking Up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8CD249-56B8-460E-9D9E-F27BE034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6F55882-B989-4BB5-BF1F-F01D5D133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$492.7K/мес iOS leaderboard estimate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C1D32B-72B4-4C27-AF13-FAED981A5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098B08-2A4E-4318-81AB-4DC19C72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$19.99/мес; $129.99/год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15F14F-082B-41EE-B976-CFBB254F0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5C02967-233C-4050-9FF8-1C8F2A650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teacher voice может оправдать premium pricing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9E90A54-2602-4E70-9868-F6E69373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86712D-3865-4261-A8D6-B4099090D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Balance Android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6D1C19-A538-4EC6-8EE7-D5FA8A05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83C2269-A504-4115-9CE0-052A562BC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$180K/мес; ~317K MAU; 11K payers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D6C7AED-1F2B-45D7-8E49-18FECBB4D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CD56FCA-E950-4EEC-98A4-C01797E90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~$0.57; conversion ~3.5%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46D16A-0183-4C4B-954F-677A97342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18D7B19-271E-4FA1-9DE5-F34096BED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personalization может outperform generic meditation libraries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3D3BF6-E24C-455F-90AC-A44FB943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62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32166C8-E1C9-48DF-9F28-82C16D564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29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Meditopia iOS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109B1CF-9392-4979-949F-34AD9530C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962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0520FCF-1595-4820-9269-3E8895E9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29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$118.4K/мес; 629K MAU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A5FA7D9-27EC-47F1-8BEF-77A12E9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AFA0850B-4090-4D2B-B2FF-BEB4107C3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029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ARPMAU ~$0.19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FA76ABF-9192-4A98-AB96-130BD748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962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541996-B26E-4290-95B0-2050D21A0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29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большой MAU без сильной monetization все еще может быть тонким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4BB912A-054C-4D80-B380-F0CDE11EC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 должна взять daily ritual и annual plan logic, а не строить гигантскую meditation library.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801429A-D7B3-4C7F-98B9-5ACB286E6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43</a:t>
            </a:r>
          </a:p>
        </p:txBody>
      </p:sp>
    </p:spTree>
    <p:extLst>
      <p:ext uri="{BB962C8B-B14F-4D97-AF65-F5344CB8AC3E}">
        <p14:creationId xmlns:p14="http://schemas.microsoft.com/office/powerpoint/2010/main" val="1581553197"/>
      </p:ext>
    </p:extLst>
  </p:cSld>
</p:sld>
</file>

<file path=ppt/slides/slide4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6806D5-A10F-4C56-8134-9B4CF604D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551A-F1ED-4D43-8800-981389BE9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C4D42C-3A15-4E10-8CF6-1FB2AA3B7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EA88A-CDA2-4D1C-AD72-8B41CAD5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0282E8-3610-44C2-9984-47D97AEF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Экономика AI companion / avatar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D790E7-9A78-4195-B3AD-5504440E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90A644-CE94-43D2-B85B-AE0969256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A3A2EA-5376-4F32-89C2-CFC1C5BC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MAU, платящие, конверсия. Смысл: какие платные поведения уже доказаны рынком.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A95268-0BA3-4C06-BA59-E114EDA5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694CD7-39DF-4101-97E7-1739C625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Продукт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308C5-2CC6-4E3F-91E9-6764B3EBD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244A8-5BF4-4DDB-AF5F-DBB311129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Revenue / scale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577A4-1755-4C21-AA45-E989DBA82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2A6180-A3F9-4B71-8264-099F6F58D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За что платят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D5F0E9-CB59-4E80-9656-B0484C49F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D7CDC5-B4C3-4390-A736-ADA7D6014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85367B-25A0-45E9-BFC7-85EA52EF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78CDA1-DEBC-4C2B-890E-5F098CE6B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Character.AI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444E40-57ED-4A9F-8773-A5735DD96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4107C1-4BAC-45F8-8A10-60A3FD1B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$30M-$32M ARR proxy; c.ai+ $9.99/мес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937FBF-8886-4D12-94D8-6EB29163E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7ACDC0F-A1C5-4775-A887-8427C54A4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priority, memory, engagement, chat volume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96CA9C-A927-4205-ADA2-BB3353AA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840B7B-4560-45AC-BC4F-97B8B48B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может монетизировать engagement, но inference cost и safety доминируют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292FC4-231F-461B-BC12-66CE0306B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852037D-4AE5-4EB3-8CA2-D86A5191A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Replika Android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EBAC89-AD11-4122-BED1-DD05E10EC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37BF18-E125-41E8-A96B-6C89863B7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оценка $2.36M/мес; 99K payers proxy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F107C6-DC6F-427C-A680-1CE34FB0E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9575CF-5D07-4AE0-9746-F3960ED5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AI companion, avatar, memory, voice/video features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A8959B-9581-4487-BA4C-AE493B854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1AD8FB5-D0FA-4FA9-AEE8-258622084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пользователи платят за emotional continuity, не raw text chat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E6F9BC-1670-4FF4-94EF-89402A74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3D6BE21-AE53-4113-824A-9529DEB45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Finch iOS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7D3906-31A3-468D-B725-B9CF1A625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2D9583-5DBE-4155-98F6-DE9126CA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$1.5M-$2.0M/мес public estimate range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89E0E18-9BBB-43FD-8D8F-D35C3D12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29E110F-3964-4AB9-9161-1E51C515E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self-care pet, soft progression, daily loop, Plus features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04F6FB6-4B59-4776-B152-53DD57CEE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20F6B1-0431-44A7-B074-D4CED3DB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companion mechanics могут монетизироваться без scary “therapy” positioning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BC982E-1069-4965-8C2F-AB13D6319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B6F604-CEA6-4510-B27B-9E6C6B0EF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D-ID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DAC201-2AB5-49D3-A0AF-22BF3259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2FC6845-4099-4372-AA3E-B1B83946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API pricing показывает, что avatar video — paid compute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3274497-0BFE-48D9-8B63-2855C97F3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9E22675-FA66-483F-9B46-5AEB9005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$0.05-$0.0667/sec или plan/credit based pricing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273BE3F-BD4A-42D8-8185-5AC002D2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BAFB624-1D13-41C6-ADE2-B274D161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 — premium event, не free habit content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F910AD-7B6E-4444-9370-E5E3F1F7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90C99E-5360-49AE-B3E9-84F4E2DD6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AURA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72E2D6-2DCD-4B28-B455-0D1222D4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8DAC4F0-DE22-401A-AF45-E0A790314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$9.99-$14.99/мес + tokens target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343DFE1-BA3B-42D5-8D58-E8B22AE7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9DE6470-404E-4F54-8E9F-B74BF4BD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season, assistant memory, Life Canvas, rare video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613FED-813E-4938-B9EA-509719C0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BD2003-E2F8-49B9-BB97-0EB0DE225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должна быть cost-controlled AI product под premium visual wrapper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FE4EED5-948E-4E6E-AF77-9522F1E7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Аватар — не декорация. Он должен помогать пользователю понять, почему изменилась неделя.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E4B17A-B9B7-4BB1-BBFE-7BC75393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44</a:t>
            </a:r>
          </a:p>
        </p:txBody>
      </p:sp>
    </p:spTree>
    <p:extLst>
      <p:ext uri="{BB962C8B-B14F-4D97-AF65-F5344CB8AC3E}">
        <p14:creationId xmlns:p14="http://schemas.microsoft.com/office/powerpoint/2010/main" val="1547013727"/>
      </p:ext>
    </p:extLst>
  </p:cSld>
</p:sld>
</file>

<file path=ppt/slides/slide4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95AB8D-32C4-4070-AC0D-1AC9511F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DB669B-2EF6-4B9F-BA28-7E64352ED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76A2C0-F3DE-46ED-B491-3F1755463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BC8DCD-8C82-4932-A915-939FB732E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638FB9-8C1A-4500-A238-3B4E671D5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Бенчмарки стоимости генерации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54D1B6-CA93-497D-B7F9-D90060562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367662-4ECC-4B49-857E-41963D97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B4A6E-5362-4B4E-8864-3B3AB5A6F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8BD5B-663F-4252-8D60-0B2F3A8D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FE5ADF-EB13-40E2-9104-18372467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954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Layer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5ABDEF-3DE2-4D14-A395-E798AAC58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4287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3440C6-5E96-49DB-9E0A-9EE9D9AF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4954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Provider /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C9820A-C74C-476E-AC3D-0CCA91370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287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A51541-978D-4B86-9986-11E110211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4954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price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01AF3-AF19-48E0-9324-71C9448AA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4287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A2B724-D089-40B1-BE99-2A56670E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4954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 для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FB2A48-832C-4DAE-A0B5-3E358E1E0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80F4DB1-551C-4813-8851-FFF3EFE84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97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LLM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1B10F4-1E19-4DE3-BE34-5C0BBD09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9431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4A31849-65EA-4D0E-841E-6D38F9EF7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0097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GPT-4.1 mini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71A875-25CE-4733-9277-17D05F9E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431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335232-ABF7-4C50-B0A4-1A669A80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0097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$0.40 / 1M input tokens; $1.60 / 1M output tokens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1CE0F7-EA30-4A37-AB73-4CB090F3E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19431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48119A-1BC0-4C29-B759-5E259B36F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0097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text loop дешевый, если prompts структурированы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3A71AD-D028-4DDE-AFC9-DC47D757A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F7685FC-8D41-4B81-9A78-75F008BBA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Image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E4B1AA-5FD2-42D1-B7CF-A8A21479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4574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E9D5A39-A5C1-448D-80EC-0831D48F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5241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OpenAI Images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E16AA54-B0CF-4DED-A681-0287B023D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574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42741-47B4-4F64-8E73-96F18AF7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241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~$0.01 low / $0.04 medium / $0.17 high per square image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725328-DAF7-4AB9-8C3C-4C8BEA4E0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4574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688C00F-C61B-4A30-9CE3-69617D4C2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5241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Life Canvas можно включать, если image count capped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3C792D5-A460-4C61-8776-24A17077F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9718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EB0F68-5319-46AC-81BC-0A764EF27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BD96ED2-FBC1-4F28-BB5B-98CB79EDF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9718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8185A-BEAD-4F3D-B32C-DFCAE3330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0384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Google Veo 2 / Vertex AI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49D941-D9D5-461B-ACB7-7363B4DB4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718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91F4B6D-1292-4C85-956A-8E04D521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384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~$0.50 per generated second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49C009-931D-40EF-AD63-2C8FD7BA5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9718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58ABA3-00C0-4B48-8A4D-C51C583F6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0384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$4.00; нельзя делать free daily content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D271828-2B1D-4B34-9140-802ABA9D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861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303E26A-CED4-4DC2-9A36-37704B05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528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Cinematic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A8E8D8-C73D-4D72-B387-717BB836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861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35E8BFB-A56B-41AE-9299-AB07F4C3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528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Runway API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7C70D0-D791-4B26-886E-5B1A7036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861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30F9FA-780F-4FD7-9D70-6AB6960D5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5528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 per 5 sec API example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01EA26A-2A3D-4397-87EC-EB2FB719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4861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488ADD0-DCA7-4680-AD54-DDC20CC83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5528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$0.40; подходит для тестов, но нужен retry budget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13D03FC-1808-46B7-98C6-6F117A0A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0005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E80B76C-5E0E-4208-BBBC-0B85CFAC0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671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Video model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13A7DA3-906D-4435-892E-B4670CEF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005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FA11134-388F-4C71-868A-9178880CC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0671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Wan 2.1 720p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6542953-61A6-4F8F-924A-C189CDF57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005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0ACB0EC-2BFB-4AF0-9E98-F0C87F4B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671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$0.24 per output second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4A8B95-6CE5-43AC-AC7E-054C5A243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0005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5F84E4D-8BCA-4D72-8739-4A868A55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0671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sec ~= $1.92; лучше как paid token /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D06A084-CA4C-454A-B87B-E84DAEB8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51485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34B1CCA-E300-482D-BDDC-5B6DB0A4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8152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Talking avatar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471DACC-1779-4B58-A23E-B72CE9DE1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51485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5D2032A-6A9C-4C7B-9DFC-E3922738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458152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API Avatar IV/V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2D5B81A-E3BA-4B16-A955-FAE7C8DBD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1485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36F660E-D19A-4078-8A91-139D8EEB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8152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$0.05/sec photo avatar; $0.0667/sec digital twin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F061F6E-F54C-4213-B034-6FBE2560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51485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6D2E91E-F420-48CA-ABD2-0F0E5F250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58152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sec ~= $1.50-$2.00; не default daily 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956BC39-253E-44A1-826C-B301F85C0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29200"/>
            <a:ext cx="14763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18B1405-C192-43BF-9CFF-B9CBC2B61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13239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Avatar API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B7D5D5B-B28B-45A8-9478-213709ED9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5029200"/>
            <a:ext cx="23336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6A8A460-0C1B-4D4E-81B6-C18891E8D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5095875"/>
            <a:ext cx="21812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D-ID Build plan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443E6C-74C1-401B-B4CC-C5961DDC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5029200"/>
            <a:ext cx="2952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6DF1B4D-372E-428D-AE4C-BDA02AE35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095875"/>
            <a:ext cx="2800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$14.4/mo annual plan; up to 16 offline video min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9965DDB-3EFD-492E-A5F6-9359CC77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5029200"/>
            <a:ext cx="3429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92517C2-1177-4483-B5D0-69FDA9B5B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095875"/>
            <a:ext cx="3276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~$0.90/min plan math, но limits/watermark/credits важны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F625275-AEB1-4FAB-9AA6-5F12C940E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Все цены — public API/pricing-page signals на июнь 2026; exact billing нужно перепроверить перед закупкой.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9625795F-3A0B-4803-8904-617D69EEE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Источники: OpenAI, Google Vertex AI, Runway, Replicate, HeyGen, D-ID, Luma public pricing pages.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43CF3F9-87C0-43AA-B77B-78A4CAC3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45</a:t>
            </a:r>
          </a:p>
        </p:txBody>
      </p:sp>
    </p:spTree>
    <p:extLst>
      <p:ext uri="{BB962C8B-B14F-4D97-AF65-F5344CB8AC3E}">
        <p14:creationId xmlns:p14="http://schemas.microsoft.com/office/powerpoint/2010/main" val="283632165"/>
      </p:ext>
    </p:extLst>
  </p:cSld>
</p:sld>
</file>

<file path=ppt/slides/slide4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C55172-76E6-4202-9024-330EA764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4FD8F9-A942-4C1A-ABA1-19A957E9C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1AADC6-E9A2-4120-A1A6-F0E7AD62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E089B-E03A-455A-956E-DE1B43D07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AFC00B-2388-4168-8064-50223C1B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Стоимость пользователя / месяц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14476D-EB29-4C88-9B03-446C0B263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CE1167-94E0-49C0-B9A2-1877A770E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1E9A7-FB5A-404E-B49F-C62209765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3533FA-E354-480D-B50B-A04FF3D43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668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57CCF4-CEA6-490C-91FF-48404940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335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Тип пользователя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C23FA5-D452-4568-83FE-8A58D6841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4668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291703-0CEF-4CF3-9808-9618D5ED5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5335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Usage assumption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8D5192-55D1-4116-A18C-A0D5B4124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14668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253CC5-40E2-4813-962E-82DF7C874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15335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Variable AI cost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9CF7E5-2180-4522-B199-EC02D19F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4668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375680-7089-4124-BE8F-DF68861B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5335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Бизнес-смысл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226434-1159-4196-A260-2AC3AFD6C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193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D83F73-A428-42E0-BD4F-12F534DE0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859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Free active user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E003AC-C10F-42B8-A3B2-670C2E37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0193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6D4FC7-6917-43F3-BAE6-0EEC8AA8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0859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8 text loops + 1 medium image + no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C7A90-9341-40A6-B4F7-54FCFC926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0193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47E35F-7F27-4A85-BEBA-EEE569C86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0859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$0.10-$0.20 / MAU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22339-8121-40C4-BF25-AA713FF5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0193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4173CE-AB53-4E32-BABC-B1FA3C7D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859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безопасно, если onboarding capped и нет free video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A10CCA-90AD-4AE4-8C55-113E44809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717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FD125-23FA-4334-8F3D-BCA3D4EF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384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Engaged free user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9209FE6-256E-4655-8F07-DB74F479E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C37E20-0AFC-48E4-A9A6-6D0E173A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6384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 text loops + 2 images + no video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313C41C-1651-4B9B-878F-43501BD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25717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4250BE-7E48-4DB3-87FE-9F87C6089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6384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$0.25-$0.45 / MAU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F13227-9706-4139-AABB-E7E63DF8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717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CBF680-159F-4331-92DE-631EEBCE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384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допустимо только если видны retention и conversion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A555777-2BA0-449D-8D18-2A0A0590E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242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26F7582-CAA3-4462-B653-6B91AD17B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908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Plus с Runway video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DB5CA9-1E14-425C-9BA1-CD6C0915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242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136985-D5AE-4B03-951E-07EE6634D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1908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 cards + 30 images + 4 weekly 8s videos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7A0EA01-1030-477A-ACDF-96428D5F3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1242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DED943A-BF7C-4E50-8C5F-45B525E4B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1908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$2.40-$4.05 / payer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E81E0E-EB19-42E6-B823-9489BB94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1242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C1532F5-1FE3-4947-A843-95F67FD3E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1908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$12.99-$14.99 может держать margin при capped retries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37A54AB-7FDF-4F40-8017-4C2BA030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766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67CA3E0-96CE-4602-A01B-5B50026E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433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Plus с Veo video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AEAD31-5039-4D37-97D6-16556B4E4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6766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D3BEF6F-9F9E-4E5B-ABE5-4205B4B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7433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 four weekly 8s Veo clips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DFB97CD-290C-4DC3-AB67-BBC588C2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6766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63B5A4-4835-442D-9A99-B339B32B9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7433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+$16.00 before retries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828F745-E646-4F49-BE25-AA5D0F2A6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6766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7DFA1AC-3B52-4ADC-8282-9B6294F3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433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слишком дорого для базовой подписки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F6EEB88-1987-4198-A37A-DA4C03CD1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2910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971F51-5DF7-4E48-9611-7EE4A4C36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29577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Premium avatar token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E71F3F0-050E-4E9B-9E84-B15333D1D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22910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C0E73AE-B910-4029-97A5-BC4545BE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29577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HeyGen / talking-avatar moment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0543254-55CC-4968-B854-5367398E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22910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B887528-17AB-4BFE-B9D6-93FD911C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29577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$1.50-$2.00 per 30 sec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06534AB-95CD-43D7-957F-86DC9B8B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22910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ACBB952-DF4A-4D6D-B38E-0C5101CA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29577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продавать отдельным pack или milestone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847093E-BA0D-441A-B459-FAAE70B67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781550"/>
            <a:ext cx="18097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F5C5118-585B-408D-9029-3A86D6145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48225"/>
            <a:ext cx="16573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High-quality video token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0235BD5-E8D1-4F5D-8C11-DDD1A7594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781550"/>
            <a:ext cx="3286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9FDEE4D-F7F6-40B8-95EF-D8DFDFBEB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848225"/>
            <a:ext cx="3133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Replicate / Veo / premium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7789AC7-7F19-4F89-9EBC-48902F961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4781550"/>
            <a:ext cx="20478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BB9D664F-6E7F-41E0-89ED-F945DFFF0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848225"/>
            <a:ext cx="18954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$1.92-$4.00 per 8 sec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246148E-9CDA-4999-8E5B-D4B836D50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81550"/>
            <a:ext cx="3048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15C72F9-860D-404B-82BA-866220EC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48225"/>
            <a:ext cx="28956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price token by model quality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496D822-C712-4EFE-8925-2001CA8B9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B2BF6B-179B-4827-8DBF-1CC1764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10200"/>
            <a:ext cx="95059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= LLM tokens + images + video seconds × provider price + storage + support + failed-generation buffer.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DCBA74A-7577-4AB0-A414-AE61D602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857875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Daily product может быть дешевым. Weekly video жизнеспособно только как capped paid subscription benefit или token.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579237D-463A-4263-9CDA-580921853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46</a:t>
            </a:r>
          </a:p>
        </p:txBody>
      </p:sp>
    </p:spTree>
    <p:extLst>
      <p:ext uri="{BB962C8B-B14F-4D97-AF65-F5344CB8AC3E}">
        <p14:creationId xmlns:p14="http://schemas.microsoft.com/office/powerpoint/2010/main" val="1341110021"/>
      </p:ext>
    </p:extLst>
  </p:cSld>
</p:sld>
</file>

<file path=ppt/slides/slide4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618248-908D-4D9C-BC5B-4053F1EA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91A431-A274-4E88-A4AB-846271F5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CC3C28-D2F1-44A7-8BFC-7E60927E2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8B6BF8-F066-45D4-BB6E-2AEF241F0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E889C3-C117-4DF9-A31F-09959C47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Stress-test стоимости видео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8A605B-000C-4F01-94B7-AC2BE139E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1E3B2-5216-4914-B956-A818C76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281426-24C8-4DE0-AA61-3FAAA61C1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себестоимость free и paid users. Смысл: не должна ли генерация съесть маржу подписки.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07630-1563-41F9-96F2-2F179AC5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049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FCAAE-D952-4ED7-A7F5-1045EA9C1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716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C28E02-80B1-4DEB-9787-F53504CF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15049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7040F4-AEA8-49C6-A75C-57B1AD58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15716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100 users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64474F-7578-4F7D-B974-412ECCFEF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5049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6CC1B2-BEF2-4CD2-AC11-D153C798D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5716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1,000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988C59-33D2-4AA2-BB64-4763E720A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049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1DE74C-4914-43CA-85E1-B5A3DDE02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5716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10,000 users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B1CA03-5963-41FD-A16C-E015E5144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174A54-EB37-4A62-974E-DDD271611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Вывод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16D87F-BAAE-404C-8D02-DD0444F9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574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A3999C-A2DC-4E80-B7E2-491E4E12F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240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Runway clips / payer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87424-13A2-43F2-8665-99546322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0574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BF14216-F64D-4FED-93DA-75BD588F8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1240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03A53A-BBB6-459B-AFDD-7916359FF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574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755484-0F47-436C-9DF7-8A919C9FD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240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631B9C-4964-458B-BD87-C156205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574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009E37-3324-446A-A88F-7966A2235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240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8F95E2-D7FB-4F3F-9830-79EE1DB8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574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49E6CD-C802-4089-BBA0-8B0F3CAA1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240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жизнеспособно внутри $12.99-$14.99, если paid cohort реальный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27D465-6010-4DA9-A446-1FF57B20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098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FCB9CC-78D0-4117-9C4F-657DA3A95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765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4 weekly Veo clips / payer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D6E7035-5106-4D4B-A0C5-ED70C192C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26098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FD2056-2166-42B1-B73E-D8E9F9592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26765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$1,600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84D2AB-2BBE-4421-9D92-0A7918E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6098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3E8EAC-56E7-48D1-8358-5CA7ACE6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6765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$16,000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C2C967-34B2-4452-8CFC-56F959DA2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098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D66861-0736-4063-B1E4-6DF5EEE7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765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$160,000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EE83F-2162-4936-93F7-B80DAAC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6098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F0A1D8-8DAD-4A1F-BFF3-E2487ED0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765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жизнеспособно как base subscription bundle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F1EB7C-BBFD-4B8C-B360-54AB98F7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623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3B0FD9-4E6D-4023-A2EC-BB5E6071A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289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free Runway trial clip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F146FA-2B1D-49BC-9C5E-25785368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1623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A01040-C2BE-47D3-9DCB-64B966FE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2289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 COGS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04E4D2-52C2-49EA-88BC-676C8F1C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1623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13D27CC-0903-4604-A293-6AD14BFC4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289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$400 COGS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894E66-D953-492D-8FCB-3849F302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623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C41529F-75B1-4AA1-B5E6-F91CBD8ED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2289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$4,000 COGS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B7907B9-72F7-483D-B885-FF1633D7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623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720F0AF-2C2A-4923-B834-72C03FA1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289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если резко поднимает paid conversion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ADB9B5-9E2E-4829-9597-DF28C1545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147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BD5A858-1C5E-446A-A860-8240D893E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7814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premium Replicate/Wan clip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EEC5F66-9149-42F7-BC83-93AED962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37147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8E7784F-3F41-48E1-A731-0AEA5751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37814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$192 COGS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CDB174E-1DAF-4B82-808A-E4791002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7147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2B8DF01B-BED8-4A4D-B9A2-2C6BA24A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814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$1,920 COGS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E9F0095-9746-4B6F-BA43-026ACC51D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7147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737B67-ED57-45C6-95FC-7A89E6E4B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814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$19,200 COGS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2D4FF1F-4080-4F91-9E95-4BE29C2C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BB1AC4-F254-46CB-9C90-6281E8D2E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7814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нужен $4.99-$9.99 token или bundle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D90CAAA-EDB4-4DF3-B3CB-8B71421FD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26720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058E34-19D7-4FBD-A1B2-58DEA505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3387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 paid 30s HeyGen avatar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35EE716-EEEF-4443-B2E8-57EC7068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26720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A02CDD4-9A5F-4489-BAB2-10B53B03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33387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$150-$200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24F2865-9498-4F40-8AF1-6597573A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2672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D8DFB88-2544-4B72-BDFA-DE9F60E4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3338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$1,500-$2,000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C33DFDD-3869-475E-8A46-B9E5C3DA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6720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B205B3E-8F4F-46AE-8B56-7746BF2B2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3387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$15,000-$20,000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77D4062-E3DA-40B8-989D-C18C22BE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6720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A110C5F-B13E-4036-90FB-0264CDFB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33387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для premium forecast / assistant moment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739D5175-34CF-4CCA-ACFF-52A61FF08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819650"/>
            <a:ext cx="25241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CE6D427A-A66D-429C-92A6-B6F9F040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86325"/>
            <a:ext cx="23717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30 daily Life Canvas images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86DF60B-7C4D-4E38-B4AB-FA95FF7C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4819650"/>
            <a:ext cx="1476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885ED6B-186D-46AD-9023-434DB111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886325"/>
            <a:ext cx="132397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$60-$120 COGS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0C5F7E9-2060-49E5-8264-15336655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8196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60D5B8B-7DFD-4AA6-8843-8B38D88A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8863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$600-$1,200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9CF60882-69F5-4E83-A13A-184A0716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819650"/>
            <a:ext cx="171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9153A4F-5FD6-43FF-99B4-8E2174224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886325"/>
            <a:ext cx="1562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$6,000-$12,000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6E9A8E6-105F-49D5-9000-DF661DF15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9650"/>
            <a:ext cx="2857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E35D0270-BDD1-4283-B9AC-AE375643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86325"/>
            <a:ext cx="27051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безопасно только для paid users, capped retries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F11472D-EEB0-4CC1-AFA5-7563F790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10250"/>
            <a:ext cx="8572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Решение: Runway может быть weekly subscription video; Veo/avatars остаются premium или later.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9672EAB9-D563-4B43-8205-4ACC66B81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47</a:t>
            </a:r>
          </a:p>
        </p:txBody>
      </p:sp>
    </p:spTree>
    <p:extLst>
      <p:ext uri="{BB962C8B-B14F-4D97-AF65-F5344CB8AC3E}">
        <p14:creationId xmlns:p14="http://schemas.microsoft.com/office/powerpoint/2010/main" val="1377199897"/>
      </p:ext>
    </p:extLst>
  </p:cSld>
</p:sld>
</file>

<file path=ppt/slides/slide4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15735A-ED3D-46F8-BCA1-D6267626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0A1889-A374-4891-832E-5E2EFC22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F1DBA6-05DF-4CA0-8E86-7DD42630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D0B391-3D15-4337-8CB6-23BEC046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F4F669-E47F-4934-AB0E-BCB2F214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Базовая финансовая модель AURA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E022E-C7D7-46FD-84CE-AD61CCC38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B7A3A0-5253-4BC8-AB70-10E744EC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B58775-3170-4AFD-A207-2C5EC5C3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7BCEC-B308-4088-B3A3-67C522F7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7B192F-E027-47E0-8EE0-B2DE32B4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81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Сценарий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D09D4F-89CB-41CD-9127-059D31D0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CA6A0-AE28-4D76-A765-AF22E4998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B68434-6411-4634-99C9-C9648C5DF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4E450A-894C-4BC5-8512-4FA911B43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AB34AE-B7DC-4CDE-8255-D9A1F78A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714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E3573D-FDE7-4BEE-ABEE-73488EB06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81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D9C97-5905-480F-A8A0-934A5BB80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B356D-A2E3-4F6E-8770-7193829D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57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conversion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A1A34-42B0-4B94-A2EF-8351203F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F81C49A-E43F-404E-92CE-4D30B52B3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1.5%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631D95-D445-467C-9164-CFE9A3D86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E7CBDF-1C6F-46BB-98E1-8251FE58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BBB74B-543C-49A3-995D-7290D9E5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90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AC0530-889B-45A4-A5F4-61387D7E5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257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C1FA10-C802-442D-B603-482E83F4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8DCC528-FC76-4368-B170-B8348FBF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Payers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11BE994-C8A3-4828-9A30-5E5BA6E7E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C8F5AF-951D-43C0-8461-98F099C6E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8CAE09-483B-44F8-884A-EE67DFDC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EC3267-A238-44B4-B27A-04CDB73A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8951B1-3C9A-408E-881F-240540DD9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67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ACF6C-6B75-4A47-A5F0-63006B3BD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733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40710C6-ECC7-4A5B-AEFB-4809CA83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24BFD1-0531-4C34-8BD7-80FE1845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Gross subscription @ $12.99 blended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8E4EFCF-3D0B-43F4-B779-41924E5C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4EEE0E-8BDE-4B66-8A46-98E7B8B7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$1.9K/мес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A74F8C-B81C-4BA6-840B-C7452E22B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15A6C5-9A2F-4BC4-8118-030E54FBD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$19.5K/мес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5151FE5-FFB1-4F2F-B664-D40AE4B1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0CCF43C-8378-4A8E-B6EC-697EA5FC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2099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$87.7K/мес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1746BD-D160-4368-B9EF-648EA551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5450A64-F61C-425D-A2EB-9DC00AA8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Net после 15% fee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E4A2E2F-6563-4DD9-A8BB-12757E89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758755-4F72-4C6D-A4D4-6587D58E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$1.7K/мес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6D03A08-4777-4600-87F1-A95274BF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697313-C0C4-4883-90E5-598F479AD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$16.6K/мес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8AE52DE-44AC-4B1F-9A99-1974EF52A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ED167E5-C91B-4BD0-9250-93901CE9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6861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$74.5K/мес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78DA0BE-9B3E-41B8-9C7C-AE20AF920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9575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470C91-4BF2-4A04-AE97-BC1C2F5A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6242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49EAFC-A829-4EE4-94C7-6F8018F48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3E6FA0E-EA96-4959-B3FB-DD83260C7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$0.4K-$0.6K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7ACB80C-FD8E-4222-8220-2E197580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90780B6-A49C-4013-A285-9F6932759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$3.6K-$6.1K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562E9F4-5932-481F-AE3E-264CC7A4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0957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3E1FA94-0A50-4D76-8E8D-A21A84D8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6242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$16.2K-$27.3K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6342CEC-F1E0-4CFA-A487-1009A9E92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0"/>
            <a:ext cx="2286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023906-B6F6-48BB-8C88-7A89906D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38675"/>
            <a:ext cx="2133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3BE39D7E-D4F2-4BC5-92D9-A73B4D94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26CC08-B484-40BB-AF67-48C5C049D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тонко, пока не доказана retention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3439A51-8529-4C55-A872-68B28049A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F420680-2B91-4B59-9044-2FECFF75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работает при capped free COGS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1B42E74-3E61-43D3-9B10-61BC6B550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5720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64F69A2-6435-4A4A-83C6-2584FB168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38675"/>
            <a:ext cx="2324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сильно, если annual + token upsell работают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D167A07-E956-4F4B-8A6E-BEC1D5F8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86375"/>
            <a:ext cx="8953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Base model считает blended price $12.99. $14.99 — верхний тест для полного Visual Plus с 4 видео/мес.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996EB7B-0BDB-4A5A-A329-3FEE6F47D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05550"/>
            <a:ext cx="838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77777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777777"/>
                </a:solidFill>
                <a:latin typeface="Aptos"/>
                <a:ea typeface="Aptos"/>
                <a:cs typeface="Aptos"/>
              </a:rPr>
              <a:t>Assumptions: $10-14 ARPPU, image-first cost control, premium video gated. Нужно пересчитать после prototype telemetry.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0301EEE-A34E-4EE7-B574-809ABEC62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48</a:t>
            </a:r>
          </a:p>
        </p:txBody>
      </p:sp>
    </p:spTree>
    <p:extLst>
      <p:ext uri="{BB962C8B-B14F-4D97-AF65-F5344CB8AC3E}">
        <p14:creationId xmlns:p14="http://schemas.microsoft.com/office/powerpoint/2010/main" val="1404514203"/>
      </p:ext>
    </p:extLst>
  </p:cSld>
</p:sld>
</file>

<file path=ppt/slides/slide4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88BDEB-4594-4F72-A283-5D02C67C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57671-8919-4313-9CC4-219EABF9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2D6F9B-6FD1-4320-B3EC-9499B10BA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F2899E-5881-4835-8FF3-2A4B2181C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D534B-9315-400C-9E63-4EB03BAE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Операционная экономика при росте пользователей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9A8634F-8BB9-456C-9689-F5025A8F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6613D9-8006-43B5-B9F2-46DD8F1D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F3DC9-E350-487D-9B8E-7052A4CDD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6AD1CF-F00F-432B-BB8E-D2BF70165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B12898-363D-42B1-A512-2D045EC47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735AC9-F9B7-4E27-8F53-78212CA2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9DE9CF-5150-424F-BFFB-B2EA11F66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1k MAU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DE41FE-4971-4281-9906-070B1D82C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03AAE7-B819-4C52-BFC3-52E8A8A9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MAU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824678-CFB8-4553-99B3-165EE2B6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D79E97-1D9F-4028-8C79-8D51D2A41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50k MAU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6F8353-E965-497C-B984-869EBCA00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D84571-F10B-4B63-84CC-EBB2198A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Платная конверсия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3BC4F7-2E31-47BA-8656-109F7CCF1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1B7F89-47C2-43C8-BF1E-5C1BCF44A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2.0%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BE1D46-F460-49EE-9A73-21FDDF194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42EC3E-3FFA-438D-B832-2B3F85464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394991-2899-4D45-90FC-EC344B19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19B30F-E529-4DAD-B2FC-B6B24DF3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3.5%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EC9880-E933-4F20-AC02-72A37DF23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DF536E7-5450-4052-80D1-C73297559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пользователей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DD17C1-A0C6-452F-A1F8-C5A0E9E58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FB2E91-EC50-4CBB-A743-5A80788E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F68A79-5461-467F-9C86-89122834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E7B64C4-782B-4154-A5A6-AE2055AD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300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789CE6-DB12-4ED4-978F-868AA005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997117E-8387-43BE-94FC-BAA13714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1,750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02C4A6-5284-4204-9708-F67ECBC18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20EA13-CC51-4363-B759-507DB0907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Подписка после комиссии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0DF43EA-83ED-4F73-BC68-56250309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01C399B-8455-4AF2-B33C-05D796F3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~$220/мес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0331F3A-025A-4AF7-BB55-B14572CC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7564B90-4F6D-43ED-AEAC-0AA3DF37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~$3.3k/мес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EB954F-F4F5-488A-8D55-908D99D3C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73DD1DB-85FC-4636-95BE-2529BF27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~$19.3k/мес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9D46EE-C789-4635-BE40-8565219E1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E3A2D11-9827-417D-9BD2-A28126F6D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генерации paid users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8607F4A-312E-4F4E-B5F4-DC446E92B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EBDB54B-94F4-4042-B849-30FE61B3B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$50-$80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6ADF77-6DC9-4313-A1D7-915604C3B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90950DB-8317-4F1F-A42F-6DEFD46D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$0.7k-$1.2k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92E88EC-76A6-4269-A7C2-DBCA922D0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D32D7B6-8ECA-4536-814C-B8E839B4F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$4.2k-$7.1k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C1EAF7C-5F83-44AB-9BD9-0A726EB03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0BDB50C-D55E-46CE-876A-0B3178B82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COGS free users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64CCB33-6D9D-4288-8BF9-FCFE2FF83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4FB07B1-B245-4426-8541-5A050F647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577094-4CFD-4E18-B2BF-A3057CDC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F18507-FB90-4D9C-88FE-A8DE71951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$1k-$3k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282B2B9-57B5-47C9-8814-80DD1A24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9A8798-58C7-4F7A-B5B6-CAD26DB4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$5k-$15k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393370F-5647-4878-9E7F-965E859B5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8445789-8FE8-4134-B008-7AB8897E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Инфраструктура / support / tools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7491EB-7D18-4E04-838F-71E53D2E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791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5FC877C-4963-443F-8707-1E4FF51F3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857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$100-$300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2799EC8-4291-4CE1-828B-EA738EFBF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791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8D5224F-D4D4-47D7-A16F-5CA18AB7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857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$500-$1.5k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0FB32DE-A944-4389-A35C-B8607B335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791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4F56482-CE41-4AA1-B468-ECEB1305E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$2k-$6k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E0E62FB-7B4C-4A84-9D57-0F7B0AA8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98A404A-2842-47FD-8368-C5D3C8A0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Вердикт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E3D7869-EDF1-4446-AC3D-22014771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6477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F0F1E73-F988-4913-9DB6-3F443AA7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6543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только обучение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8937C9A-8FED-492F-AEFB-3256E13FC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6477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EEF2EB3-8137-4AB8-8CF5-B14BE9BEC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6543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revenue-сигналы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B0EBF6A-D944-4107-B608-EDABB22C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6477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8FE7E5-0A23-42DC-93C2-B05C83EA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6543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может стать small business, если CAC низкий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0168A47-5218-4662-AC60-5E1C3414E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49</a:t>
            </a:r>
          </a:p>
        </p:txBody>
      </p:sp>
    </p:spTree>
    <p:extLst>
      <p:ext uri="{BB962C8B-B14F-4D97-AF65-F5344CB8AC3E}">
        <p14:creationId xmlns:p14="http://schemas.microsoft.com/office/powerpoint/2010/main" val="1729417676"/>
      </p:ext>
    </p:extLst>
  </p:cSld>
</p:sld>
</file>

<file path=ppt/slides/slide5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610B57-B2B0-4001-9BD1-3A100CD6B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E0B32C-3FE9-4278-B3DE-0F55E47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F83F7B-F191-4782-AF7E-B6E6A7D4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946AA4-4323-4187-B275-169A5C35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CF3EB-0BC4-478C-BB6D-81208A33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M1-M6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FFD773-74D9-4F3F-BF6D-0289B2137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4416C7-A897-4FC6-A605-5101C7859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21429A-5C97-4620-814E-4ABBBE7C5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1B8EA8-3016-4B53-829E-F70C6464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322E47-BC93-41FD-88F3-6E6A629F2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692E51-5C73-4E8E-90B3-CDBC3B1AA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94CF4-839D-438B-AE90-A3AD42875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F76D64-2E70-4753-920E-C9FE232C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AB7ED8-C6B5-4CBA-8EE3-0BAF1CA7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7075CF-07F2-4834-885E-3DAA28A72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EE2D4E-FC98-4AB0-8A8B-CF2AC492C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F6863F-B06D-4FD0-9320-2843377C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8B63C8-6957-416C-9C63-E316EA0B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BFC4A6-1CAB-407F-835C-40E8AF6F3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9F477C-64E6-4A68-A400-909AFE519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879AE-A2E9-4211-89E5-EB8E9110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F4B875-7E23-4DE4-BB5A-A23B8599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BD6CC0-6A8C-47FF-AF76-AB90FBEB8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45AEFD8-E69B-49FD-8007-A5FF7E55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validation sprint: визуалы, лендинг, интервью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306FCF-41CB-448C-8E37-D5FBFC26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826045-74D9-4F93-BAD1-8400FD357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0.1k / 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E6058AD-EDC1-4DE9-9092-E642B830E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0A548E1-1CCA-4ED3-AE49-DCCC549FA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7E92EBC-FE43-44BA-A66B-3FD42A9C0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F22A176-2708-4155-9A96-279F1B8FF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232950E-E88C-41A9-B0A3-60AB9EAE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A07DA5-8D4D-43C3-B3B6-9D09883CA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A16B29-DFA1-4088-A7EF-6940B8B1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2EA98BB-F59A-4B38-8F6E-DC7CB7BF3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41D797-6EA4-40B1-B00A-74703B87E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840E3B3-ACD3-404B-83E4-952FF022F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clickable prototype + first cohort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36D933C-B85E-4E4E-BC1C-E260C44F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B85BE5-F64A-4680-BA31-238D916C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 / 10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EBDB32-6DAB-4B5A-84EC-B154C885B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EB073D-F919-43DA-88E6-F392572F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$0-$0.1k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F5E8DB1-ED2C-4C96-B6BC-6BB9EE6F2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46D7B07-242D-4C92-9F89-C469E1195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€5k-€8k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AAB335-3D77-41F0-B482-AA8CF8A3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03CF44-1233-4F3A-B6BF-22B8A7F1B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42CE5B6-7286-4096-8D22-0C0429EC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3A20BF-53A5-42B6-B275-17984DA52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A8528C-EF16-4B1A-825D-469596FF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6E8088E-61AD-4379-8D37-CC7EAAEE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MVP build: weekly loop + paywall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80B7CBF-3B1A-4F0D-B71C-81CCC6972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8AE985D-2A8A-4437-BBE3-0E0AA8F3C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1k / 30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5D186E-F594-4761-86DA-9C39AB47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3E607F9-A19C-4D04-999B-90BCCEF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$0.3k-$0.5k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18768FE-D957-47F7-BC62-DE5622A45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D797EB9-D570-46B2-9958-7D45EB292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€10k-€16k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CB4598D-C5BC-4E36-84B0-7B923D8D9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A6E05E4-757A-4586-BE1A-4CBD3450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€20k-€31k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E4D8194-63EF-486A-AFA5-C3E30694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13556B3-DAE1-487F-AB83-116BF49D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M4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02BBC8-B720-4592-B7C1-6E1A0D48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684E265-2FE7-4233-9895-6E708F25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private beta + manual generation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9D4D773-6D47-42C0-9DF3-753F574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725B9BF5-921B-49C3-AA7F-C5E456ED0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3k / 80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0D8A705-FB7F-489D-B38A-F0D959CAD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E3FAB02-C39C-4216-B802-B3DC62E8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$0.8k-$1.5k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53C4320-C43B-4D8E-98E9-B014E3CF3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B21D93F-1984-4D1A-B7AC-9CF715F73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13016B3-8366-4C06-80FC-10B805C01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3C9AC69-FD5E-4184-8217-2FC4317C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€31k-€50k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0B9A007-FDB4-46AC-BD97-52149B5A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72DC5D6-A1DD-40BA-8923-D8570D51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662B70D-38CA-496D-9ABF-0DA688DB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7266A09-047D-4DD5-A6EC-F4B6E498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tests + COGS tracking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1D48F48-9B7C-4136-8CC2-39B3D4B4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68540DE6-6CB4-4E61-9A11-F9A865D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6k / 150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08368CA2-8DF4-4CD7-8803-A93CB8E5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438BE4F-62D4-422D-86E6-B6339B010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$1.5k-$3k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DA3C7C-9EDD-4606-B14E-2C42F1C3B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023CC37-51BE-4523-8791-F4B93174C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€15k-€25k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BD6F0EF-4828-440E-8C64-51F0664B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531056A6-E392-4158-9F23-FDA84DA82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€44k-€73k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2A7F665-2BA6-490E-9711-44F43793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A10B3F4A-7F69-4F11-A313-0557E955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M6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6D15B2A-5A8D-4EB7-853D-A06FB550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93090F-E4DA-4049-8B66-3D588F960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first paywall iteration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7613A9-6046-4B02-A025-63E24E8F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2CB61B47-39EB-433D-AF1B-D56EAC6A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10k / 300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A8E58D8-6E1A-4F30-BBDB-2884A2DE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5DE9103B-C279-4337-9BF6-AAF57DCE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$3k-$6k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89BFA855-8255-47AF-9B9A-B1408F444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C4EFD15-F504-4C53-B8ED-780738A8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€18k-€30k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722451-8B34-445F-9D4F-94D33DA2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7C133C9C-98BB-46FE-BC93-233297F59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€59k-€97k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AABF17AC-B418-4E55-A741-6E86187D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Первые 6 месяцев — это не cash-out, а поиск петли: paid intent, retention, COGS и понятность Life Canvas.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EAC64B7-86FD-4856-92BF-77E2E307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</a:t>
            </a:r>
          </a:p>
        </p:txBody>
      </p:sp>
    </p:spTree>
    <p:extLst>
      <p:ext uri="{BB962C8B-B14F-4D97-AF65-F5344CB8AC3E}">
        <p14:creationId xmlns:p14="http://schemas.microsoft.com/office/powerpoint/2010/main" val="1865511094"/>
      </p:ext>
    </p:extLst>
  </p:cSld>
</p:sld>
</file>

<file path=ppt/slides/slide5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49388EA-207C-4AE9-8B21-F9E912C5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A49DC6-A2DB-4536-BD3B-CB1A37F6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0E9A9-EAE5-466D-890B-E6F941655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876EE6-F7F2-4E25-9B2D-C8EC33DE8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98F630-7AA7-4CAE-83F3-F7CB5D6F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Помесячная финмодель: M7-M12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A1947-175D-4DFC-A7ED-0F1EA0369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F478EE-31FD-4A60-863D-D2674B06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46162D-09E1-4987-B2BA-FE291C44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0F1C29-335B-4FF4-BC6E-08277B02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4A278-B785-4CA1-A152-F616EFA15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Месяц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C912B5-A557-4D7B-AE24-5E07CD84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3525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7E6212A-3FDA-4EF2-8C1D-D79A006D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4192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Фокус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DE7D1E-29DF-4FA0-A339-046DC4D1B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3525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D5A30A-3B36-4208-BE7A-D5733EC38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4192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/ платящие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A7E360A-4B46-49B7-A950-C66076427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BA5F7B-B9F6-4CC3-9D69-52ED3788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Выручка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B17BE3-0821-4477-8E50-7CA5D343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3525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6D57BFC-7902-4784-846B-8FE379A44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4192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Расходы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57D4D1F-75C3-4F58-97F7-B536B8B2C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3525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51B47-AAAB-4BB7-ACDF-8999F43D8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4192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Нужно денег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1A5748-A5B9-4112-8476-CA4C7D4C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7C1BCE-1208-4C25-B223-A3E1B8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1B8B6-0C0D-4B9D-B313-F91E80CC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9050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F7CC53-C326-4849-A9D3-7B0CECF7E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9716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beta + paid creative tests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566037-B38C-4975-9705-8D71635A2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9050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99557F-3DCE-4186-98F6-DE0C0BD0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9716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15k / 450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E29CEC9-6989-4DF0-A65B-2BAAD211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18DD03-0550-4FC6-AB69-19F07BE1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$5k-$9k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12E291-1C6E-41F8-8C9B-A3FA95DDA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19050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F94706-4D30-4AE4-B9B4-EB5D16AAB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19716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€20k-€35k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CD10E1B-12E5-4CE6-92CA-369EAE4ED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9050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046718B-0554-498A-9934-2EB9DBF9E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9716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€74k-€123k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74FDAC6-D0DF-4F0D-9E71-4A1BE178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574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AC5773-3139-49B5-90DD-3396E452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5241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M8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0069A29-1502-4C34-80A0-CF6B6446B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4574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C6E345-C8F9-40C5-B5DC-BBA90EBE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5241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annual/token experiment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471C38-2BAD-4941-A756-B56BD964D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4574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A75B895-4182-40DC-AE8E-DD98B7DED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5241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25k / 750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50DCB29-0CB1-4CF5-AF18-0F186D3D6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360CD41-09D8-40AA-BB94-0749BEBC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$8k-$15k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670D8C2-7C18-422F-971F-E62AB105B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24574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2AE9A8B-8D14-4088-B91E-411E33E9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241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€22k-€40k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E6D520-AD95-44E3-9CD5-70BE195B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1740A1-BE46-4D5D-8D95-2423E22A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5241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€88k-€148k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CC6241C-C1DF-40B0-A1C2-F36C0FCAD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099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1F9B3B4-E5C4-4BA9-9071-EBF8892C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765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M9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8CE33F-DCED-40D9-BD6C-281B0BFB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0099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D3C209-F6C8-414B-8249-611DB746B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0765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retention cohorts + creator pack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7F0F04B-DC3E-4E65-9FFB-B07138124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AFB2DC9-C6B5-42C3-B613-651511BF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0765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40k / 1,200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D25634F-4616-40DD-998C-BF3AEACD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D3D59E4-834B-49F0-893E-1329347BA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$12k-$25k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9A2B54-0C29-4ACE-A256-60AB00C66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0099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7E01AA5-A525-432C-BCB8-E7AE9918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0765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€25k-€45k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4228AB9-EA70-4062-8A01-3D1B6C19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0099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ACC04CF-F226-40E4-81E9-84EA8A18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765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€101k-€168k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63168F-9AEF-47D7-9341-34F656DF5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623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5F3BCFD-9C8E-4196-A5F9-300B3A37B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290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M10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B972B7D-7805-4FA9-B0CA-46DF217F0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623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EF624B2-E7FB-468A-BDC5-C1AFDA3B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6290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launch system + careful CAC tests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C5E8B8-E985-442D-8D4A-FBE3FCD5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5623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1B6B97-F831-4D2B-AAEB-E3FCF0C0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6290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60k / 1,800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B24F214-4D30-4B5B-B6AC-7543C3A9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8FFE888-6D39-49DC-832F-F0713D814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BE309FB-4FC3-47AF-B21B-0116413A6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35623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C55DAB-D09C-42C0-A87D-3CADB5FC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36290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9A55C0F-7B0E-482E-A2CE-F53AEDD96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5623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61BE497-5957-4D67-94F9-3B2F7E73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6290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€113k-€183k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5454350C-D532-4113-8B54-5FE1CFD5D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1480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DEE2824-6A25-415E-903F-43B8E0797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M11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CD940B1-0254-433D-AD6F-057CD7B7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11480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60345E7-3A7B-4F07-90B2-26E5D15CC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8147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scale only if CAC/COGS сходятся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E3B2450-6088-4937-B73A-230F0B0CD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11480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4A1121-77B8-42E2-AC4C-048FB0261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90k / 3,000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DAB8B03-CE27-4334-B12B-DB9A4AC6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5D2E995-9C3F-4760-B254-667287B3A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$30k-$65k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FC39B85-981D-4430-BFFD-28407F2F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11480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2349C43-BD74-41DF-899C-1BBD0CA4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18147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€35k-€65k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A605164-B688-444B-B26C-A75D45A8C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11480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29D1D723-B234-4081-978A-3B012CFE0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8147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€118k-€183k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753BB46-AD68-455B-9A1B-188409ABB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0"/>
            <a:ext cx="876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207063-EA0A-49C4-937F-2E908CB01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33925"/>
            <a:ext cx="7239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M12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A83E04E4-3768-4018-86BA-EB931112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67250"/>
            <a:ext cx="238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5CD1938-701C-4137-8CB8-85E731429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33925"/>
            <a:ext cx="2228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attempt / seed story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D652342B-F331-4404-B1C2-41FD82C9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667250"/>
            <a:ext cx="1619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59195C4-2B57-486D-94B2-7439DFD63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33925"/>
            <a:ext cx="14668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150k / 6,750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368BFF8-6696-4358-AB06-BE7C44883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047A2A4-D684-4FF1-A60D-902F5BCF9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$60k-$100k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B4E035F-F6CE-4F15-B2F7-D8737CD68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2775" y="4667250"/>
            <a:ext cx="157162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DD41233A-652E-4E4A-BFC0-91E4D0AD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4733925"/>
            <a:ext cx="1419225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94CF564-9C96-4524-8DA5-E42E0A8D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667250"/>
            <a:ext cx="2171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020DEE4-34A8-4C29-892A-8164E812D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733925"/>
            <a:ext cx="2019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peak €500k+ при полном scale-пути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360408EB-861A-4E9D-89F2-6459099DB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Важно: €4k-€10k — первая проверка; €80k-€150k — pre-scale runway; путь к 150k MAU требует отдельного scale-бюджета.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3A98E3BE-8706-4C8B-A95D-706F5C0C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51</a:t>
            </a:r>
          </a:p>
        </p:txBody>
      </p:sp>
    </p:spTree>
    <p:extLst>
      <p:ext uri="{BB962C8B-B14F-4D97-AF65-F5344CB8AC3E}">
        <p14:creationId xmlns:p14="http://schemas.microsoft.com/office/powerpoint/2010/main" val="1079220880"/>
      </p:ext>
    </p:extLst>
  </p:cSld>
</p:sld>
</file>

<file path=ppt/slides/slide5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36D602C-4407-4514-A119-10E4AD124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119F58-60D5-4C1B-94AD-97E0A0B3D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09B156-C351-46F5-9C10-A24BF6C79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20463-F36F-49AA-9BB2-FEDD0E9DD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9F408-C2DE-4621-853B-BD68D58F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Квартальная модель: выручка, расходы, runway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65B8D-C8ED-4D51-A95E-067FA5405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0C97C6-D20B-4AB2-8C3F-99B861A7A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FD4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354999-D070-4422-84D3-383C62840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выручка, расходы, запас денег, break-even. Смысл: сколько денег нужно до решения go/no-go.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06852-E550-4128-B5B4-AD86E6B6D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6A9F1A-E745-4ED4-A87F-96E1204F6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Показатель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3EE7D2-94C6-49C1-AECE-32DABC54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3D683D-A529-479A-BB51-8CE7661E0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8F845-4ED2-4536-AA02-1E788B89C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1A4698-CED4-455B-BFFD-5D47A3C6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493114-04DA-47A0-8D63-764D44F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64B27-6C76-4407-B29A-1CDAC46FC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A65ACE-D4B9-42DA-9D94-0984FCA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525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CB2430F-9DA3-4C53-8566-E827E5444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4192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Q4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7F123F2-2AB9-42AE-9C24-53D9171FF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3525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667E96D-966C-4424-A32B-F13D8398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4192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Year 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28A18F-9DA9-49F4-82D5-0EC84552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44BECB-0559-4469-89D5-87901826E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MAU на конец периода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D776DF-0349-4D0C-B4B9-87A606C4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8160179-90CF-4D28-A0BB-EF6F4BA33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0.5k-2k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C04FF-779F-43DC-A9E3-CC7CAD2E1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745178-1DBC-48C8-B2CC-B28347CD2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5k-15k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8B347-0B3C-4085-B473-A581C27C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74F59BF-8629-4853-9CF0-BD9BFAB69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20k-60k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47A359-7C3F-4492-99FB-943D87FCF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32AA0E-7954-4191-AA59-09BD8A5BD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9335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50k-150k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0CA0D47-F97C-45D5-A89F-38FD4ED0B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8669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F7795B-33E7-4822-AD15-7D0DC75A9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9335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цель: доказать scale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346C54F-1AF5-4FFE-BDEC-BEC32635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F5186D6-E22E-4C30-8059-F36815528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Платящих на конец периода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7E9E66-4BDE-4BA8-97B8-C33AC14EC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1BC9F8F-AF01-482B-971B-AB306E5D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30-100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B8AC0D-EB73-4CED-A2B3-9E39C4C6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5B76E71-6181-41E1-B141-2C85369E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150-500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44E0DE-8DCA-489A-BBC4-512DFCBD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7FBF0AA-5F7D-4366-9727-27DEDE9E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600-2,000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DFC1A77-D8F2-4C52-8C65-96F710E0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81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D39E207-6546-4273-9934-9626F9324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479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1,500-6,750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B377F33-80A7-4CDB-8EAF-86F20C54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B77180F-DDE3-4CF8-B4B8-49A40CB8F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479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конверсия 2-4.5%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75419E4-F929-4E90-BCB5-E33E027C3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1F80A75-5E84-4D56-A03A-258FBC2C3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Валовая выручка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334BE55-6E28-4353-A20E-792304929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EAF8312-612F-474D-9CF9-CF858A7D2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$0.5k-$2k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1EB4D8C-9E58-4F6B-A6B8-731F6E6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09DCDF7-5F66-46DD-9A4D-509803B08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$3k-$10k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DD3AECE-8268-4655-8AC5-6E27384F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F02EDA3-87C1-4D09-8563-91896936C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$18k-$47k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875CD7-0678-4DA1-947D-53ABFB67F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895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3C22693-EF4E-48B8-80E2-0FB9863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9622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$60k-$150k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17CE51A-5C6F-4287-AC13-13CA7D33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8956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B7D6DF-B6A2-4811-8449-D4FED2075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9622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$80k-$210k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F8DAC27-AD68-404D-89BD-162E1DFC7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A6E6791-AE49-492A-804C-80CB5D25F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Product + AI + infra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A0B45CF-59D9-47D8-8FB2-DC081C783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43EB5C9-4D31-456B-9212-28141517D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€12k-€22k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24183D-4171-458F-907A-B94C7044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C7F5C49-8629-4A57-9F79-84B62BD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€30k-€55k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FAC0490F-BDE8-4FF7-86DD-2985BB270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C2EB6DD-EA9F-43A0-8FD5-D02A308C0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€45k-€80k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03A447C-48F9-48CF-9784-E33FA47C1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09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4D91151-6111-49EA-BDF8-0FCC6726A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766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€55k-€100k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99BBA374-3846-4A74-BF54-B04BC302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099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6056373-1289-4427-92AC-3CC7A3068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4766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€140k-€257k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E29B897-D0C5-4A63-B96C-1EF3ABC06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4A91CD2-A9AE-414C-AC1E-9155EED9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Marketing / launch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E2960D7C-D18D-4731-A1BF-63E4E66BB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5CD427F-89B1-44F1-B985-D11825A7F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€3k-€8k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5C5A4150-90A1-4FBD-9B47-35C6B62E7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7B12D5A-F551-4B71-A8BF-13CCE5A45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€8k-€18k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A52D80-D21E-4DD1-8368-7540F0D60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5D0CA9E-4D9A-4E5F-8C71-4F235E71A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€15k-€35k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C7090B6D-BE77-4084-828C-EAAE8D84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24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2CDC0BEA-7EE4-47A5-8F91-99BD4950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99097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€25k-€60k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D9C6B2A-2B4E-41D0-8250-A7FA489D9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92430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9056809-F9AC-4428-B30E-E773958D9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9097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€51k-€121k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DD0A5BD9-9567-42F3-BD60-BE5B81FC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3BE5D844-9EC8-4CFB-A94F-158D1A826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Чистый cashflow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2462D2B-C73E-4128-BBD0-92E0017B4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C8FD0D8-DCF3-4895-83EA-0EB592E4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-€15k…-€28k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1C8F23DE-3B0B-48EC-B2F5-1F123C9E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CAA192C-26A8-492A-9AB8-8266E4D31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-€35k…-€60k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48A6D75D-8A1A-4512-AA24-64C48E1D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F23D27A3-7B25-48B6-A69B-970E644DA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-€40k…-€120k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C08FAF7B-2EA4-4858-8797-D2D9D075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386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1AFC86A-6D0D-4BAC-B6DD-AEAE2F66A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505325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-€10k…-€350k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36EBD3FD-C542-4C8C-AE06-179B6A39C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438650"/>
            <a:ext cx="180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1C23D3-B7DA-4F2A-90EF-5AD6D30D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505325"/>
            <a:ext cx="1657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cash need: €80k-€150k до scale; €500k+ при 150k MAU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0ADD65E7-CB07-49BB-8589-3698D42C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90550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Break-even в base-case не гарантирован в первый год. При агрессивном росте к 150k MAU нужен отдельный scale-бюджет.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4D5EBE24-32B5-42A6-A300-0F006AA77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52</a:t>
            </a:r>
          </a:p>
        </p:txBody>
      </p:sp>
    </p:spTree>
    <p:extLst>
      <p:ext uri="{BB962C8B-B14F-4D97-AF65-F5344CB8AC3E}">
        <p14:creationId xmlns:p14="http://schemas.microsoft.com/office/powerpoint/2010/main" val="939508784"/>
      </p:ext>
    </p:extLst>
  </p:cSld>
</p:sld>
</file>

<file path=ppt/slides/slide5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A0662B0-ED27-4DC6-8708-DABC48F7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6F7E7-F8AB-4858-BB6B-2AB2D19D7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0353315-F048-45B9-B555-7D50F1C8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A3BA61-BC07-4679-88C4-875B6D9A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2258B5-37F0-49D9-8FC8-470993BE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Маркетинговые бенчмарки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A29974-FC74-4125-BFA9-7ED433F84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B014EA-067C-43CD-A2FE-996C79DB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54D4BF-5DCB-4AEF-A631-A65D6412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033784-C2B1-4688-BB1E-24EA86D2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19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C1977E-069D-4270-8E69-2732B6DDF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285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Конкурент / архетип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A82964-3825-4A35-9896-8E18F664B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219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BECD8-EC1B-46DD-B6B6-2E8878F28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285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Public marketing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E99BE-9C39-47E5-AACB-285DC90D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219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198E92-E239-48A8-9407-E3846FD28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285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Риск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5C7A8C-894A-4756-AF79-26DC8442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219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DBD42-2B53-4C30-90C3-9233D95E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285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Как использовать в AURA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DEBA92-E98D-4A55-A043-90351C7BC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62F17D-E213-43BC-B308-78429CDD4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12E943-A31E-4FCE-8911-E20CADEB4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16764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A08515-925A-487E-8519-25E14BEE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17430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$6.8M/мес estimated YouTube ad spend; 620 creatives; 18.6M visits Jan 2026; 50 landing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DAF0D-9EBE-49B4-969D-72498922F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6764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D57B8E-9639-44F1-B740-D478954F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17430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paid scale требует высокий LTV и агрессивную funnel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CB81B9-B19F-4CCD-A4BE-429A6DE5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6764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8002EC-7BC9-440C-A129-63D60CB21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7430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как paid-test inspiration, не MVP operating model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3C485D-4D0A-4FD5-B991-1EF9F76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336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412592D-64CF-4895-B710-9AE638D35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02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Nebula prelands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E78D2B-8AA1-4450-826B-A23ECFDAF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1336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7E9F218-C9FD-469E-BBBF-53D498189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2002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soulmate sketch 10% ad traffic; marriage compatibility 8.2%; aura reading 8%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EAC617-3C6C-4969-8EEB-74840F44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1336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771954-7AB8-4508-9A29-8CFAFD41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2002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curiosity hooks могут выглядеть scammy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ED17EA-5051-495F-B056-31B672FA1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1336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41F8B50-648E-4D45-A95E-D87D5C74E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2002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аккуратно тестировать future-self / visual week / relationship hooks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9CF1CD-89AB-42E0-A252-D3F7B9EF4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5908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D95D6E-E430-45A0-9687-C514E35D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Co-Star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95092A3-5069-4CC9-BF32-FD684AB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5908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27EB8D9-1698-4630-A74E-BAD7FAA79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26574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20M+ downloads без real marketing spend; 25% young US women 18-25 downloaded historically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C0D9A65-34B7-4042-BDFC-ABDC54C43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5908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FA886F8-0AE5-4816-81BC-5F82253F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6574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virality сложно повторить искусственно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CF391D1-F310-4C68-B4FB-36F5ECBB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908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582C571-3633-40E5-AB00-A9B2B90AB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6574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строить shareable identity language и relationship/social hooks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20BD96-C5F4-4880-8DB6-E42516C8A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E089106-ACFE-4921-8ACF-DC43FF38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Astrotalk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4CA9E4B-091E-4E68-9B77-9C0AADEA3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0480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80C9F2D-0CF4-4499-98FE-75D84F127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1146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FY25 total expenses Rs 1,129 crore; marketing/tech/ops/talent growth cited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33EFFB-D174-4CBF-9DDD-54C383F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480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59D0E02-AEF8-4309-9739-AD3753E3E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1146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marketplace growth дорогой операционно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AB9284-409E-416E-9B05-A73DA0DB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480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80445E2-B893-4ABD-944B-5A653F38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146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не начинать с marketplace/expert model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4A8C1C6-D453-473A-8E5A-53683C19D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505200"/>
            <a:ext cx="1476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C009001-F818-4D48-AF97-9104F8555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3239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CHANI / Waking Up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02D2D81-9E08-428C-A190-FB29EC8DF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505200"/>
            <a:ext cx="1809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0C2B64-D249-4B9E-9CB7-DBC48534C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571875"/>
            <a:ext cx="1657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trusted founder/teacher voice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1EB0A9D-8A7E-416B-A933-8F3E5201E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05200"/>
            <a:ext cx="35718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38C8AA-E1A1-4352-97A7-F1B74FE02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3571875"/>
            <a:ext cx="341947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требует настоящей authority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06557038-8254-4D7D-8264-195463A32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505200"/>
            <a:ext cx="33337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2AC9801-CC1F-4BBA-BB7F-D1F31175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71875"/>
            <a:ext cx="3181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использовать экспертизу Алины без guru tone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B75721A-F0D6-4E4D-923A-DE71A85F4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10250"/>
            <a:ext cx="9429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Sources: Web2App World, Axios/TIME, Moneycontrol/ET-style reporting и qualitative product observations.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35A94E8-7551-416A-92EF-A91B1022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53</a:t>
            </a:r>
          </a:p>
        </p:txBody>
      </p:sp>
    </p:spTree>
    <p:extLst>
      <p:ext uri="{BB962C8B-B14F-4D97-AF65-F5344CB8AC3E}">
        <p14:creationId xmlns:p14="http://schemas.microsoft.com/office/powerpoint/2010/main" val="1623762222"/>
      </p:ext>
    </p:extLst>
  </p:cSld>
</p:sld>
</file>

<file path=ppt/slides/slide5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548325-0872-4C7A-AF63-7246D0C38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E58ECA-3E34-4C3E-B63B-D7A915517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66A35C-139C-4DF3-AED2-E74F047A0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4800"/>
            <a:ext cx="228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85E4"/>
          </a:solidFill>
          <a:ln xmlns:a="http://schemas.openxmlformats.org/drawingml/2006/main" w="0">
            <a:solidFill>
              <a:srgbClr val="9B85E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3E7794-C3C3-471F-88C4-C284D52D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71475"/>
            <a:ext cx="19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D61E0A-163F-4698-A3CA-DC0A1385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23850"/>
            <a:ext cx="9429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9B85E4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9B85E4"/>
                </a:solidFill>
                <a:latin typeface="Aptos"/>
                <a:ea typeface="Aptos"/>
                <a:cs typeface="Aptos"/>
              </a:rPr>
              <a:t>Матрица маркетинговых hooks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9FCE8C-EC42-4467-B2F0-1A29CDF3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895350"/>
            <a:ext cx="10287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0">
            <a:solidFill>
              <a:srgbClr val="F0EC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567CBC-EAA6-484F-9317-13BBEDB0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71550"/>
            <a:ext cx="1019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6668">
            <a:solidFill>
              <a:srgbClr val="4D556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2614D2-D62D-432A-8A9F-EC607A1B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8700"/>
            <a:ext cx="9848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4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84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Смотреть на: CAC, активация, платный интерес, creator proof. Смысл: можно ли привлекать пользователей без сжигания бюджета.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2F7AF4-C125-41F9-A07D-2092690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D16ED3-0E04-4E20-8439-2D8283279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Hook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4663D7-202B-4BE7-AFDA-89408DEB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676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B331EB-9D9E-4D70-869F-9821E929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743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Кому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8CA7F8-0935-46B9-84F2-0AC870D2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26FA64-F3EC-4459-8077-8DD79BE0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1743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Формат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5CC4D-AE51-4ACD-9330-8DE1295D4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76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C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D248AE-1EA3-4EAF-A48D-39E80BC8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743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36736F-BB4F-4825-B268-2E7DF067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7994B9-EFDF-40BE-9150-5187787ED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“Твоя неделя как трейлер”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BBDBFB-8746-4C21-BB50-EC819EF6E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622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ED33BD-D49B-4127-98D1-1D67423FC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4288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visual AI / self-growth audience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D8F9BD-392F-4AAB-8A98-8E6FB9967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622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5B7484-341B-4152-AB67-A8F6D24A4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4288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short video before/after week trailer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BA7ADE7-D67D-412C-9DAD-8AA57AC0C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622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A7016F-DBF7-4C10-9C2D-DD485344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288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свой week trailer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B052B6-1499-4175-A318-513BD293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F030F7-103C-42AC-9744-8354D2732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“Не гороскоп, а план недели”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79FDD7-0A3F-4B1E-90D6-12616C212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EEA2FE-5D77-4C10-84D8-FC9D353D5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1146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астро-аудитория с усталостью от generic прогнозов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CC88896-6E5F-4A62-B35E-6EE9400C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480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0B167D-A167-40B0-9B0D-62993472F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1146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creator explanation + example Canvas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90C043-2135-482E-97B3-6E6F9758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480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24EDFA-B65A-41B4-89F8-9F55F08A8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1146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пройти 7-day season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5A0CD69-354D-4EEF-B0C6-C5B181D5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6CE18-C549-46DF-96AC-9F14ABB3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“Future self изменился”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513A2F-7534-4721-850B-9494DAF1E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7338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1D1D803-2DCC-4BCC-8F0F-9BF0E83D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004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women 20-35, self-improvement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51138F4-04AA-49DB-8AAD-878B8ABE2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B288126-DE4E-4B0C-BF45-147DA51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8004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до/после Life Canvas + действие дня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3F375D5-F9FD-4148-9665-3413622E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7338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309F9CF-5A2B-4240-9F66-EA5B0E2DD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8004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увидеть future-self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0B4BCB-5B4A-4FCA-BACB-B24D7757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9167EE-CFA6-40FA-AB52-73B114C53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“Карманный прогнозист”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53612E1-61EE-4ECB-A45B-7021FFB94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4196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A5527E2-2AD0-47E8-B0A2-8CAB80DA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люди, которым нужен личный ориентир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4A752DA-C777-459F-932C-EC9B931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4196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2359B93-D3BD-48A9-8881-B368F626F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862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screen walkthrough assistant memory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C0CE865-94A0-44EE-A031-6156B9AD3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4196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A1FA192-F7C9-49BB-AC99-7AF203B28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862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прогноз недели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0D3924F-7123-4C27-9C17-9645903A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2EEF9B8-4D62-40DD-AA17-F5E4115B3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11111"/>
                </a:solidFill>
                <a:latin typeface="Aptos"/>
                <a:ea typeface="Aptos"/>
                <a:cs typeface="Aptos"/>
              </a:rPr>
              <a:t>“Relationship / decision week”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BC927DE-A1EA-48CE-B5BB-84CDEA2F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2095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C8A4E5B-1530-4E75-B89F-72950F12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172075"/>
            <a:ext cx="1943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high-intent emotional moments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BFEC2CD-A582-4586-B7B0-055D97940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5105400"/>
            <a:ext cx="2476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56E5C60-0E8E-40F1-B974-B7A34B047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172075"/>
            <a:ext cx="23241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тема недели + персональный вопрос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C5C7AF8-0947-4C0F-AC5F-92ACF0C32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05400"/>
            <a:ext cx="3524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4D5563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D4FECA7-B7C7-4119-8F33-05DA37F8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172075"/>
            <a:ext cx="33718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получить разбор недели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16BC2C5-3227-4B8C-8BAB-866E6432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238875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11111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11111"/>
                </a:solidFill>
                <a:latin typeface="Aptos"/>
                <a:ea typeface="Aptos"/>
                <a:cs typeface="Aptos"/>
              </a:rPr>
              <a:t>54</a:t>
            </a:r>
          </a:p>
        </p:txBody>
      </p:sp>
    </p:spTree>
    <p:extLst>
      <p:ext uri="{BB962C8B-B14F-4D97-AF65-F5344CB8AC3E}">
        <p14:creationId xmlns:p14="http://schemas.microsoft.com/office/powerpoint/2010/main" val="9205761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2026-06-08T06:13:31.6790000Z</dcterms:created>
  <dcterms:modified xsi:type="dcterms:W3CDTF">2026-06-08T06:13:31.6790000Z</dcterms:modified>
</coreProperties>
</file>