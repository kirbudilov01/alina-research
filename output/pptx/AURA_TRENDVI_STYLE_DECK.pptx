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76eef82493e463b" /><Relationship Type="http://schemas.openxmlformats.org/officeDocument/2006/relationships/extended-properties" Target="/docProps/app.xml" Id="Rbfc75eb432e548d8" /><Relationship Type="http://schemas.openxmlformats.org/officeDocument/2006/relationships/officeDocument" Target="/ppt/presentation.xml" Id="R855413f22e024b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0346759b734097"/>
  </p:sldMasterIdLst>
  <p:notesMasterIdLst>
    <p:notesMasterId xmlns:r="http://schemas.openxmlformats.org/officeDocument/2006/relationships" r:id="R6b1aaca19c6e4a67"/>
  </p:notesMasterIdLst>
  <p:sldIdLst>
    <p:sldId xmlns:r="http://schemas.openxmlformats.org/officeDocument/2006/relationships" id="256" r:id="Rc563111b0a994a9e"/>
    <p:sldId xmlns:r="http://schemas.openxmlformats.org/officeDocument/2006/relationships" id="257" r:id="R746b20eb04054433"/>
    <p:sldId xmlns:r="http://schemas.openxmlformats.org/officeDocument/2006/relationships" id="258" r:id="R9c4abcacfd8e44da"/>
    <p:sldId xmlns:r="http://schemas.openxmlformats.org/officeDocument/2006/relationships" id="259" r:id="R6add7cfa5900442f"/>
    <p:sldId xmlns:r="http://schemas.openxmlformats.org/officeDocument/2006/relationships" id="260" r:id="Rddf42e19713944ec"/>
    <p:sldId xmlns:r="http://schemas.openxmlformats.org/officeDocument/2006/relationships" id="261" r:id="R6a6494bddb294539"/>
    <p:sldId xmlns:r="http://schemas.openxmlformats.org/officeDocument/2006/relationships" id="262" r:id="R30800e4b35464295"/>
    <p:sldId xmlns:r="http://schemas.openxmlformats.org/officeDocument/2006/relationships" id="263" r:id="R63e37ca181eb4535"/>
    <p:sldId xmlns:r="http://schemas.openxmlformats.org/officeDocument/2006/relationships" id="264" r:id="Rfc8e6aa8b9674812"/>
    <p:sldId xmlns:r="http://schemas.openxmlformats.org/officeDocument/2006/relationships" id="265" r:id="Rf35a64fde3d14c41"/>
    <p:sldId xmlns:r="http://schemas.openxmlformats.org/officeDocument/2006/relationships" id="266" r:id="R84592f657f914b43"/>
    <p:sldId xmlns:r="http://schemas.openxmlformats.org/officeDocument/2006/relationships" id="267" r:id="R6b45ac2be4e040ba"/>
    <p:sldId xmlns:r="http://schemas.openxmlformats.org/officeDocument/2006/relationships" id="268" r:id="R59e94d39973f4f2b"/>
    <p:sldId xmlns:r="http://schemas.openxmlformats.org/officeDocument/2006/relationships" id="269" r:id="R3d03bcf3d83b4e0f"/>
    <p:sldId xmlns:r="http://schemas.openxmlformats.org/officeDocument/2006/relationships" id="270" r:id="R424f8604a2d94c0f"/>
    <p:sldId xmlns:r="http://schemas.openxmlformats.org/officeDocument/2006/relationships" id="271" r:id="R657134b06f4e437f"/>
    <p:sldId xmlns:r="http://schemas.openxmlformats.org/officeDocument/2006/relationships" id="272" r:id="Rfef982fdfe164819"/>
    <p:sldId xmlns:r="http://schemas.openxmlformats.org/officeDocument/2006/relationships" id="273" r:id="R997b5cf36e944e83"/>
    <p:sldId xmlns:r="http://schemas.openxmlformats.org/officeDocument/2006/relationships" id="274" r:id="R649be5c69abe4b62"/>
    <p:sldId xmlns:r="http://schemas.openxmlformats.org/officeDocument/2006/relationships" id="275" r:id="R4bdcfedc6c34493f"/>
    <p:sldId xmlns:r="http://schemas.openxmlformats.org/officeDocument/2006/relationships" id="276" r:id="R53579c17fd8c473d"/>
    <p:sldId xmlns:r="http://schemas.openxmlformats.org/officeDocument/2006/relationships" id="277" r:id="Rb30d847e0938435b"/>
    <p:sldId xmlns:r="http://schemas.openxmlformats.org/officeDocument/2006/relationships" id="278" r:id="R6a6d3fbf2cf84fa7"/>
    <p:sldId xmlns:r="http://schemas.openxmlformats.org/officeDocument/2006/relationships" id="279" r:id="R7d8c0e6d03204724"/>
    <p:sldId xmlns:r="http://schemas.openxmlformats.org/officeDocument/2006/relationships" id="280" r:id="R12fac56ac0b647fa"/>
    <p:sldId xmlns:r="http://schemas.openxmlformats.org/officeDocument/2006/relationships" id="281" r:id="R17822773232045f8"/>
    <p:sldId xmlns:r="http://schemas.openxmlformats.org/officeDocument/2006/relationships" id="282" r:id="Rb7d44a290fee4c8a"/>
    <p:sldId xmlns:r="http://schemas.openxmlformats.org/officeDocument/2006/relationships" id="283" r:id="R2337af591d9b4233"/>
    <p:sldId xmlns:r="http://schemas.openxmlformats.org/officeDocument/2006/relationships" id="284" r:id="R56177a0092f24ff2"/>
    <p:sldId xmlns:r="http://schemas.openxmlformats.org/officeDocument/2006/relationships" id="285" r:id="Rc0131fa9c86c49a7"/>
    <p:sldId xmlns:r="http://schemas.openxmlformats.org/officeDocument/2006/relationships" id="286" r:id="R594021adec1f4b98"/>
    <p:sldId xmlns:r="http://schemas.openxmlformats.org/officeDocument/2006/relationships" id="287" r:id="R2703d567f8b94cd7"/>
    <p:sldId xmlns:r="http://schemas.openxmlformats.org/officeDocument/2006/relationships" id="288" r:id="Rce0b910193c34368"/>
    <p:sldId xmlns:r="http://schemas.openxmlformats.org/officeDocument/2006/relationships" id="289" r:id="R1b06119925e64055"/>
    <p:sldId xmlns:r="http://schemas.openxmlformats.org/officeDocument/2006/relationships" id="290" r:id="Rb17a41bf795941cc"/>
    <p:sldId xmlns:r="http://schemas.openxmlformats.org/officeDocument/2006/relationships" id="291" r:id="R82023da5b7a24aee"/>
    <p:sldId xmlns:r="http://schemas.openxmlformats.org/officeDocument/2006/relationships" id="292" r:id="Rc83bcadc4f2042e0"/>
    <p:sldId xmlns:r="http://schemas.openxmlformats.org/officeDocument/2006/relationships" id="293" r:id="R18af7e2cd16840bb"/>
    <p:sldId xmlns:r="http://schemas.openxmlformats.org/officeDocument/2006/relationships" id="294" r:id="R55635e1560ac44c6"/>
    <p:sldId xmlns:r="http://schemas.openxmlformats.org/officeDocument/2006/relationships" id="295" r:id="Re47dcbae41c14b7a"/>
    <p:sldId xmlns:r="http://schemas.openxmlformats.org/officeDocument/2006/relationships" id="296" r:id="Rf058977adc53449a"/>
    <p:sldId xmlns:r="http://schemas.openxmlformats.org/officeDocument/2006/relationships" id="297" r:id="R8cf85006b0a04209"/>
    <p:sldId xmlns:r="http://schemas.openxmlformats.org/officeDocument/2006/relationships" id="298" r:id="Rb0eec9d4e1d74824"/>
    <p:sldId xmlns:r="http://schemas.openxmlformats.org/officeDocument/2006/relationships" id="299" r:id="R1bc68bdfa0d248ca"/>
    <p:sldId xmlns:r="http://schemas.openxmlformats.org/officeDocument/2006/relationships" id="300" r:id="R3e0f5bc286c14d7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346759b734097" /><Relationship Type="http://schemas.openxmlformats.org/officeDocument/2006/relationships/theme" Target="/ppt/theme/theme1.xml" Id="R283b8c73f3444294" /><Relationship Type="http://schemas.openxmlformats.org/officeDocument/2006/relationships/notesMaster" Target="/ppt/notesMasters/notesMaster1.xml" Id="R6b1aaca19c6e4a67" /><Relationship Type="http://schemas.openxmlformats.org/officeDocument/2006/relationships/presProps" Target="/ppt/presProps.xml" Id="Ra8b18ffce9534128" /><Relationship Type="http://schemas.openxmlformats.org/officeDocument/2006/relationships/viewProps" Target="/ppt/viewProps.xml" Id="Rd425044e49ed4fbb" /><Relationship Type="http://schemas.openxmlformats.org/officeDocument/2006/relationships/tableStyles" Target="/ppt/tableStyles.xml" Id="R8fd357dd009e4acf" /><Relationship Type="http://schemas.openxmlformats.org/officeDocument/2006/relationships/slide" Target="/ppt/slides/slide1.xml" Id="Rc563111b0a994a9e" /><Relationship Type="http://schemas.openxmlformats.org/officeDocument/2006/relationships/slide" Target="/ppt/slides/slide2.xml" Id="R746b20eb04054433" /><Relationship Type="http://schemas.openxmlformats.org/officeDocument/2006/relationships/slide" Target="/ppt/slides/slide3.xml" Id="R9c4abcacfd8e44da" /><Relationship Type="http://schemas.openxmlformats.org/officeDocument/2006/relationships/slide" Target="/ppt/slides/slide4.xml" Id="R6add7cfa5900442f" /><Relationship Type="http://schemas.openxmlformats.org/officeDocument/2006/relationships/slide" Target="/ppt/slides/slide5.xml" Id="Rddf42e19713944ec" /><Relationship Type="http://schemas.openxmlformats.org/officeDocument/2006/relationships/slide" Target="/ppt/slides/slide6.xml" Id="R6a6494bddb294539" /><Relationship Type="http://schemas.openxmlformats.org/officeDocument/2006/relationships/slide" Target="/ppt/slides/slide7.xml" Id="R30800e4b35464295" /><Relationship Type="http://schemas.openxmlformats.org/officeDocument/2006/relationships/slide" Target="/ppt/slides/slide8.xml" Id="R63e37ca181eb4535" /><Relationship Type="http://schemas.openxmlformats.org/officeDocument/2006/relationships/slide" Target="/ppt/slides/slide9.xml" Id="Rfc8e6aa8b9674812" /><Relationship Type="http://schemas.openxmlformats.org/officeDocument/2006/relationships/slide" Target="/ppt/slides/slide10.xml" Id="Rf35a64fde3d14c41" /><Relationship Type="http://schemas.openxmlformats.org/officeDocument/2006/relationships/slide" Target="/ppt/slides/slide11.xml" Id="R84592f657f914b43" /><Relationship Type="http://schemas.openxmlformats.org/officeDocument/2006/relationships/slide" Target="/ppt/slides/slide12.xml" Id="R6b45ac2be4e040ba" /><Relationship Type="http://schemas.openxmlformats.org/officeDocument/2006/relationships/slide" Target="/ppt/slides/slide13.xml" Id="R59e94d39973f4f2b" /><Relationship Type="http://schemas.openxmlformats.org/officeDocument/2006/relationships/slide" Target="/ppt/slides/slide14.xml" Id="R3d03bcf3d83b4e0f" /><Relationship Type="http://schemas.openxmlformats.org/officeDocument/2006/relationships/slide" Target="/ppt/slides/slide15.xml" Id="R424f8604a2d94c0f" /><Relationship Type="http://schemas.openxmlformats.org/officeDocument/2006/relationships/slide" Target="/ppt/slides/slide16.xml" Id="R657134b06f4e437f" /><Relationship Type="http://schemas.openxmlformats.org/officeDocument/2006/relationships/slide" Target="/ppt/slides/slide17.xml" Id="Rfef982fdfe164819" /><Relationship Type="http://schemas.openxmlformats.org/officeDocument/2006/relationships/slide" Target="/ppt/slides/slide18.xml" Id="R997b5cf36e944e83" /><Relationship Type="http://schemas.openxmlformats.org/officeDocument/2006/relationships/slide" Target="/ppt/slides/slide19.xml" Id="R649be5c69abe4b62" /><Relationship Type="http://schemas.openxmlformats.org/officeDocument/2006/relationships/slide" Target="/ppt/slides/slide20.xml" Id="R4bdcfedc6c34493f" /><Relationship Type="http://schemas.openxmlformats.org/officeDocument/2006/relationships/slide" Target="/ppt/slides/slide21.xml" Id="R53579c17fd8c473d" /><Relationship Type="http://schemas.openxmlformats.org/officeDocument/2006/relationships/slide" Target="/ppt/slides/slide22.xml" Id="Rb30d847e0938435b" /><Relationship Type="http://schemas.openxmlformats.org/officeDocument/2006/relationships/slide" Target="/ppt/slides/slide23.xml" Id="R6a6d3fbf2cf84fa7" /><Relationship Type="http://schemas.openxmlformats.org/officeDocument/2006/relationships/slide" Target="/ppt/slides/slide24.xml" Id="R7d8c0e6d03204724" /><Relationship Type="http://schemas.openxmlformats.org/officeDocument/2006/relationships/slide" Target="/ppt/slides/slide25.xml" Id="R12fac56ac0b647fa" /><Relationship Type="http://schemas.openxmlformats.org/officeDocument/2006/relationships/slide" Target="/ppt/slides/slide26.xml" Id="R17822773232045f8" /><Relationship Type="http://schemas.openxmlformats.org/officeDocument/2006/relationships/slide" Target="/ppt/slides/slide27.xml" Id="Rb7d44a290fee4c8a" /><Relationship Type="http://schemas.openxmlformats.org/officeDocument/2006/relationships/slide" Target="/ppt/slides/slide28.xml" Id="R2337af591d9b4233" /><Relationship Type="http://schemas.openxmlformats.org/officeDocument/2006/relationships/slide" Target="/ppt/slides/slide29.xml" Id="R56177a0092f24ff2" /><Relationship Type="http://schemas.openxmlformats.org/officeDocument/2006/relationships/slide" Target="/ppt/slides/slide30.xml" Id="Rc0131fa9c86c49a7" /><Relationship Type="http://schemas.openxmlformats.org/officeDocument/2006/relationships/slide" Target="/ppt/slides/slide31.xml" Id="R594021adec1f4b98" /><Relationship Type="http://schemas.openxmlformats.org/officeDocument/2006/relationships/slide" Target="/ppt/slides/slide32.xml" Id="R2703d567f8b94cd7" /><Relationship Type="http://schemas.openxmlformats.org/officeDocument/2006/relationships/slide" Target="/ppt/slides/slide33.xml" Id="Rce0b910193c34368" /><Relationship Type="http://schemas.openxmlformats.org/officeDocument/2006/relationships/slide" Target="/ppt/slides/slide34.xml" Id="R1b06119925e64055" /><Relationship Type="http://schemas.openxmlformats.org/officeDocument/2006/relationships/slide" Target="/ppt/slides/slide35.xml" Id="Rb17a41bf795941cc" /><Relationship Type="http://schemas.openxmlformats.org/officeDocument/2006/relationships/slide" Target="/ppt/slides/slide36.xml" Id="R82023da5b7a24aee" /><Relationship Type="http://schemas.openxmlformats.org/officeDocument/2006/relationships/slide" Target="/ppt/slides/slide37.xml" Id="Rc83bcadc4f2042e0" /><Relationship Type="http://schemas.openxmlformats.org/officeDocument/2006/relationships/slide" Target="/ppt/slides/slide38.xml" Id="R18af7e2cd16840bb" /><Relationship Type="http://schemas.openxmlformats.org/officeDocument/2006/relationships/slide" Target="/ppt/slides/slide39.xml" Id="R55635e1560ac44c6" /><Relationship Type="http://schemas.openxmlformats.org/officeDocument/2006/relationships/slide" Target="/ppt/slides/slide40.xml" Id="Re47dcbae41c14b7a" /><Relationship Type="http://schemas.openxmlformats.org/officeDocument/2006/relationships/slide" Target="/ppt/slides/slide41.xml" Id="Rf058977adc53449a" /><Relationship Type="http://schemas.openxmlformats.org/officeDocument/2006/relationships/slide" Target="/ppt/slides/slide42.xml" Id="R8cf85006b0a04209" /><Relationship Type="http://schemas.openxmlformats.org/officeDocument/2006/relationships/slide" Target="/ppt/slides/slide43.xml" Id="Rb0eec9d4e1d74824" /><Relationship Type="http://schemas.openxmlformats.org/officeDocument/2006/relationships/slide" Target="/ppt/slides/slide44.xml" Id="R1bc68bdfa0d248ca" /><Relationship Type="http://schemas.openxmlformats.org/officeDocument/2006/relationships/slide" Target="/ppt/slides/slide45.xml" Id="R3e0f5bc286c14d7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fcc89a6e81c40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91cfbbb6e84ea9" /><Relationship Type="http://schemas.openxmlformats.org/officeDocument/2006/relationships/notesMaster" Target="/ppt/notesMasters/notesMaster1.xml" Id="R41ec1327c42842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75aec423a24156" /><Relationship Type="http://schemas.openxmlformats.org/officeDocument/2006/relationships/notesMaster" Target="/ppt/notesMasters/notesMaster1.xml" Id="R20bd1c4079b44e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4e4ea3f15c4c3b" /><Relationship Type="http://schemas.openxmlformats.org/officeDocument/2006/relationships/notesMaster" Target="/ppt/notesMasters/notesMaster1.xml" Id="R0bb45153ba4747c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49546199274a30" /><Relationship Type="http://schemas.openxmlformats.org/officeDocument/2006/relationships/notesMaster" Target="/ppt/notesMasters/notesMaster1.xml" Id="Re800910897f74c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e7227a7d5a4f07" /><Relationship Type="http://schemas.openxmlformats.org/officeDocument/2006/relationships/notesMaster" Target="/ppt/notesMasters/notesMaster1.xml" Id="R14660ca4333445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b0b08e1b7f4f7d" /><Relationship Type="http://schemas.openxmlformats.org/officeDocument/2006/relationships/notesMaster" Target="/ppt/notesMasters/notesMaster1.xml" Id="Rcc4c780228cc4d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361cd5f362b4cac" /><Relationship Type="http://schemas.openxmlformats.org/officeDocument/2006/relationships/notesMaster" Target="/ppt/notesMasters/notesMaster1.xml" Id="Rb0fac6e5dfeb4d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335f006fb7c4f4c" /><Relationship Type="http://schemas.openxmlformats.org/officeDocument/2006/relationships/notesMaster" Target="/ppt/notesMasters/notesMaster1.xml" Id="R74c2e70e769146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ae04c194b524700" /><Relationship Type="http://schemas.openxmlformats.org/officeDocument/2006/relationships/notesMaster" Target="/ppt/notesMasters/notesMaster1.xml" Id="Rf154b147387146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311330b96f14f43" /><Relationship Type="http://schemas.openxmlformats.org/officeDocument/2006/relationships/notesMaster" Target="/ppt/notesMasters/notesMaster1.xml" Id="R55a029e879b94d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3b8d1e9ef4747d9" /><Relationship Type="http://schemas.openxmlformats.org/officeDocument/2006/relationships/notesMaster" Target="/ppt/notesMasters/notesMaster1.xml" Id="R9554928fea00496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71a02bbb6004edb" /><Relationship Type="http://schemas.openxmlformats.org/officeDocument/2006/relationships/notesMaster" Target="/ppt/notesMasters/notesMaster1.xml" Id="R9bfe5c10acc84c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cf6bef635b2474b" /><Relationship Type="http://schemas.openxmlformats.org/officeDocument/2006/relationships/notesMaster" Target="/ppt/notesMasters/notesMaster1.xml" Id="R962e349b23c9412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297caabc5404860" /><Relationship Type="http://schemas.openxmlformats.org/officeDocument/2006/relationships/notesMaster" Target="/ppt/notesMasters/notesMaster1.xml" Id="Ra4c9df4c445f467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5c660611677409f" /><Relationship Type="http://schemas.openxmlformats.org/officeDocument/2006/relationships/notesMaster" Target="/ppt/notesMasters/notesMaster1.xml" Id="R66d276e9aff24c5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2772eebf094a64" /><Relationship Type="http://schemas.openxmlformats.org/officeDocument/2006/relationships/notesMaster" Target="/ppt/notesMasters/notesMaster1.xml" Id="R6c212b4e4ba8416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2bf35e93174be3" /><Relationship Type="http://schemas.openxmlformats.org/officeDocument/2006/relationships/notesMaster" Target="/ppt/notesMasters/notesMaster1.xml" Id="R416df34ed7bd407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041e6de93f34339" /><Relationship Type="http://schemas.openxmlformats.org/officeDocument/2006/relationships/notesMaster" Target="/ppt/notesMasters/notesMaster1.xml" Id="Raa8d9540dbdf44c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9c4f9969d1d4cbd" /><Relationship Type="http://schemas.openxmlformats.org/officeDocument/2006/relationships/notesMaster" Target="/ppt/notesMasters/notesMaster1.xml" Id="R173c8547da564eb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ef060b4317941a8" /><Relationship Type="http://schemas.openxmlformats.org/officeDocument/2006/relationships/notesMaster" Target="/ppt/notesMasters/notesMaster1.xml" Id="R97c9c59839524f5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e5021945d5b4378" /><Relationship Type="http://schemas.openxmlformats.org/officeDocument/2006/relationships/notesMaster" Target="/ppt/notesMasters/notesMaster1.xml" Id="R44a0d70d5aa34e6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372bc4e9b224a6e" /><Relationship Type="http://schemas.openxmlformats.org/officeDocument/2006/relationships/notesMaster" Target="/ppt/notesMasters/notesMaster1.xml" Id="Re080ce6ac48644a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35a7a8dc69a4e2c" /><Relationship Type="http://schemas.openxmlformats.org/officeDocument/2006/relationships/notesMaster" Target="/ppt/notesMasters/notesMaster1.xml" Id="Ref5e1ef5c4314f1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560fa1d451f4e5e" /><Relationship Type="http://schemas.openxmlformats.org/officeDocument/2006/relationships/notesMaster" Target="/ppt/notesMasters/notesMaster1.xml" Id="R284069124a534af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fa8ca123c3e4519" /><Relationship Type="http://schemas.openxmlformats.org/officeDocument/2006/relationships/notesMaster" Target="/ppt/notesMasters/notesMaster1.xml" Id="Ra2fcad5632ae452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029f1159e044482" /><Relationship Type="http://schemas.openxmlformats.org/officeDocument/2006/relationships/notesMaster" Target="/ppt/notesMasters/notesMaster1.xml" Id="R5da3530e1855464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4485516a1544511" /><Relationship Type="http://schemas.openxmlformats.org/officeDocument/2006/relationships/notesMaster" Target="/ppt/notesMasters/notesMaster1.xml" Id="R639ccb4b0653450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ec46241d427f4a1c" /><Relationship Type="http://schemas.openxmlformats.org/officeDocument/2006/relationships/notesMaster" Target="/ppt/notesMasters/notesMaster1.xml" Id="R52969c57cd564f8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20e972c14b44468" /><Relationship Type="http://schemas.openxmlformats.org/officeDocument/2006/relationships/notesMaster" Target="/ppt/notesMasters/notesMaster1.xml" Id="R39eabc59908c46f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9aa08ccee614e62" /><Relationship Type="http://schemas.openxmlformats.org/officeDocument/2006/relationships/notesMaster" Target="/ppt/notesMasters/notesMaster1.xml" Id="R25f0b23dbf5e4f9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a2f9afb73284ecc" /><Relationship Type="http://schemas.openxmlformats.org/officeDocument/2006/relationships/notesMaster" Target="/ppt/notesMasters/notesMaster1.xml" Id="R105dcb349ab74f6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f0ecabb4b614431" /><Relationship Type="http://schemas.openxmlformats.org/officeDocument/2006/relationships/notesMaster" Target="/ppt/notesMasters/notesMaster1.xml" Id="Re85f9ac6932e4f5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a0232d004bd422e" /><Relationship Type="http://schemas.openxmlformats.org/officeDocument/2006/relationships/notesMaster" Target="/ppt/notesMasters/notesMaster1.xml" Id="Rd91022fae7d3400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28417efdf904243" /><Relationship Type="http://schemas.openxmlformats.org/officeDocument/2006/relationships/notesMaster" Target="/ppt/notesMasters/notesMaster1.xml" Id="R534a17e22946422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f98e99087c9e40a9" /><Relationship Type="http://schemas.openxmlformats.org/officeDocument/2006/relationships/notesMaster" Target="/ppt/notesMasters/notesMaster1.xml" Id="R1f907314704a418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ce7e4ef8b3344b73" /><Relationship Type="http://schemas.openxmlformats.org/officeDocument/2006/relationships/notesMaster" Target="/ppt/notesMasters/notesMaster1.xml" Id="R695d07d14434499c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46a60c9abeb4efa" /><Relationship Type="http://schemas.openxmlformats.org/officeDocument/2006/relationships/notesMaster" Target="/ppt/notesMasters/notesMaster1.xml" Id="R6d95dc84fd4047c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2245440f160487a" /><Relationship Type="http://schemas.openxmlformats.org/officeDocument/2006/relationships/notesMaster" Target="/ppt/notesMasters/notesMaster1.xml" Id="Rb97cba2bb34c476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a3ce00e7b534451" /><Relationship Type="http://schemas.openxmlformats.org/officeDocument/2006/relationships/notesMaster" Target="/ppt/notesMasters/notesMaster1.xml" Id="R40c5f6308ebe4ee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1648ae481ce4112" /><Relationship Type="http://schemas.openxmlformats.org/officeDocument/2006/relationships/notesMaster" Target="/ppt/notesMasters/notesMaster1.xml" Id="R0f34a6951bba467a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ef322e21b1b147d1" /><Relationship Type="http://schemas.openxmlformats.org/officeDocument/2006/relationships/notesMaster" Target="/ppt/notesMasters/notesMaster1.xml" Id="Rdfa20cbd042248d3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f35a78c29474053" /><Relationship Type="http://schemas.openxmlformats.org/officeDocument/2006/relationships/notesMaster" Target="/ppt/notesMasters/notesMaster1.xml" Id="R84877fa9f4ff4d6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67017b32f0c04068" /><Relationship Type="http://schemas.openxmlformats.org/officeDocument/2006/relationships/notesMaster" Target="/ppt/notesMasters/notesMaster1.xml" Id="Rc555594f7a034af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759fdbcc55548af" /><Relationship Type="http://schemas.openxmlformats.org/officeDocument/2006/relationships/notesMaster" Target="/ppt/notesMasters/notesMaster1.xml" Id="R7d172e0dda5a4fe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cdf9fffff482467e" /><Relationship Type="http://schemas.openxmlformats.org/officeDocument/2006/relationships/notesMaster" Target="/ppt/notesMasters/notesMaster1.xml" Id="R79df1fab784446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5093986183451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247614bb6e74af7" /><Relationship Type="http://schemas.openxmlformats.org/officeDocument/2006/relationships/slideLayout" Target="/ppt/slideLayouts/slideLayout2.xml" Id="Rde1cb522ad834c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e1cb522ad834c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8172da6c2f454a" /><Relationship Type="http://schemas.openxmlformats.org/officeDocument/2006/relationships/notesSlide" Target="/ppt/notesSlides/notesSlide1.xml" Id="R566dd2c33b5344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5ec995e12348ad" /><Relationship Type="http://schemas.openxmlformats.org/officeDocument/2006/relationships/notesSlide" Target="/ppt/notesSlides/notesSlide2.xml" Id="Rc81af85190674a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349a61670e4091" /><Relationship Type="http://schemas.openxmlformats.org/officeDocument/2006/relationships/notesSlide" Target="/ppt/notesSlides/notesSlide3.xml" Id="Reb0deb7af40b4d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171a99924f4b93" /><Relationship Type="http://schemas.openxmlformats.org/officeDocument/2006/relationships/notesSlide" Target="/ppt/notesSlides/notesSlide4.xml" Id="R24601bdc4e9041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20c05b6b664cb9" /><Relationship Type="http://schemas.openxmlformats.org/officeDocument/2006/relationships/notesSlide" Target="/ppt/notesSlides/notesSlide5.xml" Id="R7032bccdb0dd40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6394f657efa4257" /><Relationship Type="http://schemas.openxmlformats.org/officeDocument/2006/relationships/notesSlide" Target="/ppt/notesSlides/notesSlide6.xml" Id="Rccfbc1474d9845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77f7b8aca74f66" /><Relationship Type="http://schemas.openxmlformats.org/officeDocument/2006/relationships/notesSlide" Target="/ppt/notesSlides/notesSlide7.xml" Id="Rad5fd0b775484a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f19e8e30ca406c" /><Relationship Type="http://schemas.openxmlformats.org/officeDocument/2006/relationships/notesSlide" Target="/ppt/notesSlides/notesSlide8.xml" Id="R38c321969bd740b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f4052558d3453a" /><Relationship Type="http://schemas.openxmlformats.org/officeDocument/2006/relationships/notesSlide" Target="/ppt/notesSlides/notesSlide9.xml" Id="R0fa41ce7c3f047a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5ecf5af6b440a5" /><Relationship Type="http://schemas.openxmlformats.org/officeDocument/2006/relationships/notesSlide" Target="/ppt/notesSlides/notesSlide10.xml" Id="R1ff98e97ae4345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293e500dc34131" /><Relationship Type="http://schemas.openxmlformats.org/officeDocument/2006/relationships/notesSlide" Target="/ppt/notesSlides/notesSlide11.xml" Id="Rfec0419270804eb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e10589a81741a0" /><Relationship Type="http://schemas.openxmlformats.org/officeDocument/2006/relationships/notesSlide" Target="/ppt/notesSlides/notesSlide12.xml" Id="R78205a412a1c4b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e08a6c218147ed" /><Relationship Type="http://schemas.openxmlformats.org/officeDocument/2006/relationships/notesSlide" Target="/ppt/notesSlides/notesSlide13.xml" Id="R548dbd269f1747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d04a1ccd8a43c3" /><Relationship Type="http://schemas.openxmlformats.org/officeDocument/2006/relationships/notesSlide" Target="/ppt/notesSlides/notesSlide14.xml" Id="R1f558f7ee4224f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36496fe81a4a4d" /><Relationship Type="http://schemas.openxmlformats.org/officeDocument/2006/relationships/notesSlide" Target="/ppt/notesSlides/notesSlide15.xml" Id="Raaed65a7c73e490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38e462339a420f" /><Relationship Type="http://schemas.openxmlformats.org/officeDocument/2006/relationships/notesSlide" Target="/ppt/notesSlides/notesSlide16.xml" Id="Rb4b401915d8d4e8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ee9d7e53d94177" /><Relationship Type="http://schemas.openxmlformats.org/officeDocument/2006/relationships/notesSlide" Target="/ppt/notesSlides/notesSlide17.xml" Id="Ra50ce934c2614c7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5ab9253e0a4f78" /><Relationship Type="http://schemas.openxmlformats.org/officeDocument/2006/relationships/notesSlide" Target="/ppt/notesSlides/notesSlide18.xml" Id="Rf6bd6d87daad4e9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7fec18c728461f" /><Relationship Type="http://schemas.openxmlformats.org/officeDocument/2006/relationships/notesSlide" Target="/ppt/notesSlides/notesSlide19.xml" Id="R522bba78239645e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c6a2772041417c" /><Relationship Type="http://schemas.openxmlformats.org/officeDocument/2006/relationships/notesSlide" Target="/ppt/notesSlides/notesSlide20.xml" Id="R2a8ca5a6f928421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7e3eb02976c4279" /><Relationship Type="http://schemas.openxmlformats.org/officeDocument/2006/relationships/notesSlide" Target="/ppt/notesSlides/notesSlide21.xml" Id="R6402ad5bef1b487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4caa90afeb4b2b" /><Relationship Type="http://schemas.openxmlformats.org/officeDocument/2006/relationships/notesSlide" Target="/ppt/notesSlides/notesSlide22.xml" Id="R302856ba9357413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91c94b9ec84982" /><Relationship Type="http://schemas.openxmlformats.org/officeDocument/2006/relationships/notesSlide" Target="/ppt/notesSlides/notesSlide23.xml" Id="Rc5f12862b2eb40e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1fcdc9445f4623" /><Relationship Type="http://schemas.openxmlformats.org/officeDocument/2006/relationships/notesSlide" Target="/ppt/notesSlides/notesSlide24.xml" Id="Rb4ae2dd0fb5d4f8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044e2d7a964d44" /><Relationship Type="http://schemas.openxmlformats.org/officeDocument/2006/relationships/notesSlide" Target="/ppt/notesSlides/notesSlide25.xml" Id="Rcd379c0aa9ff4b6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b183665ee84701" /><Relationship Type="http://schemas.openxmlformats.org/officeDocument/2006/relationships/notesSlide" Target="/ppt/notesSlides/notesSlide26.xml" Id="Rb585b46459444e1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26c8e93b93423a" /><Relationship Type="http://schemas.openxmlformats.org/officeDocument/2006/relationships/notesSlide" Target="/ppt/notesSlides/notesSlide27.xml" Id="R106a01d8e80b4b0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728122be8d42d1" /><Relationship Type="http://schemas.openxmlformats.org/officeDocument/2006/relationships/notesSlide" Target="/ppt/notesSlides/notesSlide28.xml" Id="R8af5a54433b141c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c1f7f631b247f8" /><Relationship Type="http://schemas.openxmlformats.org/officeDocument/2006/relationships/notesSlide" Target="/ppt/notesSlides/notesSlide29.xml" Id="Rd8048a6b3e27464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75f30301f7f42dc" /><Relationship Type="http://schemas.openxmlformats.org/officeDocument/2006/relationships/notesSlide" Target="/ppt/notesSlides/notesSlide30.xml" Id="R33d78159276b46c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33dfd6afcb430b" /><Relationship Type="http://schemas.openxmlformats.org/officeDocument/2006/relationships/notesSlide" Target="/ppt/notesSlides/notesSlide31.xml" Id="R016d346863f648b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21b24d095a4363" /><Relationship Type="http://schemas.openxmlformats.org/officeDocument/2006/relationships/notesSlide" Target="/ppt/notesSlides/notesSlide32.xml" Id="Rf0c4c9adbb5a4fa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80019d523f473f" /><Relationship Type="http://schemas.openxmlformats.org/officeDocument/2006/relationships/notesSlide" Target="/ppt/notesSlides/notesSlide33.xml" Id="R470f9e10c4124a8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732ecba2f24dc3" /><Relationship Type="http://schemas.openxmlformats.org/officeDocument/2006/relationships/notesSlide" Target="/ppt/notesSlides/notesSlide34.xml" Id="R20719d310d654ff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21149d4e36492a" /><Relationship Type="http://schemas.openxmlformats.org/officeDocument/2006/relationships/notesSlide" Target="/ppt/notesSlides/notesSlide35.xml" Id="R624f9c502bec40a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a4841dc7934199" /><Relationship Type="http://schemas.openxmlformats.org/officeDocument/2006/relationships/notesSlide" Target="/ppt/notesSlides/notesSlide36.xml" Id="Re99b18fb0dfd4cf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fe67d073bb48d8" /><Relationship Type="http://schemas.openxmlformats.org/officeDocument/2006/relationships/notesSlide" Target="/ppt/notesSlides/notesSlide37.xml" Id="R00893540724f4db6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03d98e98044516" /><Relationship Type="http://schemas.openxmlformats.org/officeDocument/2006/relationships/notesSlide" Target="/ppt/notesSlides/notesSlide38.xml" Id="R7bade46a96644bf3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589baea4d846a2" /><Relationship Type="http://schemas.openxmlformats.org/officeDocument/2006/relationships/notesSlide" Target="/ppt/notesSlides/notesSlide39.xml" Id="R3f5cfb871b65423f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1e3490d8634ee8" /><Relationship Type="http://schemas.openxmlformats.org/officeDocument/2006/relationships/notesSlide" Target="/ppt/notesSlides/notesSlide40.xml" Id="R3afde3cfef7c436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1cd029d70c4e88" /><Relationship Type="http://schemas.openxmlformats.org/officeDocument/2006/relationships/notesSlide" Target="/ppt/notesSlides/notesSlide41.xml" Id="R8b4c45d001c84c37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38b5c80d35430b" /><Relationship Type="http://schemas.openxmlformats.org/officeDocument/2006/relationships/notesSlide" Target="/ppt/notesSlides/notesSlide42.xml" Id="R2d12c2497f8946a2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6b9439629a4b8c" /><Relationship Type="http://schemas.openxmlformats.org/officeDocument/2006/relationships/notesSlide" Target="/ppt/notesSlides/notesSlide43.xml" Id="R0d123c3c37424b6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6511c9ab9a4fb4" /><Relationship Type="http://schemas.openxmlformats.org/officeDocument/2006/relationships/notesSlide" Target="/ppt/notesSlides/notesSlide44.xml" Id="Red53e51eaee6406d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0cdae5644ad4f55" /><Relationship Type="http://schemas.openxmlformats.org/officeDocument/2006/relationships/notesSlide" Target="/ppt/notesSlides/notesSlide45.xml" Id="R33cfe30b7caa49e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212D8D-56C2-470F-B57D-593B0D9D2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729017-B90B-44CD-B5D5-4B281CD9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12382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77BF0E-0ED0-4382-AD9D-47C1C5E3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552700"/>
            <a:ext cx="8191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5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AE309E-D3D8-4C99-938D-40AAFF48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686050"/>
            <a:ext cx="3048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332BFC-7271-4FE4-8E8B-DC8DA3A8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385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Продуктовая / инвесторская презентация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66F630-AF7F-4DF3-A690-9BDA9886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5483824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59D829-F049-4ECA-BE37-EE2EBAFA2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65F1D-F825-4E7F-AD35-26013D4C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BFECE-F90D-4182-B583-3A96B12A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C50F1-C2B0-4E05-BA47-3C187561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F15EB9-2F6B-411A-88B3-7B2297B87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уже доказали лидеры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991C77-BEBB-4091-935F-562F171DA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D47F13-88C3-4152-959C-A2C8D6B5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0ABDA3-C4E6-41C4-A86D-F586DE4D9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/ Co-Star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04D3E7-F906-4CCA-8A60-9CC5F2DE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личная навигация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7DA16B-5BD4-4D11-AD0E-B6B03E7D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рождения, недельный смысл, совместимость, платные разборы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E1D433-A363-4D46-8484-EE055AA26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iOS: $718K-$797K/мес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C7028-673D-4E84-89E5-F92FE7F05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428750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025F91-81DC-4191-9A0D-3B635320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1600200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/ Headspace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37F3A-0809-4BAB-8D43-F65EFACF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1925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D12F89-C926-4499-BF84-0E015719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057400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доверие к подписке, годовые планы, wellness-привычка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7F3D24-9DBB-4CF8-8D25-06D57F9B2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571750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proxy: около $300M/год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127F13-0E70-44C4-8669-9545E90C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EF34C7-FA52-4B8B-920E-5FBE647C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/ Replika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235970-0B6B-4AC2-9E27-513AEFDC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петля помощника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F4C8F8-0D11-4C42-85DA-5BCBF850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память, аватар, мягкий возврат, эмоциональная непрерывность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EA8CA9-F1CD-4CF7-B8D8-49DBC8937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оценки: $1.5M-$2.36M/мес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8D9168-B1E8-4C0C-AF25-27C5E2A7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381375"/>
            <a:ext cx="4619625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9FB5A-7B27-4882-B024-4E9B0951C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35528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/ HeyGen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987124-5C35-4F79-931A-AE981526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571875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визуальный AI-слой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0BAD2B-2A57-43C7-924E-60357A8B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010025"/>
            <a:ext cx="4191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видео/аватар как premium-результат, не дешевый daily commodity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BCC0FD-EC92-48F9-9D09-7E448467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24375"/>
            <a:ext cx="419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8s Gen-4 Turbo ~= $0.40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19E84C-E56E-46FF-9E8C-8AE4FBF4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10250"/>
            <a:ext cx="809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рынке уже есть все ингредиенты. AURA собирает их в один причинный недельный опыт.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5D2A2E-C83E-4452-8C39-B0A7EA57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921950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B5EC64-B859-49A6-8388-F1A5877A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0F9A2D-1C9D-4CC7-A722-00BF5FFD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4F0FB-4A4C-4484-96F3-58A94DA2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1C245-9EE9-431C-BA67-7DD6B089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07D20D-AFD3-4152-9D07-D0641900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Новый формат находится на пересечении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D396D-2302-497C-917C-FC7D1396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928B3C-EDD5-4CBD-A924-28EE60C5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6600A-30DF-4F69-86E7-5EC5C6AB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Астрология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011BE8-BA95-4202-A1E8-6B2F106D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смысл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445843-51B7-4BEE-8D4B-08EECD9A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7621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F3CCFD-E4F1-4AE5-8A1C-4B247B4A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20002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2B6931-F676-41F1-8A42-71F67B35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384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ежедневный ритуал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24955-B653-4190-AB64-8DAB0D46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F4E822-F576-42EB-AFF6-A64ADF705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AI-помощник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BBAD8D-C163-474C-97E2-0F384DA4E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/ ассистент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053552-AA12-475B-89CF-B701EF09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3857625"/>
            <a:ext cx="209550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198530-9F84-42E5-A5ED-3F58E9BF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4095750"/>
            <a:ext cx="1943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3F5F5-FD46-4AC7-8447-7EAA8D8C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733925"/>
            <a:ext cx="2095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/ видео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D11DDD-8710-450E-B53C-851F491A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52625"/>
            <a:ext cx="2857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2EBB9A-5F74-462B-A257-00DABDBF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0030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C5F26B-D537-4A9B-BBA8-1C64D8820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143250"/>
            <a:ext cx="2133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визуальная навигация недели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9DCC51-D962-45DF-85C1-C2C684E5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19750"/>
            <a:ext cx="8382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не “еще одно приложение с гороскопами”. Это сериал о своей неделе, где смысл приводит к действию, а действие меняет визуальное состояние.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415171-2E63-4B7F-9532-171FBC61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0313513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490C16-C352-4833-8125-F4269CC10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3E3DA-F202-49AA-9C7C-8001980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4AC93D-1840-4327-A40D-4B2191AB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93A7D1-B6C9-49FD-9835-1AE4DA6EA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8B7B4-FD24-4AA3-93E3-726C2EF8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Как мы выводим продукт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86FA2D-EFF8-4992-A79E-0A40D820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B57AD-5E21-4438-BD62-33E93EA5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08B564-BA33-4D86-8BB5-0B0162BAF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912A8F-02FB-4336-B4C0-EDF56E13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77897-A878-4D61-BA95-A69597B0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Смотрим лидеров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159FE8-2292-4B8B-83CD-B8F77A05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Nebula / Calm / Finch / Runway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1088D-8B0D-4628-90E7-7891163A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уже платит за смысл, ритуал, память и визуальный 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0EAED7-E6B5-4D19-AEEB-3076B5C8C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FE9D34-B26A-4A68-9643-C2F932270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78E2F1-8A91-4057-8C31-454B48C0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Находим разрыв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555E6C-A639-44FB-843D-8D087086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приложения дают куски опыта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2B440-EA01-4D9D-9084-A18C7AB2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формата, где смысл превращается в действие и видимое изменение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EF4157-4756-41D8-9784-49663F6A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0D60FB-C68F-4E7F-A187-0D0BD29C7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CE2957-6BA7-4C38-8B48-A57A0911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Формулируем 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116273-28C2-4E83-B04B-FCEA4B29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weekly visual self-guidance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F4A83E-4CDC-4DF7-9ED7-4508F82A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становится личным сериалом, а Life Canvas показывает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0D4F6C-5CC7-4249-A914-1E06884C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BBDBD-1366-4580-93FF-847E4C3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D93322-75A6-4917-8957-2905C7BF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Собираем MVP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5FD1AF-858F-4E46-85DC-D90FD209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Episode → Action → Canvas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2D30AA-4959-4DA7-A0D0-BAF29E443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проверяем не рынок вообще, а понятна ли пользователю причинная петля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57C0F5-8F47-4173-B79A-9A99AAAC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презентации: не “мы придумали приложение”, а “из существующих платных паттернов появляется новый формат”.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F4038E-F110-4964-BC2B-BB627CF0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038330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313F1C-C648-4EC0-9CCE-3205F57C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D2CE4D-3D22-4E56-9FC8-88C12DF8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9B44A-EDD9-4CBA-870F-6B43DFF4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EEBD89-3A74-4EA2-8074-D24228D73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4CA07-D7EF-4389-B8A4-46106618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Пользовательская проблема → ответ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8FF9A0-45D7-43BB-BCEA-9A2DE58E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7ED00-2087-48C8-9F20-1472B74A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сейчас болит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B1E629-A142-4110-B070-1F969B14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53BCD8-57A2-4D65-AC35-A630CF97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Гороскопы дают смысл, но часто звучат общо и не ведут к действию.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800BA-AD47-4745-ACA3-04E12174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F6E3CD-EFE5-48BF-AF78-29CBF26C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 дает ритуал, но не объясняет личную неделю пользователя.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9F314-2F75-4AA6-B17D-26916B1BA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988B89-9B65-42F7-8118-C160D480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 умеет помнить, но не превращает неделю в понятную структуру.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900509-1A2B-4B68-8F0F-ADB0CE1F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B04B58-AB5D-4238-A24F-DBF84F21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Avatar/video tools дают вау-картинку, но она часто не связана с поведением.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CF8A74-5CD3-4E09-8FD5-78644890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должна дать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3A1D4-E0BE-444B-9148-96192C95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A56DD3-B850-49D8-A344-89082AEC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прогноз недели на основе birth data и текущего запроса.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06AB8E-90EF-48E5-A895-73D5272E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2E346C-B047-4656-A745-1C685B27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episode: один фокус дня, одно маленькое действие, один reset.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AF14E-16E8-4CC2-99DF-148C0B81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29785F-2FEA-4AD9-9D91-66CC189C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Canvas: визуальная картинка меняется не случайно, а по причине.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786DBB-126B-4271-96F1-B89925BC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2AB4C1-4C84-4397-9317-92C9122D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recap/video: неделя ощущается как серия жизни, а не набор карточек.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9E6A54-616C-424B-BC86-5A983995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06F2CE-26CF-445A-B335-933A1756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Ассистент с памятью: пользователь чувствует продолжение, а не новый чат с нуля.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97EBA0-8BF7-4E91-A363-ABBD60FC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80D300-DEE8-4B1B-B3DB-EEF0B4AD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3532381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1865AF-01D6-4249-A749-D41E08A8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A9A2B-BA7B-4746-8537-779C0022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BFC17-BC94-46FC-BFC4-7BBB2132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817E3-A232-4164-9844-1058A8E3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6EB1B-9474-45EF-97D3-7189F6DA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 рабочие продуктовые концепции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CA625D-299D-4633-B17E-A30F62A4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E8FA1F-333C-4FF7-B367-EB303546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05B764-A241-4650-89C0-0ECDCD7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Концепция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32070B-AB3D-4EB7-B946-153DF7C3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F57FA5-C1FA-40EE-89B8-5CB6D0CC4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выглядит для пользователя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7EF119-31A6-49B3-AA1D-E11030209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90847-3C6F-427E-BAEF-DE861851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Вау-момент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572E0C-6E2D-44B2-86CF-3B014C58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2EA9E7-736E-4A14-84CC-961ECF3BC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проверяет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79553-0E18-48C4-B3E5-B4D87E006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F31F3F-5A31-4ED0-9859-DA7EFA66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Life Trailer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7FA932-B3B6-4501-A3D1-140DF23E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383586-A7EB-413F-90B0-494BACE9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раз в неделю пользователь получает визуальный трейлер своей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23B72F-B44C-40D4-B8E9-451E176C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91769C-5A65-44A8-83F3-9E68D81D4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“моя неделя выглядит как фильм обо мне”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17684D-FEA6-4B3A-87DE-2D72E71D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6A386D-022D-4E97-B64B-0AE9A072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готов ли пользователь платить за premium visual moment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B42B7D-8D34-4C4E-9949-4E6BBAB6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018E6B-52E9-4EF7-A30B-3613A26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 Self Canvas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4352E9-D815-4843-B5D7-4499E893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168283-1716-463D-91E9-57BA7FFC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ежедневные действия меняют образ будущей версии себя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C6F3EA-7BF8-41C4-AAF7-4C389B94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BC05FF-F76E-4ACB-8D4F-EA002070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“картинка изменилась, потому что я сделал действие”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119A06-0FC5-4D80-AD86-8E7F3337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87E5B9-8700-4103-B583-6CBE750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понятна ли причинность Life Canvas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E54B5C-4993-4C74-AE71-2631A007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F6D16A-9066-491F-815E-04CE6676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Pocket Forecastist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494DFE-568A-48F6-AAFB-FD029A75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A65F73-5ABE-4E68-B56A-394ED030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 помнит контекст и ведет через неделю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6DDBCD5-713D-4207-AEB1-769B11F3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FC1EF0-751D-40F9-8BD5-2EE570795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“он понимает мою ситуацию, а не просто пишет гороскоп”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95B6DA-EB7D-4A55-8E93-2D48EC9B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16F65B-6771-4E04-B0DA-0FD781C5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ли trust + memory + weekly guidance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076E37-28A8-48F9-A14F-E9A475047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1249900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DDE37A-A42B-4054-9425-5FF7D158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F3ECA-4601-4DEB-BB71-9677A3CDB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28B77E-F320-4FA6-98D5-65EE2671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2FABE7-9BC0-4520-9AA2-97614B65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262BB-DE3D-463A-9147-79AED113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такое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BE8AA1-A35A-400E-AD0C-5D0D1CDB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7E64E-584E-4674-ACA3-BA832C7A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Финальная формула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F66973-A3A3-4C27-B050-83F14BAF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— weekly visual self-guidance app: пользователь вводит birth data и текущий запрос, получает прогноз недели, проходит daily episodes и видит изменение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BA8B5F-9016-4C8D-B12C-CDDCAAB8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Главный принцип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5C50D8-3AA9-46DC-AF23-9AFA5AAE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 не продает “предсказание судьбы”. Он продает структуру недели: понять состояние → сделать действие → увидеть изменение → вернуться завтра.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35357-B64F-4EBC-BCDA-8F6CEEAA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внутри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D5B7DB-EDF1-4C2F-A711-A8DA9ABD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Карманный прогнозист/ассистент с памятью, weekly season, daily action/reset, image-first Life Canvas и редкими premium video moments.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38FB6E-0C13-4C50-A03B-D56C08CB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отличает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BD19A7-6FE7-40AB-9325-DDC3D8490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 конкурентов смысл, ритуал, AI-память и визуал часто живут отдельно. AURA соединяет их в причинную петлю.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6C62B0-AC15-4DDB-870A-48064194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не делаем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7FBBB-7000-4728-A860-3DD4A262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безлимитный AI-video generator, социальную сеть или marketplace экспертов в MVP. Сначала доказываем loop.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DA98C4-BA43-4F80-B694-FC24CE66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Критерий жизни продукта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DCB264-4D61-4B88-A844-6F733649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может объяснить, почему Canvas изменился, AURA имеет шанс. Если нет — это просто генератор красивых картинок.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88F031-FF7D-4BB4-8DE9-41B271CC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883637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BAA6F2-6767-4223-9CFA-3243F953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29E8D1-CE38-4684-B23D-FA03FDF4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DFAC2-9CD6-445C-90A6-F7ECDBEF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068C0B-8467-4442-905C-B08B9B6E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F11207-229A-4E7F-A288-A2503DD8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Продуктовая петля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078D3C-57B9-47AF-A028-77E99599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1BBE0B-E86D-48FC-9459-52D75164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A3F0BC-D27F-48E4-B993-E8A630E6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запрос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140816-5FF8-4EF6-8EFB-4126E6C9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личный контекст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C5AB0B-6815-429A-8457-726A4C38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4055A1-7861-4B1F-B806-003E7346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59A10-3DCB-4363-9A3D-C12AFAFA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арка сезона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42958-718B-4668-8BC3-FAC6A14D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3E532-BAB6-4E49-A27E-2BF99FFC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881737-7247-41B9-9F5F-BD9B07B2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9DAA5-163A-47A3-AA9F-2BD1D394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A77100-15A4-46C7-9DB2-23492E9A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Action / Reset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3573BB-0DC6-4CFA-9C8F-EE74401B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маленькое действие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C325A-AEC4-4F4B-9F4C-C87F8529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1619250" cy="723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89723A-3E5F-4105-99F4-B38C3536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800350"/>
            <a:ext cx="1466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16965A-2599-4049-8ED1-97D3BFA3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2900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причинность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67045F-9F80-4F68-B13E-33ED0F34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809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Петля и есть продукт: Episode → Action → Reset → Reflection → Life Canvas → Tomorrow Hook.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0F0C63-ABEF-4778-A760-1C9A7E95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Источник: Google Vertex AI pricing page for Veo 2; exact video model pricing нужно перепроверить перед build.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AD09F1-5C1A-4545-9344-C38DFA86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5772011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5B23E5-3E4C-430A-AA55-5D11673A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7E6BB-D876-4906-9D4B-8CF14C2C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DE723C-6762-49A5-A336-FB4549A9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BD7CE-56B7-4C3B-B703-30679B2C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79FF85-76CB-4B83-BC29-48E34225C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Путь пользователя: первые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E2A23-A7BA-4085-A2D7-014ABCA1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2E64E5-DB1E-4775-AE59-CC063974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914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E01C9-E6E5-473B-A1FC-15380F8F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67232-BFEF-4998-9A54-D6E19994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ED25CC-731A-498B-9EAA-02D582D76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поиска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CB3BEF-0BE7-43C0-B5BE-951FB410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хочет смысл на неделю, мягкий reset или визуальный образ будущей версии себя.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AE6C5-BDAE-4B75-9E59-2F7AA25D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2EA268-E5F4-41AA-A960-71FDB397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День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F7B4DA-5EAB-41C1-B8C9-78955F6D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Первая петля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D15D5-1ED2-4269-9587-2351A2D1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рождения + контекст → первый прогноз → одно действие → первый сдвиг Life Canvas.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F9830D-E3C4-4F94-8B6C-9C867017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5FE9AD-1C75-45B3-8E27-97B4EF4B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B34389-38D2-4498-A8E7-47B94C44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сезон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920CE5-FAA4-4EF8-806E-074A01FE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видит недельную арку, помнит действия и получает recap/визуальный артефакт.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3D7E05-8221-4CA1-AB51-43332871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667000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9FAD85-C04C-45D1-9860-52B20D68D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028950"/>
            <a:ext cx="838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 30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AAC3C7-45E5-451C-8D74-6EEFBA23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95750"/>
            <a:ext cx="1905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система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33800-896C-421C-8A57-F98EBC83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457700"/>
            <a:ext cx="2000250" cy="809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становится ритуалом: память ассистента, сезоны, premium-визуалы, годовой путь.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EAAA58-C3E1-4209-9F12-5A3968B0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150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работает только если пользователь понимает цепочку: ввод → смысл → действие → видимое изменение → возврат завтра.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5608E7-15C3-4743-83E5-28ED713E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262494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7D1539-C054-4867-8C35-ABC23C9A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382675-5177-4915-A103-5B2CC6E8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9E232B-9021-4D03-B2F8-D4BCFA83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78525-29E8-4BF0-892C-6B687066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C672A2-C5A9-449A-8136-5CE402E8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Ключевые экраны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87806-76CE-4028-BC77-55C7863D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36FA26-DB15-4111-90D9-555F8EEA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077AC7-3B23-4083-BCDF-1710386F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295EF-C578-4651-AFC7-1538B91A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769E6F-85DB-4EA3-AF5F-6F844A2DB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Данные рождения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B6473D-30CB-4B9A-BB0D-E8833654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1F3B1-70E0-4618-9486-42EBC155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дата / время / место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текущий вопрос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164D52-1205-4336-A6AE-525B36D6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D9AD64-7D82-4BF0-ABB2-4FED6D8B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D60BDF-9602-486C-B6D0-B8B2D14E1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360515-A0F7-4F1D-9598-C1006A8D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05A0EA-4A6D-4AD9-AE03-41DA93AE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D68CD7-0061-410D-AE2B-20E8F9E4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Прогноз недели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62476F-5AE2-45D4-9AC6-B6608F84C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B99C43-190A-4C5C-9CF9-22F206A52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сезона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напряжения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первое обещание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A945A2-6751-4FAB-94CE-1B38B5B9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F39946-F287-49B5-873D-77ED3D79D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D49CE0-ACF1-4E0E-94CE-106ADF53D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F778CB-6ACE-4860-8618-11989BD8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958C2B-1D5D-4015-9480-DE1E7293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B1970D-CC16-4707-834A-AD66BEA72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episode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AF69B4-9905-45F4-85AC-EEAF0CEB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B9A01C-30B3-4596-BEE7-2913609F5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фокус дня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сообщение ассистента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карточка действия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9FAF45-5B66-4D39-92E5-E929032F6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B49253-00B3-4297-BDBD-6B6D571D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6D0541-25CA-4CE2-8523-DA17826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C4BA76D-32CA-44DF-9962-3938E856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BE4A2A-5017-4B24-A044-B73D6DA6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40459A-8D74-45B1-A73B-4AD4C48D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Reset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4C3783-68CE-473E-A07C-88D42484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CE59561-0C20-4E02-B668-4F1BDF04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2-мин практика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рефлексия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завершение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77D6B0-4347-4AC3-991B-CAF04C0A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29D7D0-CBAA-4BD6-9A7E-E24EB5B2B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3A7E81-804D-4FDA-920B-58963730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4C9CAE-225A-4A65-98F4-10576A82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D40E5C-F24A-4477-BFD6-A839D526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ABD4652-4F99-48B4-826C-C435D7E7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1AD13DD-0CAA-47FD-8C5D-9B42BE01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325ED2-0323-42EB-9F12-9D14A743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/ после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изменилось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изменилось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E5C6EF-FBEA-4817-851D-36873249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9791D9-B841-4F04-883B-6B7C904D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дальше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139F93-0B9E-4B02-B59D-BB7E0BB1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1571625"/>
            <a:ext cx="13144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8DAC776-6835-409F-802E-CF5BCF8F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704975"/>
            <a:ext cx="11049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9630D08-13FB-4E41-8495-BC4A3ACF0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1800225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E0611EF-E6DF-4C1F-A3B0-8521CDB7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1790700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BCCE162-7C58-49D0-ACC5-A2D89FE57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3907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345E4AE-65F7-49EF-BEC9-FD6FE56D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3152775"/>
            <a:ext cx="10096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продолжить сезон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/ annual</a:t>
            </a:r>
          </a:p>
          <a:p xmlns:a="http://schemas.openxmlformats.org/drawingml/2006/main">
            <a:pPr algn="ctr">
              <a:defRPr sz="9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token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9378E20-5746-4039-808F-374E1A7C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4181475"/>
            <a:ext cx="857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571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3CD0257-439C-4478-BBE0-4A8220FF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229100"/>
            <a:ext cx="7810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выбрать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40FD0E0-EEB0-4434-AC0D-052806C8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2925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не финальный UI-дизайн. Это логика того, что дизайнер должен сделать видимым на экране.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423A63E-5F82-4BC8-A7F5-59B4D34F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21632115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794728-19C2-4C7D-851E-9560FC489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47373D-8CAA-430D-9DCB-4BEE1CDB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34BE0-7568-4F2B-8175-C05647E1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EA18B3-81B7-44BD-B147-B751CA41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485EF8-B619-4901-8680-58C01393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Life Canvas должен объяснять причинность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344BB-3820-4C1B-B920-17EF9287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34153-EE7B-4AA5-9F1F-60E22F26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 действия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BA793D-607D-4944-9160-EF568DA5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811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После действия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148DE-B815-4001-BE64-491DDA51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62F079-9A6C-4F2F-808E-FD5AAB77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7650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8D5E6"/>
          </a:solidFill>
          <a:ln xmlns:a="http://schemas.openxmlformats.org/drawingml/2006/main" w="0">
            <a:solidFill>
              <a:srgbClr val="D8D5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445EA-FB93-4131-9D74-4947043D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238375"/>
            <a:ext cx="138112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4B7F5"/>
          </a:solidFill>
          <a:ln xmlns:a="http://schemas.openxmlformats.org/drawingml/2006/main" w="0">
            <a:solidFill>
              <a:srgbClr val="C4B7F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E0A542-E84A-441D-9F83-615595AE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туман / давление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неясная неделя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FCA5F2-6927-4A86-B260-8E926A8BE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00025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FF0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80CC9-AA5C-44D8-83F0-979613FB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57450"/>
            <a:ext cx="1143000" cy="1143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0">
            <a:solidFill>
              <a:srgbClr val="DCEF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2DD767-A404-41D3-A164-845AD086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52700"/>
            <a:ext cx="1190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9D1FEB-DC47-4027-9B66-31DD10AE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28950"/>
            <a:ext cx="85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61D1"/>
          </a:solidFill>
          <a:ln xmlns:a="http://schemas.openxmlformats.org/drawingml/2006/main" w="0">
            <a:solidFill>
              <a:srgbClr val="7B61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BFEB75-3392-4509-90D8-79984DE84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ясный маршрут</a:t>
            </a:r>
          </a:p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собранное состояние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206BE1-A3AB-4E2C-B2A2-2394A2BD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47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46000A-C085-4130-A607-27C80AA6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752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01109B-64C4-46D6-99E7-8CDE302E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57750"/>
            <a:ext cx="714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Пользователь сделал reset и reflection, поэтому Canvas меняется из “туман / давление” в “понятный маршрут / собранное состояние”.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BE9A6A-DC2B-484A-A388-3F4FC8956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676900"/>
            <a:ext cx="819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пользователь говорит “ИИ просто нарисовал другую картинку” — продукт провалился. Если говорит “картинка изменилась, потому что я действовал” — AURA жива.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98A8B-D699-4F6F-9960-FCA90775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4812835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072BF0-2C14-40B4-AAFD-1437FEA5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35DE64-B2B3-4B38-8577-B92A7091A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168662-2661-4E4C-A136-44C43E03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A1B3A4-98E7-4D48-9E5D-F1146E520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68523A-C6A7-4CCB-A386-BEDBC81D4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Premium-видео — это момент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418AB9-9306-4F27-BE00-CA4B4840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B29657-9D15-4FB1-8E29-8167165B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56197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022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3AA1D-B6C0-4771-9A2A-D4E8D5B01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190750"/>
            <a:ext cx="20002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E816E1-D7E3-43C2-9D67-C0C920899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33675"/>
            <a:ext cx="161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WEEK</a:t>
            </a:r>
          </a:p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TRAILER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E489C6-DE6B-4433-B6BC-C2BE8EF0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005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Premium video moment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0239C-73D9-471F-8F57-E49B0860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143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Видео можно включать в подписку только если модель дешевая и жестко лимитирована: один 8s ролик в неделю, а не безлимитная генерация.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4F37F3-0062-4040-A5CB-5BCD9202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146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4A378-726B-414F-ADCC-EA398A0F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7813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8 sec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C7B31E-161D-42E6-AD95-0634EB69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7146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54D070-5AA0-4531-9EAB-292F4E8D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 себестоимость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46DBF9-DCA4-4266-8D75-EE9FB4C3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908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805C03-8C8C-4492-95F7-C05A2145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575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видео/мес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B62C78-7134-40E7-9A20-3A0992A2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1908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FB8F19-AB92-4A6E-A7FE-1490ED956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2575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 себестоимость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C75261-D1BF-4163-8214-08C76CC1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6712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64E82E-F88F-46A1-A01A-64286B04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images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726622-161C-4169-B215-E02C263A7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6712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8854C1-9359-415D-A4F1-97384707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73380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~$0.60-$1.20 себестоимость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5A983-3E36-4CA2-B092-93A4F7E9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43375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64C4C5-B85F-4DB7-9882-DB55BFCE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10050"/>
            <a:ext cx="1466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Итого media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26326C-754D-46BD-BC63-5FA90D9C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143375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7B9D78-5E3F-4B5F-A622-FBF1C251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4210050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~$2.20-$3.80/мес до буфера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273693-87DB-44E5-807D-DF352B6D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895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Бизнес-ход: продавать визуальную подписку, но жестко лимитировать генерации и считать каждый asset.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70935F-16FB-4605-BC01-0B617E21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2536184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B0BDA5-1B25-4080-A9E7-EF3BA51C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810306-7E50-4F69-9893-C0EECE70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FA4BAB-2ABF-458C-90EB-2EB9A88B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A1DE48-5E02-4969-9AA4-846467DF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14EA80-E65F-4D39-98C8-2F3ADB9F7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Архитектура paywall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254223-84F4-48F8-9FBE-E52CF0ABB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FF548A-39F6-4761-9C15-9F0AE91B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086B70-DFE6-4CA8-BF56-E8E7ECDE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9AD8BC-865C-471E-87C5-8D984006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0AD61F-D2F1-445B-A200-F28A71E61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3-7 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лимит картинок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 weekly video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1EB7A-46FC-4BF6-A2B3-DA78B8B6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8A50A3-D19F-4310-99EB-8D9A12FB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активация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F5254E-7214-4689-8C71-D9C9FC5E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BA08A-622C-484D-BB52-4B7CD38F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82FDED-E25B-4A3E-A57C-F3B286B6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DB9EE0-45A3-4FA3-AAFF-2B3F2905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cards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0-2 видео/мес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1B658-E4A3-482A-8F32-50E5A541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A7510E-F53D-4E6C-B0A9-D925C06B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стартовый тест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FE873C-93D7-4F2F-A4B9-BD5F9391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BCA26C-1B2D-4CBE-8287-9732A395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B17E43-5BCE-4115-ADD6-34CAF012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F4F602-D790-4C42-A418-6E390C78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videos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499516-DE86-4ED7-992D-C16A12A2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ECF81A-5808-429E-A765-2C6CBAEC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пакет с видео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5D9586-31CE-4D69-A4F1-2894F77E1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619250"/>
            <a:ext cx="2238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1430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309BF3-7D82-414D-894D-59868B50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1866900"/>
            <a:ext cx="1857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Annual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A50855-7151-4FFA-BA74-C084406B2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2333625"/>
            <a:ext cx="1857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$79-$89/год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12A5EC-1074-4C57-9804-257B9D717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990850"/>
            <a:ext cx="17811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пакет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ниже churn</a:t>
            </a:r>
          </a:p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деньги вперед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DE033A-E36E-4DF6-A67B-E948432A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171950"/>
            <a:ext cx="1381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7620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858A09-28D5-45FC-BE61-9DE11E618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42481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4E0BC6-6173-48CB-A501-AA56B01A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не внезапное повышение, а верхний тест для пакета с 4 видео/мес. Базовую цену нужно тестировать.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07870E-A8C3-47D0-9EB1-7CD3384C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59544637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381281C-0DDB-4799-B3EF-89C3630A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3DAA4-9BB0-4394-86C9-18C475DB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EDABB-25D5-46AB-A938-A7F587C9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B4DEF4-9C5A-4F44-9C87-AAC3AB804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338C0-3C52-4B13-B8BF-8E2C624C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Почему это не просто астрология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A7B90-8FE6-4D1D-8320-252994DE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BB07EE-476A-4416-938C-0995B408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дают существующие приложения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A7B40-3AD4-4DC6-8E52-BB011BD9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C0372-C530-4E49-9289-F1C3B5A3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Astrology: смысл, но часто слишком общий и пассивный.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BF862-4065-445B-8B97-59BB96ED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194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3184CB-ED7C-469D-929A-C0DEC9AD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384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Mindfulness: ритуал, но часто недостаточно персональный.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FE99D3-4E82-4810-855B-9FDDBA75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718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A55D8-1539-44E8-B9F4-B8D43D5B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companion: разговор, но не структурированная неделя.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45A8BA-D4FD-4380-9A58-1E1C3B52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2430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433257-302C-4BB2-82D5-D21EE6D8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41148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tools: визуал, но слабая причинность.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9B9E6F-1C4F-411D-BB4D-72B6BFC00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4095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соединяет AURA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5F8150-62EE-46B6-AD67-9D000D99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669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ABA419-854A-40B0-B234-70E14637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860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Контекст даты рождения без фаталистичного позиционирования.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9A834E-492C-4EA9-9E42-A1EFCA21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241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CD9A30-889D-4F53-A19C-CAAF4D94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432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Недельный сезон, который дает структуру.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06AA24-7359-419D-BFEC-F0879DD2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813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5AD100-A4E8-4AB3-81C7-12F5D348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004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micro-action, который возвращает agency.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F90669-A940-4624-833B-35B5F8B9D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440988-8785-4640-A354-6CABD096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576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Canvas, который меняется по причине.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17DDD0-D1CE-4D1F-94E9-A031641C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228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D2B5B6-491D-4CAD-864E-6AD07AD8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14800"/>
            <a:ext cx="392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Premium-видео как редкий proof-of-magic, а не ежедневная утечка COGS.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A0AF74-9B3B-49FF-B321-D04F5DCE7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666875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460297-89DB-4E9C-8AEA-B1A344978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2189308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865202-1D6A-460B-95E2-6536FF4F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6F1FD-B3FF-4662-BE95-24CA1F75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DFC994-310B-4AEA-8C9F-BFE99495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199CD1-84BD-4845-A2CB-83BD0B3C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0B1B44-2485-4B03-972D-5E1314F1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Карта рынка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9381A-9D58-4A78-B81D-58CFDD1CA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51714E-A4D9-41B5-8306-0D3CB5B7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6212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C3E367-070F-484F-9895-1BAB8C78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2883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5CEDA-2597-4FC5-8FAA-E499F7919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885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consumer mobile apps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6C98C6-1710-423F-AD27-48623017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конкурирует за ежедневную привычку открывать приложение ради смысла, reset и самонавигации.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41C2E4-93AB-44BB-A7A4-0A8A297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0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F6D30-0664-4BDE-8B6D-3A019D10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14713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91F437-496B-4617-983C-0A2C2E50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71825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платных поведения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023DD8-8CE5-4400-8061-4BB340260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личная навигация, wellness-ритуал, память AI-companion, визуальная идентичность/avatar progression.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AED10-6BE1-48F5-91B6-A20EAB39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33875"/>
            <a:ext cx="1000125" cy="1000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2B5EED-0961-473F-ACE2-75F25EF8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00588"/>
            <a:ext cx="8477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E5C65C-54A1-4429-8AEB-075EE23E2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5770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apps + web + AI tools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FFCBCF-82CB-4B50-87AF-E8CF46C86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4095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исследование покрывает app stores, web apps, paywalls, соседние инструменты и ручной competitor walkthrough.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E65F7D-5FC1-45F8-A043-DF8C8AC4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0500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5CBCCC-D96F-4B4B-9210-EEF009A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770F7E-2E7E-4E82-A2C3-4FF3D26A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8120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100k-300k users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DD72F0-FE7E-4B76-A154-D59C855C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30505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достижимый первый масштаб, если creator-led GTM, недельные сезоны и premium-визуалы работают.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BD91C2-9164-43C3-9A6C-FC92E2A5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1143000" cy="952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D53240-77C3-47F1-AE82-42869269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76650"/>
            <a:ext cx="990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EAB09E-B564-4413-A535-35E893DF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09950"/>
            <a:ext cx="228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$30-80M ARR path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AF7DDD-301D-45A6-A044-A6B9D1FD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2762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подписка + annual + premium tokens + creator seasons могут дать venture-relevant upside.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B2B06A-FB22-4D04-B42C-901B70DC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48250"/>
            <a:ext cx="4095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Рынок — это не один horoscope TAM. Это пересечение paid personal meaning, daily ritual и AI visual identity.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9E9F0F-A61B-45DD-8FC5-9BC7250D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603831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3D2766-8387-4F4E-97C8-3860C23A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C9A48-B940-46CE-98A8-73C13F666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7ED62-00D4-4339-94E3-73D9B606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60A9ED-D0B6-454F-97D9-1634FF6B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90B878-CB9A-4141-9B68-35196DAC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Как работают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611F1-16D3-4D6A-8B8A-9FD8A2C4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C9D64-E5CD-40B2-962F-8913BAD8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143250"/>
            <a:ext cx="9096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088C6-3DE7-4D28-B6C1-C6BA04250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3EC795-8BD9-441D-8271-D0AD2A7FD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C46699-C0AB-41B6-A6F1-C3FC7E4D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Внешние сигналы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29EDAE-41AC-418C-8D34-BEC2F248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Rev.now / Sacra / press / API pricing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FB320F-014E-422C-B554-5A2AC51D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Revenue, MAU, payers, price, public COGS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95AAF-FD49-4B86-8085-EBF8D7E7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0475D2-0D14-4C0F-938B-229AE623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21008D-04BD-44B5-8662-62E5F5B4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Производные бенчмарки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7A2D65-B24B-421B-9E1D-6F8214F58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расчет из открытых сигналов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134616-37D6-4BC5-8544-31EEE38D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ARPMAU, paid conversion, CAC bands, COGS per user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98E59-0B57-48BA-9CC0-6BE74958A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988994-4E83-4C4B-94B7-8A5BCCB0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60391F-D1BB-4470-AD8A-913153C8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AURA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44AE0F-9BFD-46F8-92AE-F1B6A4C4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conservative / base / strong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230E5C-B913-4552-A230-EC7F592E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pricing, conversion, token attach, no-free-video rule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C77FF9-7343-49AE-8847-944AFB79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0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28FC34-E4F6-425B-B210-8F029004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66950"/>
            <a:ext cx="6096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DE836E-C068-44AA-8269-F3FBAC49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476625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Продуктовые решения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6DA15F-E09D-4141-B757-BC39F93C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555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55555"/>
                </a:solidFill>
                <a:latin typeface="Aptos"/>
                <a:ea typeface="Aptos"/>
                <a:cs typeface="Aptos"/>
              </a:rPr>
              <a:t>что реально строим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69CAA3-1308-488A-AA94-8CD767C1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339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Plus, annual, token video, image-first Life Canvas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D032C0-ABC1-486F-92AC-84ACAC8D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15000"/>
            <a:ext cx="8382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Презентация не считает оценки конкурентов абсолютной правдой. Она использует их как рамки для гипотез AURA.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DD1C71-7141-4D34-BC95-DA4744F41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4801179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62B03A-2554-4BD8-B7FA-6B0C968BE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5D43D6-B07C-4BE4-851A-E644BB55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69172-8AEB-4DF5-9277-ABD558AF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45BA62-4F30-4A7A-B1DD-6C7A9081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0A217-F193-4C56-8520-C764E3D2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Четыре главные цифры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599DE2-83D8-44ED-8646-D900DA2C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12A38E-5FC0-4A58-923A-1EFD33A7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694D78-A2DD-4313-AFC0-9FF49862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20DCF3-756B-4272-AA70-EDAACCFD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1B883F-DC2F-4824-8E0A-7A6D19663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 Co-Star / Nebula / The Pattern style subscription apps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4ED09-06A3-4E90-8761-A0A5E2F4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6687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580970-544C-48F1-89B1-87779FB2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7642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02746-73E5-440D-BBA8-B28EF692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4310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ARPMAU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236413-BF0B-4CAE-91F6-66787C52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нужна подписка + visual/token uplift, чтобы быть сильнее long-tail astrology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A716C4-7D13-468C-AECA-6FBC523A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90DD79-049B-4A82-B23C-34D60D7C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0D414E-0AA7-471A-91DE-3F32182FB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ARPMAU target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078D8-443C-4CC8-82DB-9DD0EF0E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работают high-intent premium moments: future-self, relationship,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373DDA-4190-4D1C-94A3-AE956ACB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67125"/>
            <a:ext cx="4619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489C39-18A1-4E20-A9F4-D0D9B70D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876675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&lt;$1.50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987054-6EC3-48EF-A6D5-0A7263C5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43350"/>
            <a:ext cx="21431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AI/image COGS target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630B32-7274-472F-B4A2-D3EC5609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05325"/>
            <a:ext cx="4095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 должен быть достаточно дешевым для подписки $9.99-$14.99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EB58EE-039E-49D6-980D-CC798DA9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57875"/>
            <a:ext cx="809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Если ломается хотя бы одна из этих цифр, продуктовую модель нужно менять.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AF7D6C-3F8C-46D7-B2CA-1617C239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92705306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5939A5-21AF-42C9-8B46-B6B5111C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3E0419-AFF1-4CC5-8234-5992D7AB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1BEB5-99E5-411F-92DE-FF88FDCD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2AD0D2-582D-4C1B-85D2-6712D3A7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3F757A-00B0-40A7-BB14-639E7910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конкурентов: главный вывод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E6069-6B30-4A96-93CC-56EFA8B7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4F6309-6187-4099-A2D1-4CC6BABF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A31300-D8A2-44DA-B398-0AE186901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Вопрос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44FF91-9F84-493A-A1AD-B8A678B9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14097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AE9826-D825-45BE-A3C3-CDE7E19B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14763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Сигнал конкурента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A7E6B2-17CF-4A0A-A50E-33B0D7C5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097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15D17E-D68A-4361-B571-A00A9BDD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763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это доказывает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D85614-CD16-43B7-AC4E-9B0D6DFD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14097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D9364-86D3-4486-87B0-E83C32034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4763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580B34-66ED-4293-B82D-4484A368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6F76DC-0FB3-4FBE-A13E-DF92AD73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812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 платят за личный смысл?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C2C5C4-BA75-4586-858F-B4B54C26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1145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979B1B-936A-4379-8A19-EB47E344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1812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iOS: $797.5K/мес, 2.7M MAU,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A34EF1-8A4B-4259-B216-71715854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145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4FF5CD-218A-4E50-A5ED-71034DA5D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1812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conversion ближе к 2-3%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32FD20-2FD4-4E6C-9641-7B6BB5DA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1145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5636E4-58B2-4015-9D78-BF4E0FF4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1812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conversion: 2.5-3.0%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9CE9E4-A196-43C5-B129-02C845AB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C81E8C-9FB5-4782-A162-396468C6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Spiritual guidance монетизируется?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8048F8-1FD7-4263-AA37-B58A685F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28194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24A73D-A8F5-424E-9BDD-FFE18530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860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iOS: $718K/мес, 52K payers, $0.33 ARPMAU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7B4404-4881-4D30-A8FC-CCC6F035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8194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6C433-1432-4874-9E7C-448B78E0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8860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но агрессивный paywall ломает доверие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0387E4-1AFC-4BC3-8FEE-2B13DD0A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8194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C8ACD0-A874-4856-A57E-E7F52B6C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8860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causality + season, не vague psychic pressure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94A9D48-E23B-4E82-9755-2858C49A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242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655E348-B77D-4AF6-ADFC-D90D1CDF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ritual может стать большим?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6F0F3E-0C31-45CE-A7DB-78CC24D8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5242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CE7C1B7-F2E3-47BA-B921-EFDE9DA7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5909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Calm: proxy $300M/год, 4M+ subscribers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98CC3E-BADC-47E9-8571-3DD7D232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5242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4048F12-9BC3-467B-AE5E-E5ED3C0C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909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если есть доверие и annual habit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37C35F-CFF4-4F4C-90C5-1A559465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5242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20B035-84ED-4A8A-B23F-6925A56A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5909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plan после первой завершенной недели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78B7A7-FBF1-42CF-B4E3-CC766EB51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A2087F-CD01-4D60-B1D1-01FE5FE2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AI/avatar создает paid intent?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57CC70-9B8D-4749-A60B-ECCC836A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22910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D17808-4AE8-463B-AA5A-243FDADD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429577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Android: оценка $2.36M/мес, 99K payers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6ABC943-1736-4CE8-8B23-7B6561BE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22910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E6DDC71-28BB-4E31-B3D3-63F7EFA9D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29577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пользователи платят за memory/avatar/voice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78D67C-9A90-4B26-B1A3-6976A270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22910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3FF54A-FDD1-4154-A217-3930AAB6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9577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память ассистента + visual identity layer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90692C-C9A9-4CD4-B531-933B899F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952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669653-AC37-4DB6-97B2-2DD9EB22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00625"/>
            <a:ext cx="1800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повышает ARPMAU?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C2C4D5E-1DE8-4D7B-9012-8C878153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933950"/>
            <a:ext cx="3000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9F4DC14-EEAD-4CDD-A3EE-B153C05A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5000625"/>
            <a:ext cx="284797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Android: $1.82 ARPMAU, 4.5% conversion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2A71036-9A58-40F1-ABCA-5DD90027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933950"/>
            <a:ext cx="271462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0FD8141-3C91-4611-B259-E2214ABA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000625"/>
            <a:ext cx="25622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да, high-intent moments монетизируются лучше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2EFA4CB-EA31-4313-A2F0-4F8B65A5A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933950"/>
            <a:ext cx="25717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F6504F0-0194-4A19-B4C9-EB9C50A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5000625"/>
            <a:ext cx="2419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 / relationship / video tokens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DCB28B4-D071-4997-8FB3-3D26D1C5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Base-case AURA должен считаться как subscription self-discovery, upside — как premium visual/guidance moments.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E4C2B-1941-4421-A5F8-19783A94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18393699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A85D25-6192-4351-A60B-68F744BE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BA79C-7760-4950-BFC8-5B8D3304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4D20D4-B567-44CC-859B-EF04F3555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87001F-653A-4672-A7DA-30E60886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207482-F717-4C18-9A70-2686C5BE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astrology-приложений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C5A56B-81F4-46D4-87EB-E88663F0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3F722B-69C0-4E23-9824-2D52CFFD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7C120-3682-4F10-AB73-F1BC09223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2E1D5-56D5-45EE-931A-783E4FCAE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A0CE7B-EAF3-4F2D-9C12-73B83006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33A030-E431-4E31-B90D-E1470D15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DC3FD7-C010-4178-9667-D9E37AAC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BA1D47-4E89-486F-B686-73F05298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8A302-6B22-46F6-9F4F-F04A24E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788299-5634-447C-B8CA-8A0B0E9F3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9AEBD3-1AA0-4E38-89D9-F1F03279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 iOS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C6F57A-4DBF-4EF8-A667-916B630AB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ADD501-A173-476B-9040-DE1B5792F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$797.5K/мес; 2.7M MAU; 64K payers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22EBFD-44C2-481E-BBA9-C53F4ACD5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E6464C-1C46-4D8A-8418-C3F5A16F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~$0.30; conversion ~2.4%; $8.99/мес + IAP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626A89-C591-43A1-B953-5AE76416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051C52-70A3-40F2-B533-138B5062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paid conversion должен быть 2-3%, не fantasy 8-10%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FED51-7F04-4BE0-9BA4-3623976E9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55B9A9-F676-4219-9140-D58B85CA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iOS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34B7D7-060A-45E1-8AA4-90AEE95C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D43AD8-1C29-48B4-A703-F24B0D6A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$718K/мес; 2.2M MAU; 52K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D44A63-A78C-4A87-B71A-9CFBC57A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3AE50C-D6FF-400A-8F02-FED62A08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~$0.33; conversion ~2.4%; $9.99/мес + weekly IAPs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048106-722A-40BB-82A3-34D126B7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73B4DB-2EEF-4FB2-96C8-5B3B4760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 guidance монетизируется, но trust paywall хрупкий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379E488-6790-4A59-921B-1B280F0D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6861C8-B7FB-45A6-BA45-1A3534D0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The Pattern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B3B7EA-FF82-48E4-8A6D-16E7ADD8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CD5057-10CF-426F-A03D-0F6D7DE9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$36.1K/мес; 160K MAU; 4K payers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2550AB-6F1B-42ED-AA15-A079C5990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C4430C-59D1-4339-80A8-E20142EB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~2.5%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14434A-3B49-4A9F-8958-DEDBDD22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6B3E89E-2774-4B6B-997F-FF7E48763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relationship/self-insight работает, но depth сам по себе не гарантирует scale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DEBA62-AEB2-41B6-88AE-53E8D893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35F9AFD-83AF-4B2D-A313-1347104F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AstroSage Android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6C928A6-914A-4B23-A53A-64EB1BFB4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D46640-CE1B-491A-AE24-3417D170B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$547.8K/мес; 2.4M MAU; 34K payers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9D889A-666A-450C-B04D-A7B18573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C5DFCE-2EC3-4FDD-992C-4C45B283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~$0.23; conversion ~1.4%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E6BDEC6-9BEA-4B7B-802A-DAA67D26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3D74CD-14D5-4938-B27C-9D165135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birth-data utility дает большой reach при более низкой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90C1FB-856C-4A45-88A4-77E6BBE5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FBF44CC-171C-4C84-ACD0-C0750BEE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AstroTime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4A86EC-774C-49F5-86EC-41670FD0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802E03-E6A5-492C-A51C-BABE420D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$440.8K/мес; 242K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88B4792-AE0F-4627-9C87-42804F72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24726AD-4992-42B2-9310-62F9CAA7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~$1.82; conversion ~4.5%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A478543-2F2C-44EB-BCF6-F74B9E55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59AE5F-13F1-49B7-8E56-83B70419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urgent guidance mechanics могут поднять conversion и ARPMAU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F8AC1FC-42C0-41A7-936D-2347762B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40C31DA-90AE-4D47-920F-360E3737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 company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D6FE7B0-ADBE-4B38-9DA6-89D2AF7E5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1F26BC3-1459-4A42-9BE9-6D1261C8C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Rs 1,214 crore FY25 total revenue reported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27C50B1-7EA0-4A74-80F3-02BFAFFA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CF047D8-8D65-4FE0-9D14-95511DFD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consultation marketplace, не pure app subscription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7AC1A4B-2A6F-45DE-A4D4-2E5B3363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ED6224-4AA1-4371-A7FF-6851BFC0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human/expert layer — upside later, не MVP core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CFB3CE-C360-480E-BD51-B7A86A0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Источник: оценки Rev.now и публичные отчеты/пресса. Это directional benchmarks, не audited internal P&amp;L.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8F330BE-6FF9-417B-9D52-1CECD43E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7131796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0E47FB-2EBB-40FA-AB6A-F19716C8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0B72A6-3FFD-47DE-A2BE-2D237EF0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4AA9E4-3E2B-42BE-99B5-E4B25A08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FD232-0AA9-49C5-B114-D375EC40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081D7-56C0-410D-8C84-A9732269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Unit-экономика mindfulness-приложений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9A0DD-4EC7-4352-91F3-9FF8B3FA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4A17E-9984-42AD-A199-2389687E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0E4A43-B057-4D09-BDE4-2E39457E1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F9B979-E37F-4573-8722-EC3A6141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2E0F10-F078-41A8-98F5-65FDD9D08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07E230-8489-42DA-9799-0E490468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225FD-661E-4BF9-999A-ECC79517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Видимая экономика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CA4ACD-D7A1-4834-A8FC-979B7787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1FE01-D157-4E30-8261-F30CE7F8B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9E88F-6DA4-447E-93AE-ED95C2CAC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972523-1C0F-4FCD-B1A9-754DB82A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6BA709-3411-4ACC-B2EC-080C51A7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A6CC3A-1479-4E84-BF5B-83CA1266F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proxy $300M/год; 4M+ paying subscribers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2A32FC-C36F-4D3C-BBFB-95255A59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66C420-057B-4144-8E3D-2396A6F5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$70/год и $14.99/мес price anchors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07F39D-ECA5-4D58-A6C1-54A00F07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D7897D-A5BB-43B2-827E-914AD480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annual wellness subscription может быть большой при доверии и routine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5D91B5-6104-4852-A893-F0B35186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D65C7C-D7D0-49A4-8ED2-35439982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1562EB-7DB7-4028-BD4A-0A3E74AFD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144649-CB7C-4414-82EA-7D1CBE17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$2.35M/мес; 3.6M MAU; 85K payers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EA206F-0569-413B-9390-43E1DBDAF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CF0819-2CDB-41B4-B706-20509970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~$0.65; conversion ~2.4%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061BD0-907B-4342-B587-D633892E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71DB49-6ABA-45CF-AD40-153A6D73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wellness может монетизироваться выше astrology ARPMAU, но нужна retention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DB084B-94B5-4DBC-A871-4A1B2864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A3C679-6285-47EC-93A6-3EACDD8C2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Headspace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B3F480-E5A6-47F2-8630-E3FE23AC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9B4F6DB-9C69-4D20-99E3-5F9E4B79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~$200M/год brand proxy; app-store proxy ~$39-40M/год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AF0207-EA8B-4F8C-B77F-D2B8D8E5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0F526B-AFE6-499B-A0A6-EA1A2130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$12.99/мес price signal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54EAE8-544F-4B86-BD1F-46B30088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02FDC-3BA6-4F06-B139-137F4CEC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off-store/B2B revenue может занижать видимую app economics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B35136-CA1E-4E38-8399-94BF7101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3E0675-96B7-464E-B6E9-92193EE8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Waking Up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194B96-EBC5-4936-9870-CFF90BEC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F7F15B-1F5F-4AD4-963A-898B1B6FD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$492.7K/мес iOS leaderboard estimate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BB5B7C-5EAB-4BF2-9708-65A57B5F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7E6BC9-0473-4ADC-9A04-57364DD7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$19.99/мес; $129.99/год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E2E5CB-1AC9-4278-A9D5-602B0CDA3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C25543-82E2-49CF-B150-ECED64917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teacher voice может оправдать premium pricing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985183-BC13-489E-BC0E-A64DC5B0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9C519E-F86D-4BC5-B374-03F00A6E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Balance Android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D0ED51D-418B-4552-B21A-7A254418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4478457-695A-4F91-B506-502950683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$180K/мес; ~317K MAU; 11K payers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B3EE59-FE44-41B3-8D4A-5C6FC56B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93DAFBF-7172-42FC-8163-33B49497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~$0.57; conversion ~3.5%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0D2F40-F132-461A-8DF8-42D742D7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D6D574C-107D-48A5-B15B-46FC4BB7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personalization может outperform generic meditation libraries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6A3417-6674-468D-8F7A-077B4C68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62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180BC47-A766-4EA6-8764-6CC12C78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29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Meditopia iOS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8BA4E63-6798-4939-BE15-07FBA716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962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2822921-1847-4E52-8C9B-785C8302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29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$118.4K/мес; 629K MAU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8572149-0E76-4401-8F10-F40B52E3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962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ADAD1EE-5DC8-46D3-9F36-225878A6D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4029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 ~$0.19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F670B3A-4C5E-4ADB-9C51-02D4055F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62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F89F594-5D7A-4846-B90E-5351F7C9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29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большой MAU без сильной monetization все еще может быть тонким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CC5007A-3D91-4846-876D-AF3F395EF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взять daily ritual и annual plan logic, а не строить гигантскую meditation library.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B347983-4EF7-40F4-A110-EC926280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8507731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5088EE5-DEFF-4F74-B42F-D46AAB39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F53A41-3F4D-45FE-B769-1B9CFA67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F47D8-77DC-432B-9752-B36D81BE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F073D-1D82-4866-BC5B-D44746379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C68345-CC5F-43B6-9062-F1247475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Экономика AI companion / avatar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0C93D5-8AB9-40C7-8E6C-0B7F86AD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0326C4-75DA-47D9-885B-B5AD87E0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2AFA2E-1B1C-4A93-B826-6FD76EAE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Продукт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323B25-C98C-4C18-AC36-B40BCB6B0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3DC197-40DA-4049-AA83-4372FE2FC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Revenue / scale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D7180A-32C0-4467-9720-F64FDD28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AF3EFA-1D9F-4EEA-AB04-57ED6E76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 что платят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84B26-A5E1-4D3E-9AF4-79FF7292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F53A4-A383-4E31-A515-7B4E0207C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08E5F7-3AEE-47E9-9D18-EB6ED20A8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5BF2B4-F2FA-4B56-98CB-5BEE0FCD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Character.AI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E4BABB-362A-412B-A564-782F34EE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09B6E4-F13E-400C-BF4C-360595D3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$30M-$32M ARR proxy; c.ai+ $9.99/мес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0763B8-A521-4F16-B95A-698DDE22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A2DE7D-4B9E-4AC0-80A5-2EF26F20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priority, memory, engagement, chat volume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C5B1E4-C40E-4ED1-B1D1-4CE257CC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182AE6-285B-482B-B613-84AFE350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может монетизировать engagement, но inference cost и safety доминируют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F3BA3A-1373-4F70-94D4-EC615E318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A3A3D6-CE85-4805-8EB8-FBDD9D8C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Replika Android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86DE6F-74D2-4D44-9FBE-2D3286D25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70C192-FFE9-4F68-B3E8-2A3021DE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оценка $2.36M/мес; 99K payers proxy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10E533-2ECD-4530-9D05-CA798FA1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73779D-EC7E-4225-84E0-9FA1C099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AI companion, avatar, memory, voice/video features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4EE209-E9DE-4858-A087-92252EDE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66699A-D942-4A55-9B87-3E04A49BA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пользователи платят за emotional continuity, не raw text chat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48B3B9-8385-44E5-900A-2BCE6FA7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F666FD-F4DE-4E37-8A9C-D6024C71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Finch iOS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8A1055-09B3-4184-AAF3-99C0359A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D2AEFE-7741-491C-A502-0ACE48AF0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$1.5M-$2.0M/мес public estimate range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3ABEE8-41DD-4EA7-9E52-8470D0F5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4BDA15-2165-47F1-B1E4-91C9917D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self-care pet, soft progression, daily loop, Plus features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B31A8EA-77F4-43C2-B88D-86FE1EB0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99E4EB-22C4-4925-8FE6-B3ED04E3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companion mechanics могут монетизироваться без scary “therapy” positioning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B73075-D259-4DF7-9E16-E4CF8260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22636F-3C0A-48D9-A77B-09C40CF4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D-ID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50EF0D-5699-4B18-BB3C-355E8CA7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E9123D-7956-4930-821E-1CEF4D69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API pricing показывает, что avatar video — paid compute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1642EB0-BB29-4040-B8BE-7D7CF483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799DA7B-3AF5-4235-B68D-B73B4805E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$0.05-$0.0667/sec или plan/credit based pricing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7BA2EC-7227-47B0-87F6-97F59976C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0C6E533-C1A8-43C2-86D3-7638AB604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 — premium event, не free habit content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F88950-73BF-4F6A-87E6-CC8F170F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C7B3AEA-79C8-42E2-B467-944C7C10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4A3E16C-C24D-4F54-A11B-17C0ACF7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EE0441-90E2-4238-BA1E-6F62B26E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$9.99-$14.99/мес + tokens target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413AA9C-3866-4976-9B15-121ED6CD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9E12A2-5098-40AF-8E12-77B53D8D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season, assistant memory, Life Canvas, rare video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18E2195-63D8-4B33-A92A-18193CDC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8793798-6079-4D43-AB64-3CF8F20A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должна быть cost-controlled AI product под premium visual wrapper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2C9F5D-60C3-41E3-83DC-88D65A05E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Аватар — не декорация. Он должен помогать пользователю понять, почему изменилась неделя.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0B525BE-60C6-4010-9C04-FA4891A4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9890786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E4DC8CF-7582-43AF-B015-8891C03D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8E88BE-1621-46B4-AC07-21929CFE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DD0A80-7F96-42A7-ABEB-58C8565A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4C2339-EF90-4DF3-98DD-F45C380C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9E661A-4B74-411E-94EF-DCE57B45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За что люди реально платят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6ACD3D-CF79-4C83-B121-BE795372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9E080D-D5CA-4F0B-9743-A2FF3AC0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5447D8-B265-46D0-A39C-C86E4301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Платный объект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F9D1D8-6F4D-4680-9C23-1EF5776A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40C274-7F44-4648-BCC4-618246C5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Где видно у конкурентов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B6337-FBE0-48A4-86BB-CFFFA562C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11D074-48D9-4D12-AED2-7029A353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платят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0FD26C-BE85-400A-91C3-D787BAD7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5798E0-6CD9-478E-A34B-76A57438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Эквивалент в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B6635-3812-4DDC-A1D3-41617DFF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B90454-4381-4E01-A28C-3CF9A2DB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Месячная подписка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A7EE92-E565-497C-B929-D382C1DF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19FF46-C331-4E7E-B045-C0213A11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Nebula, CHANI, Calm, Balance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C3EDE6-97A5-4A57-8F6A-F9980D16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5F62E2-8708-410B-A636-02B174EAB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регулярная личная ценность и низкое трение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EB3949-8125-4DC8-9A3C-683C4EA6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397608-F9F2-4549-8571-DCAA7A73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Plus: weekly season + memory + Life Canvas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D44213-D579-4792-B29C-38CD12B6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0B5502-780D-464B-A632-937EC25A8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Годовая подписка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7B6D68-9FE7-4EFA-A607-F133F7D6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C0D9CF-6AB8-4D70-A44C-C249E6EA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Calm, Headspace, Waking Up, CHANI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59EEF0-B691-4E8A-B4E1-7647FD2B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A4F507-1C9C-411A-AFD3-6535779A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commitment и cashflow, когда доверие уже сформировано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02C19B-A99A-4863-8F98-E2F69B78A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B1393E-61BD-4808-B964-686F3456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 annual после первой завершенной недели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4C8E22-7452-4AC4-9802-DD1B1C67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8C0B02-74FF-4A06-921E-915A4023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Compatibility / relationship 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89319D-D1C5-4E54-8304-C8CC3528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95A677-3C2D-4987-BE8A-7EBFEAB0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Co-Star, The Pattern, Nebula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87DC8F2-EEC3-40AC-8DBD-77206890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DB88EE-4D0E-4471-8F2B-A870AB8ED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эмоционально важный personal insight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BB1FEED-9DEF-4A9F-9486-D3BCF0DA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F26B2B-1984-4150-861D-56052F03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relationship / future-self special episode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74657BC-E1FF-48C0-AD4D-9E73639B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B29C871-9BD8-4948-87CB-7FE541AE2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Live или urgent guidance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C2F483-6200-48D5-9B0A-DCD04C5E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56A853D-10FB-4439-B071-28D417BC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Astrotalk, AstroTime, Astroyogi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BC47753-D45F-4781-B2A0-D3E0B7357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9E639D-D1CC-4801-936D-71FBD582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момент тревоги: “ответь мне сейчас”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07E6DBE-2ED9-4E48-924C-B5C3C507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F0F9D2F-6E0D-4836-A0F3-4EDFBF6D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AI assistant; human/creator layer позже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AA492C-A9FA-4399-8F5F-A6C4FA76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6C1119-6699-49C5-8469-287C5603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Special visual asset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78411F0-47B9-41C4-A444-66F9CAFB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28731B1-6FBA-405B-80B7-FEC84B74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sketch, aura reading, avatar/video tools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8A9C87E-ADEB-4AB5-8B39-FB8F1128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3454D1B-DE2C-4B52-8DF3-B429BFB3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ownable image себя/будущего/периода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F398BB3-60C8-4AC5-A36C-2D2E6021E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895149F-CDE0-4510-B51E-80C4ED51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trailer или future-self video token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5478644-C0E0-4E7C-BE75-4C4E08D71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4526739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EBDE0D-565E-444C-B11A-8BCD1E5A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8DCF2-0101-4954-BE72-A5FB62F9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17A47-3397-4165-8808-EE9D3104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39BD05-FA30-4760-BB89-E5ACF788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34E6AC-3553-4676-B2AB-41C1211D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Решение по pricing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7A9C92-2114-43E0-98DF-119F27AE0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75E38-CED5-4614-957D-79179AA2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126EE-782F-4BAC-ABF7-F2096CF2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План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AF2198-1963-42B1-B9E3-5FF0E1D0B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287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CA0E75-B7EE-46D8-9340-0AA1093F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954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Цена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5C30F8-1219-4603-B327-58CC3BA8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4287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13FE30-5F61-4DE8-8175-8DC451B9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14954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по генерации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B5D3C3-B940-4131-A9FE-73191A15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4287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743071-CCF4-4CF3-A1AA-81A0012B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14954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маржи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206B68-EF90-4769-96D2-E1956A17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E21618-6553-44E0-8B9A-C5C21CD1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47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94CDE9-DA97-4F39-8629-9504848E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812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402D7-37BD-42EB-A5A7-CC003880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478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E2D01A-BA9E-4392-9B3D-3713FCE8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812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099A97-38B4-4AD3-B9B0-1B27225F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478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Day 1 loop + один medium Life Canvas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A15463-9AC0-4268-AC8C-3CC88C8D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19812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0EB548-54E6-4854-BC91-0324BDE1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0478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target &lt;$0.20; цель — activation, не щедрость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DD0F5B-426B-4B47-B37B-9AAFB87B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413FA9-3556-4D9E-B00C-BDF1434C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00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ED2CCE-E814-4250-8B26-5B84E7B4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336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378C84-0E85-45DB-87B4-1A20429D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03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1CD8DA-A1F3-4AF5-AEBE-CF709E1A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336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B8CF5F-CCD8-4515-8B08-9A7C0E31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003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loop, memory, weekly recap, 30 images/mo, без обязательных 4 видео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DD5554-24A6-4997-9D9D-011AAB37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5336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78E712-0287-47E6-82E0-A23534FB8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6003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нижний price test; проверяем willingness-to-pay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F0636D-639A-45C7-8ABE-496857A7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727E6A-EFA6-4A58-92F8-D16A13E9B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CA2C75C-27AF-44A2-A635-40974759F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BBCF69-B2D8-45FF-A6DC-B873517C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527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AE247E-FC53-4F21-8C34-871952BB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861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9F08325-8BA7-4833-94AD-361685515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527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images/mo + 4 weekly Runway 8s videos + recap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169C2E-BD41-4CCD-B172-721FF0DA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0861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CA3FECE-BA93-4071-A845-EB08727C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1527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— верхний тест для полного video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C9995A6-9385-4683-AB33-3E55B3BC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38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89DA5A-761A-4253-A8EE-F0E3C008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05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annual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8A6ABF5-65DD-4580-B9D4-8190B9D2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385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886C821-BDDA-407F-BF00-0946529C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052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$79-$89/year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44B54C8-58FC-4AB1-ACBF-590EBFFE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6385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A1FBFD-78A4-4BD5-91DB-6DE1B07D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052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тот же loop + annual season framing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3306F4-AD2D-41C9-92B6-10B1601C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6385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F85D542-B4E6-43A2-A60F-5CAB57BA5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37052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cashflow и ниже churn pressure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BD8DD0A-720A-4473-AE69-D311AE93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C70161-BA68-4B07-8DF7-A9627E07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576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video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4E1803C-283D-4A39-80A0-C399342C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910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BF626D-672D-4CAB-959E-A046E28B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5767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$4.99-$9.99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31C852C-61EA-4D70-B12D-A38B3CF4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19100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50A48BD-D5D4-4766-AE7E-14404DFB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5767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Veo/Replicate/HeyGen high-quality moment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EB4BF9B-A9C4-4A61-8BF9-F7DA6F9A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100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91049B7-ED6D-4CBF-9A17-249372CA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25767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нужен, если COGS $2-$4+ или нужен “wow” выше подписки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A58026-5CA0-4A9E-9A3A-DA75D436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A93C98-3B3A-4423-881F-86AB958D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101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163021-0798-47D2-8932-E56ECCE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434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62ED563-AADD-42BA-A65F-C76F51D7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10125"/>
            <a:ext cx="1371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$14.99-$29.99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B227C0C-C688-4204-8E7A-476EA82A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43450"/>
            <a:ext cx="3762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DCA9064-B3A5-495B-ABF3-59317673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810125"/>
            <a:ext cx="360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limited guided pack / custom assistant style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C40286C-BF59-4D19-B62A-BC523385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7434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206CA32-B16A-4F21-863C-15B8FA31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4810125"/>
            <a:ext cx="29432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монетизирует content leverage, не только compute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8D28913-82D8-4FD8-BB35-0AF3F1ED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02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2AC1829-CA0C-47BA-95A7-56CB5413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905500"/>
            <a:ext cx="7905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не должна продавать unlimited AI. Она продает season, memory, causality и лимитированные visual events.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3603A48-A0B5-48D9-BCD8-0072E409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362735392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71AB70-3088-4885-ACB9-BFDBFE99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AF41DB-24A5-4365-BD18-7E83991A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0A553-F9EA-42C8-8C9F-0F288863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D7F12-A30D-44FB-A640-BD98A5FB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3F3D3-90CA-46EC-B268-D9FCD111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Гипотезы conversion / ARPMAU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44C215-C9BF-4DC2-8F25-0AD49C65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CE6BA0-EC54-49B3-ABCF-E2E037EF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6B20D2-5B0F-4BA3-9D52-6F8FCAB8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CBC2C3-9630-4C81-AE21-D2D85519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84D84E-2FCD-4FF1-BDE5-948D4061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746FE-4807-467F-B335-3C8A334F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8043F-2A76-4717-B37E-08A5591F6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8E09DB-76D3-4E98-BE53-E11E0B41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B339F-6133-4ECB-95BF-2F0BC256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A71A22-7787-4D87-A539-AF023BA9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F4FE8F-4957-4596-9033-BDD87A95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EB3752-1FBA-4479-9FC2-1A0DF611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CF6CE4-AE0E-470B-9905-C42ADCB4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A1408-255A-45BE-9451-8AA22FFAE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ED63B4-D25C-4FBD-BA11-21371A2C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961398-B589-49D4-B677-28C3D214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804FED-3F09-46EA-B4EA-EB68B785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4.0-5.0%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31BE88-FBB7-4010-8972-9C2EF21CE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1D3F20-2455-4FDA-96C2-24F24FA5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CFEF63-04B4-4621-81E9-EDA02C3BF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342E3F-45A9-4D63-A6F0-5C35DDC8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37EBA5-9576-4EA5-96D7-C0E8A9F7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815CFA-E00B-4B61-9BB2-71DA009C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3196FE-F43A-4C94-B2CB-DAE4A12F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DF3133-A0A1-493F-AFAE-50DBB21E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$0.80-$1.50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29E9D5-3650-424E-8D8B-6CE77EC8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8EC0DD-0A78-4B36-BA9E-DA1495E0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A2993A-845E-495F-8E7C-2EB5A08A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92663F-B461-456D-B3CF-43B7D180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81C1F36-FDCB-4786-BC18-115D7102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F8B7DE9-8FE2-406B-A01D-30613FD1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$11.99-$12.99 blended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A4A7C4-FBFD-4C84-8B5E-BCC8BB30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2E12A9-F062-4F38-91A5-ECF2E293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0166622-7C8B-46A9-8EE1-38C6BEE5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8A38FD-982A-47FF-BD79-A87EA5C5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Token buyer share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014B37-ADBA-4A32-99C9-985243EA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3A3E9C-3D66-4159-AD0A-FDCF70AD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7ECA5D-4448-4E95-A9CF-7A60A24E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2E28F6-B15F-4C38-BF92-DD10834CF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8-12%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1CAAB52-5E3A-43BC-8267-55E9C414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E2936F-1EBD-4C7B-B021-8A932FCE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15-20%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9D5F95-A84B-4D8A-B135-31C01D36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13ED3BC-F300-492F-A863-5520B22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CB4513-3693-48FD-BBBF-C4C1931F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14EA0A-F0D0-4D7A-9212-36DD6420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$300-$800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B92F80-BD01-4984-8735-262EDADF6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ABAA1CE-15D6-4374-A307-ECCCBCAD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A4D1BF0-9937-491A-A2FA-8DAA7A2C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9388230-DB23-4AD5-BDCE-B6B83B13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$30-$100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A6BA875-261A-42CC-A2FD-2CB49F0E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E008EB7-7636-492F-9466-B5118634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8405D6C-BAC6-40E1-B727-9E48867C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6FA04E-E5B5-417A-8CF7-25A95441D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content app risk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0837DFF-6371-45A9-BB9A-2C57C6C5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4A1A8BB-C095-444E-ACF0-8FA05A0B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работает, если понятна causality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0C095E4-F007-43B5-AF0C-885EDF66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FEB86B4-F5BA-4BB0-BE1C-3735FC25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с high-intent moments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34ADB12-6424-493E-8558-94DE8C79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Гипотезы построены из оценок конкурентов: Co-Star, Nebula, The Pattern, AstroSage, AstroTime, Calm и Balance.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C896907-CF35-45B3-BCF9-3EBDE7B9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0BC6735-BB7A-48F0-A2BC-E9A1A84E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9125332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8B0C57-5511-4C29-BD35-56CF5993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0F53D-C93D-453F-B6A9-CBD6C05E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602E85-B168-4B41-AFFF-A5D6285A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60991-59D4-4832-A966-D0B6666D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76677-7491-4744-B5B4-01E253D2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От бенчмарков к модели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5776CA-DEE1-4F19-95CE-AD18803C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0B2C79-A3F4-4312-9084-06EF45B2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28A6C8-70C4-4270-8F5E-EEEE5F31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763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Вводная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1DAD62-58ED-44E6-A916-266576DB1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097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CA867-118F-4864-940E-C6687FD2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763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Диапазон бенчмарков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356E0C-4762-4F31-AB1F-E08F851A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4097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D3E9E-3C9A-499A-A4F9-8E9AB7A5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4763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Гипотеза AURA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712026-3C4E-4D04-93CD-A719E060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14097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CE761B-2463-4118-A340-2FA78B31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14763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 это разумно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8B6003-CD30-4AFE-9B7B-9608D475C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9DAF8D-A98F-47E6-AADB-F734ADE9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0E6D9A-503D-4908-89D5-4802153B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574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023205-AB09-4572-89A9-33001805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240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1.4-2.5% subscription astrology; 3.5% Balance; 4.5% AstroTime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A38E8-C700-4795-B81B-556F709F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574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956F43-159E-49DE-9AA4-7389C8CE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240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2.5-3.0%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8AEDAB-E215-474D-85BE-76FCB913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0574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3CCAFF-440A-4278-9E71-DFEB4D9A3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1240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case предполагает, что value доказана до paywall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CCEEAB-1395-4DC1-B1AA-C5912189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051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808BD-1B2E-4643-BDF3-AA6962A3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717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ARPMAU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B966CB-DCF0-4212-ADFB-FC654005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7051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B9715E-F6DD-4EDA-84AB-A8E7FFB1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7717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$0.19-$0.37 subscription astrology; $0.57-$0.65 wellness; $1.82+ urgent guidance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14232-AC21-47FB-B790-F33E613E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7051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5488ED-B036-4F93-B420-0D73AC77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7717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$0.35-$0.50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FCC461-77BE-4DC9-8540-D4395BD9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27051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C312CF-F54B-47E9-A9B2-B3F3B7D1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717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AURA должна быть сильнее generic astrology за счет visual/token uplift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7CF468-9E0A-4197-87C4-8A99E8B5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528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F0C9C39-71FE-471D-B683-C6408B71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194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price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55F698-BB8E-42BF-9914-18EEB7D9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528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28E61B-613B-494F-AEB8-FF8DC4B54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194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$8.99-$14.99 common paid band; $19.99+ premium teacher apps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05F42E-489F-4475-8200-8DE04004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3528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654A57-D951-4ACC-B5E6-86146499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4194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$9.99-$12.99 base; $14.99 visual 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E04555-C2B6-46BD-9FEB-AD85BEF17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33528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032FD2-D686-41DA-AFBA-B91DB151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4194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$14.99 появляется только как верхний тест для video bundle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EA93182-8138-494B-9DB9-1D45CF270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88CD17-ACCE-4D48-9940-2C2DDE3A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7335F3-7F35-4E5D-8D27-9FFE9EB7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005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A99013-F805-4206-BEBA-8FFAEA74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0671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~$0.40 / 8s; Veo ~$4 / 8s; HeyGen ~$1.50-$2 / 30s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CB90DA-25BF-49F2-A4B5-8E2C7264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005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C21FE05-48FA-4076-A3E6-CFBD208D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0671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 Runway clips / paid month; no free video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0954E7-263C-4027-8EEA-CF4302C8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0005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5172350-898E-4E2D-A102-CC5A31B4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0671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video можно держать в Plus только при лимитах и capped retries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15CF56-F568-465A-A4B5-FC1F00D8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482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24A30DA-383A-4C9B-9EBA-A3032B3D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14875"/>
            <a:ext cx="1657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payer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6FAE6C-F298-4D3D-9332-9EDE17EF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48200"/>
            <a:ext cx="3333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8DE15A0-9769-48F7-B56D-A0D6B38E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14875"/>
            <a:ext cx="31813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$50-$150 organic/social; $150-$500+ paid web2app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6945493-8427-499B-8A5A-D7067EA58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648200"/>
            <a:ext cx="223837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CF6675-78DE-4BE3-9A52-F325A28A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714875"/>
            <a:ext cx="208597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$100-$250 base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9F1B2D-1BAA-49B3-820B-F51DFAB4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6225" y="4648200"/>
            <a:ext cx="2762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C93CFB0-DA76-4951-973D-C1C83620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714875"/>
            <a:ext cx="26098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acquisition только после retention и paywall data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EC37FA6-622B-4B31-B4DE-1508C034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05500"/>
            <a:ext cx="9525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Это важный мост: данные конкурентов — не готовая модель, а guardrail для модели AURA.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D388E65-BAC5-4148-B60D-69BB75BD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74902063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108006-CF14-4F08-A98B-C75260D6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CEAE53-11B5-4667-9F80-E2291BB8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97EAA-BA96-4C88-AC9E-A5F5FAA2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C222D1-754B-4AA5-9B22-C6FB46D9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1F46A4-984D-427C-B3F7-850D0A5B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Подписка на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F1234B-39AC-474F-9859-DD858BC4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A386-29A4-4BB2-BB3A-9E805161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85875"/>
            <a:ext cx="2524125" cy="433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1D249C-8122-4599-B295-0538D2F3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62100"/>
            <a:ext cx="2047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VISUAL PLUS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D016A-9F12-465E-A9F1-66110B28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38375"/>
            <a:ext cx="185737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cards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images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8s videos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memory + recap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CF2EAD-9A8B-4FBD-97B2-246F1DD5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19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75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~$2.40-$4.05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57A54F-2BA3-4B34-93D7-2E612522A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1952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/ paid user / month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82C84A-3EF6-4CB7-823D-9CBD898A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3811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74215B-7343-4D35-A8D7-B3D2FFD52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4478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EB5A2F-50D5-44F4-8FAA-BE5B246C8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3811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3237BA-2D1D-4C24-8108-2039FF1B2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4478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Частота / месяц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6E6FC-E5AE-44F0-BA4A-EB979C65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5E83DB-D187-4C93-8664-2CCC0783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4478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Модель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CF2DC6-11CB-4DE0-9534-58CE2398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DE8A8C-8CEC-4542-A45D-F93DCAF8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4478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Unit COGS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3D251F-41FA-4000-8384-D4390E12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3811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33C390-C449-4FA6-99BA-F15151FBE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4478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Monthly COGS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50D254-F327-482C-B7DA-16D2B8A8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8954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C10E15-1F2E-40CD-832C-B801DBF6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9621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Текст daily card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6141A6-0248-4C78-B3F5-DEEDF5E0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954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1F8BA8-73A3-4629-A84B-6F285385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9621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B61481-E36F-438A-859C-01A9EFB5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8954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B283AA-D551-4491-9CED-14C2EAED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9621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LLM mini / structured prompt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C1D4CC0-E912-484A-992E-D2BAC9EA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954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BCB1AE-61EF-407D-834B-74C459E4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19621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$0.003-$0.008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CFD24A-0A71-49FE-9356-B41DFA5AB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954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CAF2587-9DCB-4C3B-9310-38B2B928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19621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D941F1-4347-4ADC-B980-9781569C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B4006C-9302-4AF2-A6AC-4BFBF918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4765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image / Life Canvas frame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E30744-0888-48C9-AF7E-8992741E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4098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C09FC1-2C82-44D2-990E-E5394E6A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997CB1-1D86-4138-89BA-0CF6E563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098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B81C5A-597B-415A-86FA-1180A817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765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gen4_image_turbo или low-cost image model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892896-D943-470C-95EF-6307D3EAD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098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D358C46-1D09-4109-8FD5-1CBCE2CE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765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$0.02-$0.04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186A09C-84DC-4FE7-B921-9A29B238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98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32ACCA-CC0C-413C-99AB-025849D1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765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$0.60-$1.20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EE22E1-63F8-495D-9996-CB60044F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241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03D244-96F9-489E-8D85-CFF87B03B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908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8s video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AEAB87-E4C2-455A-9996-6259E078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241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E7BE881-8712-4816-9BFD-16B826AE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908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B1A6CF-BEEF-4B02-B0E5-DAEDF46B9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241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124309E-55A5-42A6-BEFC-1736593E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9908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Gen-4 Turbo, 5 credits/sec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97F180B-838D-4230-ABAF-0AB3BA6A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9241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804F5D-A551-448A-9C5F-646D4560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9908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E344161-A1A4-4DCF-BA3A-04F9D54E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9241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AE6515D-8F0F-48BC-9FED-CD32D030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9908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~$1.60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3B522E1-35C5-4735-A893-8FEA470D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385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05C77D2-F5EC-4234-8D97-81686DB1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5052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Retry / failed generation buffer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D196F6-418C-4D40-A092-70C7AC1F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385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2B76B08-2322-4CA7-8C26-58E3A445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F296118-5B3B-470C-9E29-CCF3B49ED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385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D7D2C22-CB8B-45F9-8C93-9BC3BB3F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5052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media retry reserve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ABF5E0F-1E8E-43CF-BC7C-C4F6BACD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4385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3004C4C-5C27-4F85-B104-5162D4EA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35052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0A35A19-67E7-4B69-ABF3-AA1563FA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4385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93FFB61-1F15-4410-A40A-1F9D7B2F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35052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$0.50-$1.10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969B04B-08C3-41CE-9CC5-DFA117B60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95287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E42594D-33A3-47EF-BF95-55C377A2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01955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Storage / infra / analytics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C2D99E3-4D6E-4142-B097-6C2BA7D4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95287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7FF868E-4235-4CAF-B293-736182EF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1955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месяц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BB4DC1-30BD-41A7-B2B6-5CA5AB9A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95287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FE75BCA-8B6B-4525-9CB7-23C53073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0195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S3 + backend + events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1D2C9C8-4FDB-426E-BBF2-FDC728FC3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5287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FE3CB85-F0B0-471B-A5C1-CF789248A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01955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C9E5A3A-A55B-487F-9C12-C10A823B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95287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631D0D8-1EF6-4408-91DB-B12D657B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01955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$0.20-$0.50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51CE4FF-FB3D-4453-B508-8D90C353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467225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FF04D25-38D2-46C7-9AE0-FD69C8FF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533900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Total paid user COGS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EBC1246-DBB6-493F-901F-03E8ECF0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67225"/>
            <a:ext cx="1381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717449E-910F-4EF2-9ABF-60EAC63D7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533900"/>
            <a:ext cx="12287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package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5AA1A6C-1616-4F4F-849C-3AF3468C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67225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E4A5127-4ABA-4D51-9A0C-2615C095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53390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subscription generation bundle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462EF11-FBD8-49BB-8E99-4A6E5BC0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467225"/>
            <a:ext cx="1123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6E2AADB-FF35-4860-9BBD-3B5069B7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4533900"/>
            <a:ext cx="9715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n/a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E9615BD-FA8C-4AF0-A159-414500284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4467225"/>
            <a:ext cx="1238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CB2CAB1-1EDE-4B62-A919-A7F0463B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33900"/>
            <a:ext cx="1085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~$2.40-$4.05/мес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372EF21-92CC-4DF3-8D22-AB64106A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981700"/>
            <a:ext cx="819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Рекомендуемый Visual Plus bundle: 30 daily visual cards + 4 weekly videos, жестко лимитировано.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F60915B-AFE8-4A48-9F94-D48E7DAED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38740527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E2B74B-1086-498D-895E-C215FE0D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193A1-6F91-41D0-8F35-13001A1AA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3B7E28-B07F-4C23-821E-C3341532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860F5-79D0-493C-8188-FAA7BA13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8DC752-8918-4ED5-BF4E-E919C7CB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free user и break-even conversion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4116F9-77BC-4796-9814-3F0E7214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376A33-6D1B-40EB-BFFF-65D21BC9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144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DD58FA-0755-4B6F-825E-742F2B19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3811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Free-сценарий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F7AD7-CCA6-4BD9-B84A-56FD5E219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3144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BFF2B4-AA3C-4617-87CC-AFC44E1AD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3811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131375-C474-4C14-B71A-447295DEB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144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F40554-C1FE-4331-A2C9-6E82101F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3811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COGS / activated user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3598E3-3370-4A64-A81F-AC976F6D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3144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39917E-3222-43F1-9A30-E8978FAB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3811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случиться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5612CC-B218-4302-96F7-5834FAD1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41DF47-3E66-443F-BE23-62844B24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Light free trial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2067F3-92CB-4E56-92AF-041B259F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9050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827556-5526-4EB3-B418-B6AAA173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9716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первый прогноз + 3 cards + 1 image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22B1DA-ED3D-46DA-92A4-D753B27B3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9050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C22B9-661D-4BBB-ACC2-F31B993C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19716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$0.08-$0.18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1E7743-39FB-4E52-99B1-6E0901B5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9050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4CAC45-D8E5-4E1D-A66E-052958B0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716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для broad acquisition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3C7C95-7DBA-434D-AF2D-8919622C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955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F6931B-0228-441F-B80B-E1F0C178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7-day free loop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CCC204-2D7B-49A9-B723-CC88E663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955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2AB022-C36B-4326-948A-FF7C1813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25622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7 daily cards + 7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0F2CD1-F8A2-4476-B43A-B82176B5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4955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CD779D-EF25-456F-A578-8CB06847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5622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$0.25-$0.55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2A1724-C22A-43CE-969E-094EBDBF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4955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EFEEB1-9FC0-48EF-89BA-1D088796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622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только если видны D1/D7 и paywall intent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3F7FAA-3876-4DC6-B58C-8C5322728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AF5E348-909F-4769-AEC4-2DEDFA26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527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video trial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E2417C-28FF-49F7-99E0-2B6455EE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0861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B23620-833B-45C5-8F8A-BC8B91BF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1527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8s Runway video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9EC84CC-3FE7-4774-AB76-D38B5DEB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861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8E3A20-6043-4E56-8280-D1EDB8AA1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1527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+$0.40-$0.60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F18613-6E3E-487D-9FC4-0356BD12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0861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405EF4-3F58-4F22-8470-F7EFFA4A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1527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рискованно, если не поднимает conversion резко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465FDC-7F6A-41C5-A4CE-7B5C992E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E250563-ADA8-411C-9845-6B3E137E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contribution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F06E20-56D4-4460-80E5-C00EC8D8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766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383E53-2550-41EB-8475-87748AE6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433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 blended price, 15% fee, $2.40-$4.05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EE98E1A-69B4-4A00-9474-126DB88F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766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C886EA-ED7D-4D53-B560-7818A829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433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$6.99-$8.64 / month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9D15B60-CD6D-499B-9924-23068831B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BB4C3F-D0F9-49CA-991C-837713E5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7433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базовая subscription margin per payer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F6E42C-73F0-4814-B88A-AB99A422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4E2584F-9F8C-401D-BA20-2D294A27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Break-even CAC activated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82CB980-12CB-4989-8117-E983B3D4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9D3A497-46ED-474E-83F2-B6908275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33387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3% conversion, 3-month payer life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18540D6-E83E-4EC0-AE75-8734D139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6720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09899F7-3F28-4C69-BA65-B02E698C9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3387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~$0.42-$0.78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02D0F94-ABFB-484A-96BD-B750DC28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672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E073C5A-D73B-42B2-A5F0-B0219ACB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33387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ads пока нельзя масштабировать без лучшего LTV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DC6B087-8655-4EAF-A593-7CA7DC1C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F5356FC-F091-4E51-85F9-528387C6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24425"/>
            <a:ext cx="1847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 CAC activated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563CB65-14FE-448F-B9B3-A8E2E378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577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FFD56E1-14FE-46B1-997D-73F78CB2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27051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5% conversion, 4-month payer life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86B0636-8157-40E5-8946-BDA9D304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8577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1266530-B31B-4A6C-96B0-8542D7CF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924425"/>
            <a:ext cx="20383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~$1.40-$1.73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0B73262-A9D6-4DD1-A274-4999B0EA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577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31030F1-DC06-470B-9D23-FBBF4AFD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24425"/>
            <a:ext cx="29908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возможно только при сильной retention и visual proof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FFB4564-55F3-4FA6-A717-D823D167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1025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79CC0AA-6606-4107-AE17-A2B9E3590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905500"/>
            <a:ext cx="895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не бесплатны. AURA должна тестировать paid acquisition только после замера free COGS и paywall conversion.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221AED-CE12-44DA-A86F-9517C311C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9521096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B57B70E-D811-4D04-8914-1975EC85C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528C18-179C-4B9E-A269-F2431B5F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831BE-28D0-4E01-B9AB-16601331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90F431-1978-4120-9B7A-A94B2301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8593EC-0C8F-4020-9ADA-3CA86E3A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Бенчмарки стоимости генерации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7DA918-500C-46C0-8BA2-D4C3384D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E29C9D-41ED-413A-BC86-3032C51F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391707-FF12-4300-B320-694CF6E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954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DB0393-464B-462B-AA9D-B6E8FF9F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4287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53E1C-8AE6-4C12-8AB5-F425F2187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4954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Provider /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CD4342-B795-466B-978B-DE159E46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4287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6610E4-FD58-4080-9386-F57EC703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4954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price signal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907EC8-9AD2-4B8B-821A-848E9DDC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287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6F3C1C-7C0A-423D-8191-31FD3EBB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4954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 для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302D03-8525-4AEA-B070-DEC7C96B6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431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C7B849-C863-481D-85BD-5E3B8806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97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601FC-A180-4CE1-AC4F-F24DFB8C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9431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775F6-EB31-4F72-8B37-D41825FC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097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GPT-4.1 mini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714E74-632A-4D21-82FC-EB0B6556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431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FF2411-3392-4E06-AEE6-A1FB9F44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097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$0.40 / 1M input tokens; $1.60 / 1M output tokens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B76CA7-6374-4F07-AE9F-78E7E897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9715BF-E953-4E82-B73B-9870D64E0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97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text loop дешевый, если prompts структурированы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FC5DFE-E91F-42F8-8748-9D4BF3D76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305645-17BD-4C2E-A3F5-AC762FC7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41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AC7839-64C8-42E7-938C-E62BEB14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4574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98315C-9CC1-4FBF-89D8-884B8443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5241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OpenAI Images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9AE4CC-021C-48F9-B84D-4CE049B1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4574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612C2A-CD45-44E0-B58E-579BB7E5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241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~$0.01 low / $0.04 medium / $0.17 high per square image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EBF36D-6D83-4D83-9C00-6DCD474C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574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FAD258-CFD1-4B22-83A3-ABF8BA4C8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241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можно включать, если image count capped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4E7ADB-CA6A-4AE3-A476-06053226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718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0D1FB9-F42C-4056-A77F-C4CE2377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37B970-0BED-4D4A-811E-D5391BC8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9718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C01983-2A56-44DB-AB60-8930969F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0384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Google Veo 2 / Vertex AI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7367F6-10A5-4C85-89F1-C69A297F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718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A166F0-84A1-4F64-8503-4BC10447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384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~$0.50 per generated second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E54174-7CF1-4DCE-B30D-B7650BD6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9718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3493225-F116-4E09-8E54-48125FB7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$4.00; нельзя делать free daily content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8FAED81-1017-4CB0-9376-B3DBBD56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D76586-8BD9-4561-BD42-63464AD95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528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981CEC1-FE65-4C9C-848D-C0A6F958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4861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A6992D7-BBA2-4EB9-82BB-5A5DBB437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528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Runway API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53AD057-19B4-4491-89A7-E23BA0FA2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0FAE14-909E-47C1-AB4C-5394B550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528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 per 5 sec API example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E91DEAD-8E6D-4607-9043-24F5E202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4861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EC3B300-BFCC-4384-A797-E9C50F6E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528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$0.40; подходит для тестов, но нужен retry budget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4FC279-0579-4BB7-91E7-50F869EA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0279518-A443-454C-BB87-74AFA055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671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model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6ED530A-DA43-4C66-B1F9-07D0D3F2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0005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09522D8-2C1B-4337-ACA6-6A3C8F65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0671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Wan 2.1 720p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5FE524-4162-4E62-A28F-49B06A67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0005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F6DDEF-2F85-4BE9-874A-FF38D18F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$0.24 per output second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229ED43-2376-4393-8560-A8158EE0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005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BE5C8FC-B121-476B-9DED-2B484BEC4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0671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sec ~= $1.92; лучше как paid token /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527EF80-DB4A-4890-A8AC-BD944E1D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D92793A-EAE4-4E38-9688-216DC60C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8152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Talking avatar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F2E4D1C-7ADD-4152-8E18-C21CC578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451485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01D61B-402B-49F9-B815-70D699A5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58152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API Avatar IV/V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4F3ABD9-1F95-4B6A-8A8E-9A6B8F4B6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CDDFF1A-A061-4943-B70A-55108D277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8152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$0.05/sec photo avatar; $0.0667/sec digital twin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5760021-3619-4713-A32B-CEEA864B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148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AFE70D6-9029-40A8-9D52-BC622636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58152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sec ~= $1.50-$2.00; не default daily loop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20469CA-13BC-46B7-B3F3-2B0D215F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29200"/>
            <a:ext cx="147637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0C3DB62-89C5-458F-A74C-BDFED401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95875"/>
            <a:ext cx="13239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API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7381F66-D343-4E4F-A440-2C96D10B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5029200"/>
            <a:ext cx="2333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138B9B6-0513-4D70-AA6F-678FB936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5095875"/>
            <a:ext cx="21812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D-ID Build plan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F2E97B8-1772-4C5B-90D8-946E9ABF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0292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0B6A410-6B36-407E-8488-CE9CA5FD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5095875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$14.4/mo annual plan; up to 16 offline video min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4D6A4AF-000E-41F1-90DF-214438BE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2920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63153A1-C522-48DD-B188-11529360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095875"/>
            <a:ext cx="3276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~$0.90/min plan math, но limits/watermark/credits важны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6FD001C-02D7-41DA-9965-BA4CC226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Все цены — public API/pricing-page signals на июнь 2026; exact billing нужно перепроверить перед закупкой.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5DC1360-6D7A-411D-8EA5-E3260F3A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Источники: OpenAI, Google Vertex AI, Runway, Replicate, HeyGen, D-ID, Luma public pricing pages.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461D8E6-9444-40A0-92C1-6F85B4A8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05876313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B10A1E-EE79-4A9D-A43A-9CC6B0385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F26FA-8D51-4EB5-A533-C7F468A0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0BC97-ADDA-4289-B03A-1DEBCE38B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CBCF3-3BFC-4F92-B411-7BE572C1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51D6CA-BF6A-4DB5-9D6B-C061A402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Стоимость пользователя / месяц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4BE7C-4A88-4FE2-A1FB-645A7FE6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FACB7-E6A8-4FBE-B646-407C8FB7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531DA9-7B0E-4027-B66A-714E7F59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335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Тип пользователя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F28E9-37CF-4F46-87AC-5FF19BA6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4668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D6ACD-1EED-4A8D-AD95-15890BC0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5335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Usage assumption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377520-DE2F-4E61-8976-08E758A90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4668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AC4365-2B33-466A-81CE-C7A56F01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15335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Variable AI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9C5CEC-4F16-405E-AF9E-43ECD935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668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0A74BE-422A-4CD5-BE05-1117A8EA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5335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Бизнес-смысл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20DDF3-731D-4967-BC5B-D65E942D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A5EFE-3B1D-49C8-9307-F02DA4DC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859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active user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2C35B0-4074-4324-A1EA-06DE84DE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0193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17BA55-E039-4A0A-BF20-F7E050A9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859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 text loops + 1 medium image + no video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9A4A04-6F6E-4CAC-A5C2-7A35C12D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0193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4C720D-54E9-4BD8-B641-03E1C176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0859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$0.10-$0.20 / MAU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59F45C-F8D0-4B0E-B012-F62256F4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0193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4CC95B-6620-4FA6-816D-E10F213C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0859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безопасно, если onboarding capped и нет free video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99946A-31D9-4C3C-A0CD-7EDCE3A0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717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5B37C2-F0AF-40E1-A4B1-1F57DC2F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384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Engaged free user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03BA4C-C4AD-4BDC-B43B-3565213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17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0B4B4B-7E28-4254-B034-58BD98A49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384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 text loops + 2 images + no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53DA6B-9214-47EE-B269-A6BF80ED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5717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DB0554-14D7-4F31-BEA5-D9304FC8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26384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$0.25-$0.45 / MAU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E609BF-1179-4CD9-83C1-09F66775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5717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0E1979-9E74-48DD-A38E-F62ACD78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384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допустимо только если видны retention и conversion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46BD53-85DB-4E70-B418-B678A86A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242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FC01A1-6A21-4528-9C84-A32A131E0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908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Plus с Runway video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8FBCB2-BFE0-4FE7-9187-ED6FF905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242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009F8B-324A-4B99-BF42-09254ABE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908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cards + 30 images + 4 weekly 8s videos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1B032C-CE84-4D14-952D-0FA3CB45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1242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AED5C1-C083-4150-9DB5-04ADE4C3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908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$2.40-$4.05 / payer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C32A57-ECD5-4A87-A225-2FBE1036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242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0B4A4E-205D-4F08-A869-5D562A0E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908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$12.99-$14.99 может держать margin при capped retries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173EC2-3E9F-4495-9736-72E32C11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766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192C52-9579-4D97-9CE5-BEBE29FA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433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с Veo video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4A4A39-4F62-4275-87BD-EF3FB574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6766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07D562-D65D-46B5-AE1B-CFDC05CE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7433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 four weekly 8s Veo clips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362561C-F43D-4481-808B-E7460F54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6766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60547A6-EF08-4371-9E6C-0FEF5019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7433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+$16.00 before retries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5390611-F889-464A-B878-FDD49FD0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766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70474B-3E8E-40B6-8C3B-BFFB6551F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433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слишком дорого для базовой подписки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16AEF83-2CC6-4153-814E-A7126A90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2910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64ACA6B-67DD-47AF-AF90-B1998976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9577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 avatar token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98D3F41-2647-4BB2-AD52-F4562DA6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22910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FC2738E-F161-47B2-A39C-F7E8580C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9577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HeyGen / talking-avatar moment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E8FC1A6-3954-4778-95C1-D34C57F0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22910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E1D24BC-C882-4C1A-AA24-6EACAF62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29577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$1.50-$2.00 per 30 sec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FC9EBF-4A88-4F9B-8223-97B28B65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2910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26A6C2-B4F8-4493-8CB3-AF8045130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29577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продавать отдельным pack или milestone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5FB24E-4102-4516-809A-BB570ABB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138A378-FC2C-464B-AB0F-578182402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48225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High-quality video token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4528AB1-FD50-4455-A758-63B426CD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81550"/>
            <a:ext cx="3286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902B6B9-F08D-4FD9-9445-4AD14AA7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48225"/>
            <a:ext cx="3133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Replicate / Veo / premium model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F165BC8-A48B-4447-A878-023712FD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781550"/>
            <a:ext cx="20478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2ADF784-7E70-45F2-8551-DEFBFBCC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848225"/>
            <a:ext cx="18954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$1.92-$4.00 per 8 sec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4E5BC65-29A5-4723-BB5E-FA1993EE6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781550"/>
            <a:ext cx="3048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350037E-07DB-455D-AEDF-F9C84CD0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48225"/>
            <a:ext cx="2895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token by model quality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4D6B1F1-78B3-47A7-A662-70763F5B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810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DB0BC3B-E3C5-44CC-A0A8-DBDBDF99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505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= LLM tokens + images + video seconds × provider price + storage + support + failed-generation buffer.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6AA1390-22CF-4FC1-8BD3-B8949C6F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57875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Daily product может быть дешевым. Weekly video жизнеспособно только как capped paid subscription benefit или token.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893CFFA-32EA-4788-BBAE-6ED4A2855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68760014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75BFFB-AA54-4EAE-BF01-6EC28A578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05F2F-3010-4418-8CB3-179D2CC6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B37517-6E51-419C-996B-7141801B6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5CBF6-DA6E-493A-BAC6-E73FF80B5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FD08B-ACA9-41D4-B496-7E0BC089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Stress-test стоимости видео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7E7231-DFCA-4048-9CEE-2C33ADF1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716DC3-70E8-4A8D-9B89-6FEB22BD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738FB-EE74-4534-BD8D-BACC60EA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5716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8D4B1-212B-427B-AB41-D6E959CC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5049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45B427-4131-4E50-906D-CEF6A3FA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5716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100 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E9EF8A-7D1D-4969-8D0E-D78563D2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049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D151BD-2AA1-48ED-B3DD-B6DCE050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5716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1,000 users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9A7ADA-C45D-4351-A90D-48234ED6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049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D6125E-A671-450E-8295-4A76F516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716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10,000 users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A2F25B-8376-42DA-9A22-46E16FA7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5049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F539B3-232D-4BCE-8CF2-1BB77E0C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716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Вывод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F3B3A8-7FAB-4A5F-A83C-3BC43F5F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DD17BB-D8D2-44E4-93DF-60232C3D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240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Runway clips / payer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93B428-E04E-453F-9434-37FBA0AA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0574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F2A5ED-BB1D-45AE-B1DB-A7030033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1240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F30391-E609-454E-849F-9D2DAF040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032B9D-7E5A-4F8A-B09D-730226B99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240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24652D-9210-4D2B-B3C1-315F76E8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574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AD5153-A7CA-478C-B493-C0F2B3F4B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240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3A8624C-56AD-4752-BDA9-65BE7EB26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574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E548E8-63F4-4516-9E22-A7BAF8F22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240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жизнеспособно внутри $12.99-$14.99, если paid cohort реальный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3485D4-D2CC-4A5A-A9A7-2B687AA8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7AE160-F665-4A65-A7CE-8961FB78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765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 weekly Veo clips / payer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252FF4-091A-419C-A31F-16EE053A8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6098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9D8FC9-2A68-4EA4-872B-9AA2908A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6765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$1,600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05A5F8-84DA-49C7-A208-A38063E9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098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134A8E-2C03-4D99-B474-7AC98F24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765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$16,000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6CB0B6-E724-4EB0-AE8A-BDA2275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098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A6E446F-9D4E-40BF-AE33-FDFF37F7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765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$160,000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0DEFD17-C14B-4A5B-BFEE-FDFF9442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098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9F93C0D-E068-4C1C-8A3C-CA63A2F4E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765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жизнеспособно как base subscription bundle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EC658CB-19D1-4074-B6E5-044DBFA8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623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1D7D446-296A-4DF7-8434-7D6014AB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289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free Runway trial clip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F67609B-3D8E-44D7-9EA8-51B40B94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1623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24E64A0-BF3A-430D-9023-2732D42E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289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 COGS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165DA33-839D-4659-BC5F-27060064D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623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28C9AA-EC32-4C04-B159-05D12F88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289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$400 COGS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85EC41-F7C9-4789-9DAF-1DFAF7AB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1623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91A8C3A-B67C-487E-9FA2-1457EFC9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289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$4,000 COGS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8D11FF-967C-4857-9F89-DD2E72B7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623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D6F782-0877-433B-9901-7676BACB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289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резко поднимает paid conversion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96ACC0-E770-45A1-A582-449C39A6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1BDFBB0-A734-48E3-92D4-DD796481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814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premium Replicate/Wan clip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8DDCF8E-13EC-4EE4-A9F7-8282B6CA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7147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128C875-A4C8-408A-93EF-167E207A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7814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$192 COGS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9869AF2-A1F2-456C-B58A-8A23183B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7147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A76A5A8-AB6D-474B-B14C-6798C688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814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$1,920 COGS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BCCD0BA-EBB7-4FE4-A1A5-757A332B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BACC00-1C19-464D-8C7B-7E6FEE06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814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$19,200 COGS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1219F5D-7E48-45E6-848E-6F4B788C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A5BB6B0-41FA-4BF1-8002-811B1F9D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814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нужен $4.99-$9.99 token или bundle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047300-150B-4302-8343-C94C49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6720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043C079-3C8E-4646-AE0C-C657D068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3387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 paid 30s HeyGen avatar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BC2838-D8AF-43D2-9B09-04690D5A6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26720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8724A19-2BDD-421D-81C5-65007C5BD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3387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$150-$200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F48444-CECB-426C-8655-C592FDB1F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22B5C06-1A1A-4440-9F60-A323C3F2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3387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$1,500-$2,000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33A5436-125C-4639-B2F2-9F5E1A1F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6720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98B6F10-BF3C-4859-8C24-959D577B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3387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$15,000-$20,000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737D60E-CC77-405E-8BC7-C05DE903D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6720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2C09B33-7315-4365-A0A6-ECB47406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для premium forecast / assistant moment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1D0F4B4-6106-48D2-9088-447C1DCD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19650"/>
            <a:ext cx="2524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48BBC3E-6F53-4E65-AF30-88567D36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86325"/>
            <a:ext cx="23717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30 daily Life Canvas images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2E4C36E3-BB88-482B-A72F-5644EDF9A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819650"/>
            <a:ext cx="1476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F07D8BB-1711-4776-A04B-AA865F6A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886325"/>
            <a:ext cx="1323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$60-$120 COGS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DF50598-0623-42A5-A5BF-32E7E6F5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C54436F-4905-42A5-A8AF-6ADB303E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86325"/>
            <a:ext cx="14668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$600-$1,200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66CA91E-2E19-4D4C-8C5E-D75B95825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196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F424A1C-A4EA-4F10-8B8A-09CD3CAA2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86325"/>
            <a:ext cx="1562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$6,000-$12,000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6CADE3A-4F73-464B-9934-F916DF35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19650"/>
            <a:ext cx="2857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FBA52E7-80C5-4578-B23A-84DB9C6E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86325"/>
            <a:ext cx="27051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безопасно только для paid users, capped retries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D99D5A1-D7D7-4F50-ACA3-783090AF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102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Решение: Runway может быть weekly subscription video; Veo/avatars остаются premium или later.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C3DFBAD-13D3-4A51-A045-EF204C74D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91572066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B1A695C-ADE5-4DF0-B867-4D10105B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A9D0C-0175-45A7-A04C-E229BD746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99B7C9-B20B-48E6-A100-633C4CC9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9E8B2E-792D-4CB5-A5E3-31ACF5A3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4A301-854B-4662-9C57-636F3A88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Базовая финансовая модель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83FE91-1310-4EFB-9218-D8E9C469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91D6A4-76DB-4058-86E3-0EE008908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70B91-0165-4F9B-97B0-AEAEDE03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963E5-A6A5-468E-9C9F-0501C49A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20AA34-539B-4947-BE29-45A0A6CF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10k MAU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17308B-8A81-4F19-9B0F-D1FA813D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B8EF1E-67AF-42CF-BD2D-FA6FEB43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50k MAU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64E32-DEA3-49AF-934E-C62EA9E6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14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B5D1A5-4BAC-43B5-AE5B-503A9CA7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81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150k MAU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97AD78-1855-485D-B62D-47A7BF41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23C09C-0CCC-4E87-B31C-E66D493E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57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38CEA4-69F6-4960-A8FF-B554BD6CA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B08F8F-6738-485A-BECF-B51379ED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ABC5CE-2FF1-419E-B8CA-6928E212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30B8C5-8832-4697-926F-F7253E01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754B25-0506-4D33-ADFB-B2759353C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90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7C3CFB-8531-4D6E-A496-E4BA190F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57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4.5%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5A3751-5435-452D-88FF-7BCC6B49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E34DA6-9FFC-43CE-A3E8-AAA10EAB9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33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BEF08F-0044-4582-AAB0-3DBD0DCD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43B710-5218-45DE-9574-3F7DE8B1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85AA15-8CEF-4713-8B42-4CAF76A7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9376A0-6A2E-4D96-931F-55F77F18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1,500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E57CD7-7A0E-4E70-80F3-9AEE6903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16010F-4280-477B-8E13-54CE1729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33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6,750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81C74B-C959-4DC0-985D-B769DF4A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E4085B-A911-4B0F-9FE3-EC3DE2A3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099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Gross subscription @ $12.99 blended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3A688E-5A3E-4B72-836B-C280CBF6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008EDB-3270-403F-B023-37A7D6104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$1.9K/мес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F0968BF-0CFE-40DA-8C89-13AACFB9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274986-7D49-451E-8F3E-8CB04431F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$19.5K/мес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B293DA-AA14-4958-958A-F2C8FC7B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432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C306E2-7879-43DF-9C9D-4607DAEF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$87.7K/мес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4CBB8E-531E-415B-8D87-296513F3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9C4FD2-5857-4D59-BC1F-56A52541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Net после 15% fee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DBFD4AD-BDF6-4E72-A387-59FCCEB1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516A1F-465F-42B6-ADF3-C1CAA846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$1.7K/мес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F6B6CBC-F5C3-450C-8C8F-E7215C30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88B3755-20BD-4567-9985-BE259CC0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$16.6K/мес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9E1BEB9-1820-4B01-8E8D-4D6A5404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195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55BCD2-5A17-47FF-A0C0-66E16537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861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$74.5K/мес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0D0C88E-EF90-402C-A3E7-12FEA9DC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6CB7A22-B26A-4DD8-B0D3-9DABC6C2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6242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генерации paid users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DF185DF-C94D-470F-853D-119EB30B4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987D10F-3FCD-4F04-97AA-427D82728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$0.4K-$0.6K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FC72E0-0AF3-462E-9A6C-EC596140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C2C71C4-4964-4156-80A3-3ED8264E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$3.6K-$6.1K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28E2518-CACD-423E-9A15-53A4D602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FD3559-0911-4DE5-86C6-6874B641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$16.2K-$27.3K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09B8432-DAEE-4439-8BEF-F57521A5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286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CA485A7-D763-48B2-B289-52D0B2F8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38675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Вердикт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0019262-414B-414C-ADF8-237B079C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BB356BA-207F-4505-9740-6E458BCE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тонко, пока не доказана retention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E73DC35-13DF-4390-8C4A-F1985D871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A25FBB0-77E3-4494-B745-71A1C62E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работает при capped free COGS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BCE4AE8-1445-49B1-8399-90B08B05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72000"/>
            <a:ext cx="247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DDBB55C8-9D63-4E6F-A394-2AB320E8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38675"/>
            <a:ext cx="2324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сильно, если annual + token upsell работают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2A40134-D686-4629-8F43-4A8FA3AB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86375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 model считает blended price $12.99. $14.99 — верхний тест для полного Visual Plus с 4 видео/мес.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45AB29E-92D6-4C67-A151-D5184654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055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7777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77777"/>
                </a:solidFill>
                <a:latin typeface="Aptos"/>
                <a:ea typeface="Aptos"/>
                <a:cs typeface="Aptos"/>
              </a:rPr>
              <a:t>Assumptions: $10-14 ARPPU, image-first cost control, premium video gated. Нужно пересчитать после prototype telemetry.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D75FE60-5087-4E8F-8014-D2B84B82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794552264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CF38A1-42E1-46BF-A380-A1849A47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CCA666-B642-4587-9557-DFBFEA2D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007F8-639B-48CB-B985-B1A5CE73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5547E3-C58E-4059-B0D6-20A17A30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D8F9D-C4A7-4D12-8CF7-29C7087E5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Маркетинговые бенчмарки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BDAD3-427A-4C47-8B26-4155813A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33F660-0FFD-42A7-A2AA-39BECD32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19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F82C4-1E4D-41BF-90A8-2EF97500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85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Конкурент / архетип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38F027-7C75-495C-B489-8C308B7C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219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05852B-0EB0-4A3F-8C9A-D5431562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285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Public marketing signal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4EF11-234D-4C59-BB57-D427DADE1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219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77231B-FF32-4973-BC00-F6A5F124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285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9800B4-91C8-4214-93AA-0CDAC080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219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31AB3C-9232-424D-9CC5-B63D5B23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285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использовать в AURA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027476-9856-4E87-A6DF-2E02158E6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A0A16B-190D-451B-B752-8487D5F0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42E3D9-B612-42B0-AA43-7E2DDB1B9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1676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6EE529-4231-49B4-BA58-D4ADEAD9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17430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$6.8M/мес estimated YouTube ad spend; 620 creatives; 18.6M visits Jan 2026; 50 landing pages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E854E0-7CE8-40FE-A7F5-2EE0C892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6764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3175D0-C782-4BE3-A260-2F33899A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17430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scale требует высокий LTV и агрессивную funnel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BA8BC8-01C9-411C-B5CA-D216E30F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6764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8E19BC-95CF-481F-A867-A2D586F9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7430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как paid-test inspiration, не MVP operating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F59C3A-49C1-4739-9087-17E97C6F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BA4627-ECA5-499A-977D-1837DD19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002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Nebula prelands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D817C9-9385-40B8-A2EA-7B8F17A0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1336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678BA6-2CBF-431D-AA0B-16B2A1E7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2002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soulmate sketch 10% ad traffic; marriage compatibility 8.2%; aura reading 8%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9015527-F9D5-4364-B2ED-5833ED4C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1336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C21788-4889-4527-9E86-4EE63ADE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2002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curiosity hooks могут выглядеть scammy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CAD069-2B12-4145-831B-6BBE4110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1336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85F3D9-51A1-4EC0-A18A-26233208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2002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аккуратно тестировать future-self / visual week / relationship hooks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4E251-2D31-469F-8CF9-435A3CC0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3895FF-7828-477D-A04F-F113E555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574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Co-Star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656E47-8E12-4927-91C1-365840B0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5908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9F8B6D-2A24-40A1-B7AB-F0702F99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6574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20M+ downloads без real marketing spend; 25% young US women 18-25 downloaded historically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6E1C3C-6185-4E15-9EAF-BE4D8125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5908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C9DF60-1313-4C31-AFA8-82BDC272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26574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virality сложно повторить искусственно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64CE2BC-F219-4787-AEEE-144FED05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5908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85D63D-258F-413B-96CC-8EA4711A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6574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строить shareable identity language и relationship/social hooks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4EBA1E-45BD-4734-8EFE-A8B5CD77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29BBE0-0319-4C57-99F9-F516392F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Astrotalk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31C649-6D50-41D3-81CE-B9569929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0480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B4BA1F-68C3-4C70-A7E9-DF9B7CE2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1146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FY25 total expenses Rs 1,129 crore; marketing/tech/ops/talent growth cited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208DD8-A98C-411B-8C13-44A52927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0480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BE243B-039F-4C02-AB0C-D0F76B0E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1146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marketplace growth дорогой операционно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AEC04B-BDC6-465D-A380-B943D3EF9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0480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52BEA71-C2D4-45C4-88F1-4BC9C5FB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146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начинать с marketplace/expert model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9EABF8D-103A-44F5-84F8-FF964FEF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05200"/>
            <a:ext cx="1476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931B91A-5155-4B5F-858C-E1EAA214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71875"/>
            <a:ext cx="13239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CHANI / Waking Up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FA01A98-2D45-4724-A6AE-93B7B1B21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052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2C65CF3-F157-4992-B433-4C58F97D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357187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trusted founder/teacher voice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0CD8C7C-F22D-4C71-B86B-2B53D193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505200"/>
            <a:ext cx="3571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C772450-14B1-41A0-A34F-9899322C2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571875"/>
            <a:ext cx="34194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требует настоящей authority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9D65BA-549C-46F0-BD18-D2F42EFC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505200"/>
            <a:ext cx="3333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9E054A2-809D-4826-9CB1-8BA41A91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71875"/>
            <a:ext cx="3181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использовать экспертизу Алины без guru tone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AFDCD7C-5816-43E4-A722-743F0E86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942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Sources: Web2App World, Axios/TIME, Moneycontrol/ET-style reporting и qualitative product observations.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F3EB1C-184B-4ABC-971D-BB8D6D2F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453464945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EA1ED5-0C39-471A-A1DC-6BF6EDECF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0EAC69-2002-4D6E-B390-255336C6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94AAD-196B-405F-84EE-358176F83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7FF618-36AD-45B2-8839-36C736918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BDC17-222D-4889-8449-86C3A1EB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Модель маркетинговой воронки AURA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04822-D31E-4E48-BA73-01A2E12C3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F0EEC4-0616-43D1-B9FD-56E083FA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918E8E-8EA1-409B-B804-BF395510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9C38E-D85D-43BD-8DF6-29ABAD67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6F908-4D5D-4531-9A74-9065FD8D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Conservative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E1BA13-2929-4F04-8298-B8A913443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0C7E2B-D60E-46E8-A7F9-4C3AF130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43CA0D-B869-46F1-B29D-CBE3295B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3811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64C4AC-0C7F-4481-8C86-C859E03C0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478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Strong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8D8804-7AAE-4D6C-9351-B908ED21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3811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30F4E5-D6E0-44D4-B1EF-8B64BA9F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4478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EDB063-03B4-496B-9FE4-F8E68900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A91877-086C-4BC2-9DC6-B25E010C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Visitor -&gt; signup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689232-2B95-4837-869B-8DC77948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CC7ECB-3966-4F93-BFCF-20A7C7AE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F10DE8-5A12-4B54-91CF-AD1219FC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7DB8F3-AD0B-4D8E-8FE6-4E889E3E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15%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5F7266-5BE4-4142-B6B0-4CE9ABFA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9335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C1DAD7-17EB-427C-9A2F-8E802AA6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002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3F7B92-27AE-435A-8F8C-76FF3389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335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16EECC-C25C-469D-8DC1-66CAA8F4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002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нужно тестировать до ad scale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9E08FE-8FEF-4946-814D-E7B7DA89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CBF15B-9FF0-43A2-AAB0-B9131505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Signup -&gt; activated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3D639C-67A9-4BDF-82AA-343B3810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37F46D-EA72-402B-B1D0-E8E38CAD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EE74BA-2045-4781-8CE3-EEBD5E8C9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1C630F3-85E6-43F0-B954-DC853E12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50%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1D1244-D237-44A7-A6DD-C08F7D5A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860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53902B-54EA-4AF2-A464-4BC709996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5527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65%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49C4160-E6E0-45AB-B536-25A10C1B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860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FD1ED7-642C-4D05-BBE8-9E6C1661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5527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activation = first completed 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72F7439-1597-4C71-8382-7C12FB97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E22F53B-F17E-4642-9E01-434AF576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Activated -&gt; paid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9881EC-7B95-4C56-94AD-ECC99CE9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8B53AA-26BD-49DD-8C01-C253E243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1.5%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C93D1D7-CDCE-455A-B5F9-E08E62D28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C95741-7886-4A41-AF0C-2F48BBFE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3.0%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3562D5-E9FA-4EB5-AC33-7A100D71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384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13DBDB-D99A-4D7E-A5D9-A25F0A91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1051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5.0%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A52A65-74BD-4643-80FF-1CC30A19A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0384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275820-BD25-4251-A1C5-79018564D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1051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после value moment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8BD5F4-4A3C-48A6-B117-445ACE4A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7CD0195-CF76-4378-98E5-B0FE7C33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target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EFCDC6-DFC7-4112-B7DC-95A68C79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B7FD83-A2EE-4B72-B2FC-E14CF56CF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&lt;$0.50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BD6F71-D00D-4F54-82A2-E72AEF0DC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D3319F-1BEF-432C-A1E5-5B2EC802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&lt;$1.00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4EEF35-F195-41A6-AC1A-64AD9E703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09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10DDD9E-3A49-4942-9407-8085633C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6576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&lt;$2.00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D45C83B-35BF-470B-B8C1-99AF49FB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909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44F2B3A-9762-489A-8E93-C779C68B9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6576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 основе COGS + contribution margin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191613-47EE-4557-95FD-5345974D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B6259D-6BFB-44F7-B091-3F79F183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test budget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717FBCC-FEC7-48FF-82DA-0EF9E8F1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BF3BC84-60B4-427F-A7FC-5041F2F4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D05E521-D6AA-499F-B26E-188FE15EF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23FD21A-CEBE-4F31-98E6-D2BEAE90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$1,500-$3,000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7BCDDF5-95B5-498A-B7AE-2EE7B0E1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4337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2A92B6D-D716-4D95-8E9D-C71D9D26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21005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$5,000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0804D06-3D1C-4E8E-B5DC-D0B87A8E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14337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66845DF-3B13-43A6-8953-25765669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21005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тесты до scaling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F96198-C47F-49C6-9874-2E25511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D0A1429-6867-4A1C-A58A-01FF20E5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First 1,000 users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9BDB56E-8633-49F3-9E5E-CC5E8254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9CE716C-9B15-4659-AC8A-D414EA52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warm/interviews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BC6E3D7-168E-4174-AB1D-2666CEFD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C5B62AD-E1AC-4A7D-8534-484DE332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organic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DF8AF89-F59E-4AD2-82CD-149FB2C6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695825"/>
            <a:ext cx="1809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0023163-130E-4E75-9029-2E8F3DDB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62500"/>
            <a:ext cx="1657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+ paid test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F070D7F-F66C-4EDF-A558-213174CA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95825"/>
            <a:ext cx="295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0AA5E63-5E86-49D1-A0B4-6248F450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762500"/>
            <a:ext cx="28003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маркетинговый слой Алины ложится сверху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CE0A12A-D035-4484-BABF-E20602051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905500"/>
            <a:ext cx="8096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Маркетинг нельзя считать отдельно от free COGS. Чем щедрее free usage, тем ниже должен быть CAC.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3B7D122-7F7F-498F-A797-26650624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66104564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8996A5-4F56-4CE2-A262-CA6C9A9E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8BCB39-705D-4A19-BFA1-DB1E9826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F18D0-0AF9-45F8-A9EB-3AD8CD96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586AC-0EE7-437F-95A9-CEB089E0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EEFDB-DE55-45C9-835C-A7D936DF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Marketing test: что проверяем за €5,000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06020D-B373-4A26-9918-B30D8159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088D6C-17F9-4384-A751-15F2077F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41F05-56D7-4AFD-AC59-4B258E87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8785A1-97CA-4FB0-857F-CC3A78D8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382FD-5ACC-4ED4-A908-443781A8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Бюджет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C10F6F-CF4E-4168-97B5-7D296BB6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3B0B10-AA11-475A-B3A9-29217CE6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делаем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EC19F-259E-47AD-9CF6-7F25DD460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9E0DF6-8D57-4467-9BFE-4641AC65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должно стать понятно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5DE57B-141D-4785-BE32-2B0B1919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D454F6-6D14-4FDB-A413-452D03A0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436776-AF40-46BC-A4C4-9FB2F3A9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CB4935-B8FD-477B-A46D-F7DD9B67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20E716-4E5E-437B-BC21-D886F1D20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E26A1-F605-49A6-B509-89E2EF5F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примеров Life Canvas, future-self и week trailer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02334F-F90C-4C88-9832-146E022A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9A8C36-5384-473F-9705-3A3D5AD3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визуальный вау и понятна ли причинность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C9F292-751D-4B38-A62B-9F6307AB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94E509-755F-4427-B940-C197C49B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E4E0E1-F4DC-4326-A4CC-318725EC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313859-9555-4E66-AD6F-2B92995E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€700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464687-45A2-478C-9845-60B548A5A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B1567-D4A9-4EFF-A535-4D22E665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лендинг, price test, lead capture, события activation/paid intent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E55F23-353A-4806-BE36-F258A05F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03D7C7-CEDD-45FC-9239-BB855CEC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какая цена и формулировка дают signup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92AB46-A7B8-4C60-A95C-04654ED1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9804C1-0DB9-4329-86E0-85E63A25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micro-tests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F181B8-8D56-4225-900E-70E5215D9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774CD4-C773-4643-8067-C4621E91C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€1,500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091E4F-E442-4407-ABC4-C8625D4FF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5B5BB2-AF7F-4885-ABA4-CF595E54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5-10 micro creators / warm audiences / сторис-форматы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C42159-192E-4166-A3CE-723975D9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BDF18A-1137-4CCE-AA03-9A68FEB2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hooks вызывают интерес без тяжелой рекламы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53C69C-3305-4DAD-AD4A-5572D6FC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39F48D-2EBE-435C-B5DD-1170293D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creative tests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CDC076-14DB-4590-A98A-90E758BE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5AC5DC5-B6DF-4880-BAD1-2B795509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€1,200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001381-6322-4611-9707-DAFFB4019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8F575E-C65A-4919-94EF-C690DDE8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маленькие Meta/TikTok tests по 3-5 hooks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957EC11-6ECB-4AF3-B082-71583F6C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8B53D6-5173-4A7B-BD97-B347C74C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visitor/signup и первичная конверсия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3E815E-9476-4BA6-964C-820C587E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EF9CE4-87DA-486D-9D56-97A58EAA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Concierge cohort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8605DA-6148-47F8-9C7A-CC98A02F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E9B9F07-4178-4A09-B62D-0FB62F55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€800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B8A35EE-E19D-4C17-90C7-8C1BBD308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6DDD13C-B40C-4077-827B-36ABDDFD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 users, ручной forecast, интервью, paid-intent follow-up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5F0A72-1ADE-4E01-9959-C37F6617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5B55936-C818-4EA0-BBB3-35BD6258D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понимают ли users продукт и готовы ли платить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6FB3BBF-10EA-4209-8F33-1971E36F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707744766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8B2468-C719-4A05-B122-2F1F41A2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AEA7D5-2B84-4167-88CB-1B1581D1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3680B9-3B41-46D7-837D-8165CEB0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004B49-8FF1-4B66-83F4-3CD91B0C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5AF815-58F9-4CB8-939D-C1AB4E60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Матрица маркетинговых hooks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CFAA65-AFE0-4D9A-844F-26ED1C2C0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46F1D-0A04-4C36-8E99-B266BA41B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65235A-3BA9-4573-93F2-8116CC1BD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Hook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1DEC4-8C64-4D69-95D7-460058D8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9EEDD-19C2-4268-B564-5E408418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Кому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BB369C-807F-45F4-B2D6-60937123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FF3B71-5E15-4ECF-95CA-E5637E37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Формат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49F05-6C5B-4B9B-B02B-7C9F4A86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B82ADD-F1E6-454A-9083-FCEA3AEB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B5A4E1-39A7-4F0B-94EE-941C9DB2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87008D-CFAC-4D77-8A71-CFE9AAE9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“Твоя неделя как трейлер”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3F9B7F-D757-4DA2-B556-CB792900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8169E2-97C1-45D3-BB0E-2381FE65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AI / self-growth audience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64FD4-129F-4636-B83C-32610307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0311E5-09BF-4CEB-AE16-954160A9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short video before/after week trailer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5CA72D-D5F8-41E2-9D37-D492FD26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74DE33-74D9-400E-86A7-14BB3CFA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свой week trailer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9DE84A-1509-48D9-9A49-AD4F8E6C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A3308B-A794-4236-B5FE-FFF82C539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“Не гороскоп, а план недели”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813EE3-FE87-406C-8F95-E3EFB06D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3EEB91-1C43-471B-8385-8B42E9C7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астро-аудитория с усталостью от generic прогнозов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D6F2B1-8601-4E45-93E0-36403DCF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7112C2-61F8-4DF8-87FE-E46C4A3B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explanation + example Canvas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F9F986-BF2B-404C-B980-A282E6C4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B419D7-014A-414D-8C3F-3AFF529D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пройти 7-day season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7EA598-1A19-405E-B214-EEF9B49C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2750C0E-4029-419A-A831-443BAB61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“Future self изменился”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C1ACD7-6FEC-4C93-990C-39CCBFD99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3AA997-A767-43DF-A2E0-8C91D1F6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women 20-35, self-improvement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6E05918-C471-4345-A2B8-1C615E6D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2E7168-D504-4C66-B4E0-F63F2DAB3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до/после Life Canvas + действие дня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929FE4-62FE-49C6-A99D-92503267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1CCC82-EE7A-4DAC-850F-A1CB239E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увидеть future-self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A2A9B4-8A0A-42BD-9452-CA7D113A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72D240-77F1-4598-846C-B993F8C0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“Карманный прогнозист”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AE43B58-FCB6-423B-B0CB-EA3CB0E4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02F23B-1850-4A70-83F6-DF10766F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люди, которым нужен личный ориентир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66AB39-2FC0-4F3E-A271-3B6D1B85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7705DF5-2B05-4705-9E5B-AB208BA7A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screen walkthrough assistant memory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AF83087-0BF5-4C78-9CBD-997A3232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E8C97E9-DE0E-4E64-80A2-64001662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прогноз недели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EF2C6ED-873D-4E27-A393-EED58064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8D274A0-6DA6-4CBE-BA75-CAF983FC5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“Relationship / decision week”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FF000F-56E0-4E1D-A575-48CC5B7D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13C6CF-D0E5-40F1-877B-746B95AA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high-intent emotional moments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D837F2F-7552-4D4D-A19F-C21A0DBC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559E1F1-07B8-4C79-8DBA-6E493956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тема недели + персональный вопрос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F6A02F1-8818-4704-ADC2-B4061B2A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B05E333-CB33-47F8-98FB-C97A0D7E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получить разбор недели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FD3F317-8AB6-43C3-A99F-6716744E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676534274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71F00B-1BCE-4F1B-8FAB-15C28AF1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71585C-B8B2-4EFF-AC67-00CD0471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84EE56-4ADE-4477-8B7C-D9C86B7BD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806A8-E503-4BFC-AA4F-D0B5295F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9A02B-3362-4545-90EC-0BD4FB3F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Go-to-Market стратегия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59D7B-AA29-4651-9892-65C8A92A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827E9D-8BB5-4714-ADAB-12ADBE06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1. Первые 100 не покупаются рекламой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8F6287-1E44-4231-9732-FC900B6D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7145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warm users, interviews, ручные weekly forecasts и concierge cohort. Цель: понять loop, а не installs.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277C4D-C328-4D89-B3E9-168018D7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2. Creator-led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A43FDD-9DCA-4E18-84EC-3A09C9A6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479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micro creators в astrology/self-growth/visual AI проходят 7-day season и показывают опыт, не generic 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85AB82-ADE0-41DA-8251-B7992E39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3. Short-form hooks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4E451B-4F4D-4319-9D7F-1BC627A3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8140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future-self, weekly forecast, avatar transformation, “not horoscope”, before/after Life Canvas и paid-intent CTA.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1A5D3E-E59D-4835-89AC-C958360C6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3333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4. Shareable artifacts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805BA-3A87-45E8-A1A0-E978F9D8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14850"/>
            <a:ext cx="60007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Life Canvas card, season recap, future-self poster и trailer week как viral layer после value moment.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61139C-24E5-4689-B44F-5CB9FA7A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1138507906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C2A263-E006-41A5-841C-E60B75FF0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C172A1-65EA-4760-9960-8B939A89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BE2B32-1AE6-473A-AC6F-BAE83082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E8C7E-B127-4033-8810-7A30AD6E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53F43-D60B-4211-843B-3238688A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30-дневный план проверки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87CC1B-0C8B-4C79-95FC-027D768D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08E09-1F68-43C1-813C-31D902BF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C09FE9-39A3-4239-9D32-11D9D408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23FBD2-0623-4F6C-8DA3-54A0AB1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20-30 interviews + ручной weekly forecast concierge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D7EBEB-088D-4437-83AC-5878CBF1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453BC2-A5A0-46FD-B379-8022956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3D333-9EEF-47AF-B720-C3E1EC53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10-screen prototype + 2 visual styles для Life Canvas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F3FC8E-8F98-49AA-840C-DBF29CCBE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E29A0-5A5D-47B6-9322-F19743F5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F8DA66-19F5-48D7-BDAF-F5CC6B7D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price test $9.99 / $12.99 / $14.99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4427C3-2E8D-45C7-B96A-16CA68D2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1428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F2DF26-44AA-46DA-AA5D-92A8EFF6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90775"/>
            <a:ext cx="1276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Неделя 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D196C-B2ED-452F-AE4D-B7BCE048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95625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30-50 users через 3-7 дней + paid-intent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8E5139-48D5-44B1-992E-2F41360D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 успеха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62C181-181C-4B8C-BEEB-02B324F6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97205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&gt;70% понимают категорию  /  &gt;50% объясняют Canvas change  /  D1 &gt;20%  /  paid intent &gt;5%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9A927E-EEC2-48A8-986E-43FFFAAC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016471334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BFFC9D-3DE9-4C6A-9101-3FDD359D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FBE94C-B9C3-4189-A1B0-20D8205F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7BFCE8-B976-4381-A4F1-1A82DCCE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28622-D868-4376-A337-FC7F9DB4D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018DD6-0468-44A7-99A1-36048E0B9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Phase 1: 30 дней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BAEAB4-BF6B-4410-9BBE-3E92A2161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C5ACBD-D736-48DE-8A43-2F5C434C2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70609-F110-496C-8B5E-C39B3313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Период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1317FB-185C-4E16-BB45-FE79AC87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E1067D-245F-40D5-B3DB-FE01B67D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Deliverables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9E21A5-891C-4B37-8E8F-FCBA17A5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C5734D-3F4A-4F33-A70A-E28CAB32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Метрики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D0DFEA-57D6-498D-AAF5-5DBE6A31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F6FAA-AF8B-47AA-9419-EEA95510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Решение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17DD8C-6244-48AC-8D40-3F43C79B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F6D35A-D00F-4277-9062-913102F5D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1-7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30B23C-A490-494C-B042-AC33BE850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E1C245-9DAD-40F3-A263-9FAC6E1B9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 концепта, 5 visual examples, landing structure, сценарий интервью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A2E1B1-ED23-4DFA-B32E-76AACE91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AAFC39-4AE0-469B-B981-885E3617F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понятность идеи, сила visual hook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9FB86B-F31F-4BFA-AA0C-9BDA4D146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BE492E-8C22-4018-827E-253450B3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какие 1-2 концепции оставляем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136815-5FE5-4269-BBB7-1434F9FC5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5B6437-EE00-46B0-9D8E-5883D6DF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8-14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CC8FFD-C6B4-4E2B-9F55-80DB0555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7676BE-8307-4887-8F77-324E9C794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clickable prototype 8-10 screens, prompt logic, first Life Canvas styles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4E7FF4-18EF-4BD8-A902-8EDDBED2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5E1FCB9-D571-45EC-BF1F-4243690B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можно ли пройти loop без объяснений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61C507-2727-4CE8-8072-EB5F5C5A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ED44AC-DB79-4679-BF0A-19A5BC0A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MVP, что выкидываем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A10914A-CB6A-4EC6-86C1-A93FD86E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839AC2-5B2A-4771-B2B0-CB231FAF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15-21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F4AD7D4-7096-445C-936A-E5645CE6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BA4744-AACB-453C-82C2-903380C2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concierge cohort, ручные forecasts, first creator tests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94B3CCC-134B-4B14-B416-EEE8172B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70E5-B012-4EE5-A88B-D78FC3A6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D1, понимание Canvas, qualitative objections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2B630B-35F3-4534-BA28-6A12901F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8E6E99-16CD-428F-BCDA-404F8242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есть ли продуктовая петля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B600889-B99A-4AFD-AAD9-D13EF360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B82567E-DE98-4AA4-BA96-370313BD2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Дни 22-30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CFD654-05ED-486B-990C-13726DE5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87355F1-D8F9-4816-B50C-023B5FAD6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price test $9.99/$12.99/$14.99, paid intent, CAC signup proxy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E0EEBE-C583-4C1E-8319-EF788B08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1327C3-AD6F-4029-9D05-2B0F74B4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intent &gt;5%, D1 &gt;20%, Canvas causality &gt;50%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F23C86-9C80-4A31-B8E3-D2E34386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7C6843B-D7D4-42F0-AE1A-F81AA0F7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go/no-go на MVP build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0CC11FB-F297-481D-82E8-83621357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536187975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D85788-1F82-47C3-A2D3-028EA13B7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47C870-DCBB-47EB-9557-1D6889DD5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539C4-CA89-444A-94D1-C74B03BF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ADA13C-B77C-46E7-90B4-018FB955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144A79-8DDC-47D8-83E0-679AE43A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Phase 2: если Phase 1 проходит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520454-218C-49A5-A638-D6AABD58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5F59D-B95D-4590-BDF4-EFDDD2C2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3841A6-1A51-4ED0-AB29-D6865468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Этап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BC0F7D-4A27-4CF5-ADC8-65C73805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081638-D3E5-4326-B00E-18C98C46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строим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B22B7-363D-4401-A70D-A72860B7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EF8D12-2494-4BB1-861C-7DFC80242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Зачем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EAF754-811F-497F-B9E6-8BBD6004A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6A326F-A307-476D-9829-557441CD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EEAAAC-E07B-4FD3-9C7F-38219B35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2529F0-CDCB-4DFF-AC57-50B41030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build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3485E-3198-4A89-9D9A-50253F35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CEAAE3-2B7F-4691-8FB9-41B5055BA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mobile/web prototype, auth, onboarding, weekly season, daily cards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47D34-719B-4F6E-B3F8-3ED7B5477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7CFDCA-ABAA-4C69-AE09-CC6F3E90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дать пользователю пройти loop без ручного сопровождения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C9F422-1F30-4FCA-899D-3630D745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E794AD-3480-4EC2-A510-045DE1B3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30-100 активных пользователей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0D7CB7-F542-4599-8077-74E7437BF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9485CA-73ED-44E4-9F67-787913B01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system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0A1C0A-6FCD-4173-A294-8DCF9F6D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D2271E-1EAD-42EB-B368-CA27C675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 prompts, Runway workflow, retry limits, COGS logging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151EE0-0536-4504-8CFF-07D98005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D3F5D9-7626-4671-BA45-2AC6CCE87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контролировать стоимость каждого generated asset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ACBEC2-C9DF-4B95-912C-ABD3C8CE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56BD4E-2439-473E-B9FE-081C6AC9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COGS paid user &lt;$4/мес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2937BD-A79B-4AC2-9268-334C7A34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0F1021-438E-4536-B9F5-8FD07BDD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test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EC2C52-B75E-4B8B-9DC5-C6E25C239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EC2BE0-1625-42A7-8CC9-EF8C690B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test, Visual Plus, annual, premium token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D40B84-8ADC-4E2B-A268-EF9E5E39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53C944-B129-4C41-A276-DB16B0E5A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найти рабочую цену до масштабного маркетинга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B3D59C-A1FE-4926-BDA8-B6DACD23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7E58EF-F815-4562-B8D5-ECE3AB55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 conversion 2.5-3%+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C62285-723E-492D-B2B0-4A4ECFD0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EAA8E0-5287-4D77-8360-D1F024FE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scale test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2CEEE42-5844-4C63-AD76-85FB52FE7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2F2E16-158B-4E18-A8D2-B7AC2AB9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pack, 10-20 hooks, small paid budget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2B70698-25A5-41D1-872B-36CA2F81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22164C-0482-4D9E-A84E-E99080D0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понять, можно ли привлекать не только warm users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3447CB-59CD-4AEE-8052-BB5DB1B1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03A8B1-0B3C-48E8-A801-6D98942E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CAC activated в допустимом диапазоне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C1D9E5D-5C61-45C0-90AC-B0A3D891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96DBD17-D534-4C69-A476-5F6345B0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Build decision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4D6A3A-4161-49AC-96E8-FDA904E1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A858B8F-17F6-4824-BBD0-D6C55B1E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native app / backend / analytics / billing roadmap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173B17A-C6E8-418B-B2AB-99A5B68A5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E8D069F-738C-49D0-9BCF-492A6236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переходить от проверки к разработке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DD49690-AFC9-477F-AB5B-1F95ED7C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B7B8684-D28A-4113-8D58-9D0F9CC6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только если retention + paid intent сходятся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CECE83E-5AAA-41FB-9BC5-99C7D75F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515824370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1B9AD00-BE34-476F-ADDC-B3087CB3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7AA6A2-946D-45F3-AF3E-3657E89F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B4681A-082F-4B83-88F9-5019A295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31CC2F-BE2D-4E39-A042-49E84BA1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9A4543-3DC9-4770-892B-E59E8207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Scope продукта: MVP vs Later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8A6C01-3453-4F44-95B4-492C2873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864C77-114C-4CD6-87E3-8423D2D4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BD721-0719-49A6-9BE2-6D48F3611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657B27-DD3B-41CB-BA23-494466EA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676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AE636-EC52-4086-BC06-549F5A9E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43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559CB0-5AF4-431F-8974-D3A3D033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676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955B95-EED8-4784-B38B-2DF8AC56B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43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ECB439-6FEA-4973-949D-94962E28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76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A26854-3F05-4A8D-B4C4-3E461810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43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Почему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105BAD-B21A-4C97-B610-CCB741AA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791C8E-89F9-4BF3-8018-61D6EB42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Core loop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68F4E9-418D-46D8-BCBD-6AD98F7F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5FAC1B-FA04-4283-A319-3052AC4A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4288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Episode → Action → Reset → Reflection → Life Canvas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F9C59-C42F-42F9-989A-18E4249D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FF0CDD-3ED0-421C-9A3C-E981711E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288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season branching и deeper memory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C08E54-D84F-49EE-857C-67B247A7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3622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D24E18-77F0-4F57-BC34-23D1B4F46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4288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сначала нужно доказать causality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29B440-A8BE-4856-A60E-06B84B07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668F4A-92DD-483B-81F7-3E16485A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Assistant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177951-9DA7-40E2-94C3-4FFB410B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480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7EE293-7A4F-401F-AF4D-23D4EDE9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146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chosen tone + weekly context + memory summary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DC82D3C-20EE-4BDF-97F4-D52A628B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2D9ADE-386F-4A32-9EF5-763E97A87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146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voice/video assistant, creator voices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015C48-A988-42B4-8006-C646A65B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F7991-4D9B-4FF5-88B2-387AD9CC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1146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 memory дешевле и быстрее валидировать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2A20CD-902D-40BB-9104-6A5C6B68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F419F3-28B4-4DFA-9C8D-28CB934B0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layer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59E9E8-04E0-4DEA-952F-F2615E49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7338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32ECA8-A55F-44D2-9E32-20BAFAB1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004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image-first Life Canvas + avatar style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6ED741-3D0B-488B-AE47-E7AD79A9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338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0D9B4C-9CB7-49A9-A07E-5DC3E90C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004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cinematic video, talking avatar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F05B81-6C02-4745-8110-762E27EB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338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798F4A-AD99-44BF-B06E-6032756F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8004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— premium COGS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3B003C-5EE2-468D-AABF-BA98B3AD2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31F3E5-B7B3-47F6-8FAD-C78CFBE8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Monetization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DC776B-07AB-4C47-91B9-75E684DD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196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A82DC17-684C-43A4-923C-8A3C45A0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4862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annual + one token 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BD3463D-0206-4FF3-828E-08E3857A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4196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1C2A33-B371-4226-8AFE-A0A13CE9F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862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seasons, expert layer, marketplace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D35E91-681B-457A-B484-2C1B5870E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FDC3D2E-7A00-46DC-B359-53586367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862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избегаем complexity до retention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57B6F2-D455-48F6-9922-823E1F8E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D0D455E-7038-47D7-BC3D-0FD49629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Community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2E375E-F4CB-492C-A3ED-536C0349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105400"/>
            <a:ext cx="209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AADAE10-DCFF-431E-8726-093471CA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172075"/>
            <a:ext cx="1943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нет в MVP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457BF97-123D-4C5F-BAAE-0FCCAA72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10540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41E5CAF-57C8-4FA5-87A9-0BEC1502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172075"/>
            <a:ext cx="23241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sharing, social, cohorts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B904143-2262-4798-AACB-D2285E41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05400"/>
            <a:ext cx="3524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493E84B-F9AD-46DB-BB88-B056E1C5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172075"/>
            <a:ext cx="33718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строим social network до доказанной core value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B8FE1D-21C9-4EF0-B9C2-12AE6354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98895625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94D23D-ABAB-4D5D-8E7D-94ACB105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20E5D-E8EE-4E07-B7D8-EF8F6FB3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C61B3C-E5F8-4EB7-B6B6-9186E999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8C557-3515-40F0-B353-6DD4E472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C9109-25DF-42E2-9569-8EEC8DA96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Риски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0AEC77-07BC-4CC8-BF87-E1E41692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B4A466-CB79-4C58-922E-FBAAA5B4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30E04D-1844-4064-A691-B367A071E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81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Риск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3167D7-293D-448C-B5B6-1087654A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14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625BF5-9A43-4959-AC62-3189AD3C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81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Как ломает продукт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2F9BA-33F6-42AC-9D12-9527F6A8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714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D41363-A037-41EF-AC47-8DF54B037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Митигация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013F5F-2F69-4699-875D-E109316D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A5E52-0BB0-4B77-B012-AC478490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669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Похоже на гороскоп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79626-9969-4450-8F70-7D657C61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003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1595C-4553-4FD5-8F28-E2DE1D1D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4669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thinks it is generic astrology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F90042-4D09-4AD7-A38C-6EE37FC1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4003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34C77F-50D1-45E5-B4CA-CF770B2F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4669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позиционировать как weekly life-series и action, не fate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8D0C2-EBD4-4A26-9D56-0B5BC257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861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26A434-6028-48E4-8CD9-936D9F99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527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Avatar feels random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972424-1022-4A7D-876B-DABE4CABE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371A42-C99A-40FC-BDAF-A85833340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1527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 cannot explain visual change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595BC6-18B8-41C8-837A-4A0140D1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861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6424BF-215B-473E-BEE2-EC540B4F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1527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показывать cause рядом с Canvas и связывать с action/reflection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6F694F-75EB-4DE9-986F-59554EE8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0A5753-075C-4D95-8C16-A6F399D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385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Video cost kills margin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5FE880-F079-471A-B496-B9E165C7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7719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66E12B-3E03-4F88-88B8-39CC5C1A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385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free users generate expensive clips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FEEC88-81DA-4996-9DFA-D48B98D9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7719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2584D1-8235-4FD4-AF71-08CF83830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8385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premium/token video only; log COGS per asset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C937AA-E2C0-4311-A83C-96A69AD12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7A4337-59A0-481C-9BC7-9269BF61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243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AI sounds generic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CD3A0B-DB51-4A82-9B5F-8B9893A03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577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C38149-95CA-4263-BFB7-48D038FC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5243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low trust and no return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444B82A-5A4A-4AE3-B575-B7071713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4577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E9DF23-A249-4FB1-8163-BF385115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5243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prompt QA, user feedback и memory guardrails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66F779-7C21-4C87-BE05-7A3EC9D6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0"/>
            <a:ext cx="2333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F6E9BED-0453-4B6F-8828-0F50671E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0175"/>
            <a:ext cx="21812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No paid intent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38C73F-019D-4BFE-9BF2-658D83E9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143500"/>
            <a:ext cx="3714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986DD2B-BE47-4203-B9E3-6AFBCF01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210175"/>
            <a:ext cx="3562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users like it but do not pay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05D694-2E6D-4B45-905A-7DDC7A10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5143500"/>
            <a:ext cx="4095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F296B0F-8A1F-4CB8-8915-2D0D43C73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5210175"/>
            <a:ext cx="39433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paywall after first completed loop и price tests by cohort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DFBF97-BDAF-4A42-B884-CEFFC8F73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330430481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A48003-0A68-4603-98DD-F8CA5291E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102E4-4588-44E3-A390-CB091C8B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4FEE42-D109-4311-B27B-123FDC6F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FE34A1-C98D-44E6-A85A-F3B26B60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E59C11-80E5-430E-878D-28AA1D506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Roadmap роста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B0E70-54EC-4187-B8FC-C8650077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FEE476-226B-4254-9880-520ED404A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9525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B317B7-36DE-4B67-B82C-4ABDBF29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1B94BF-B19E-4734-AADA-BEA53AE0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IDEA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D95B2F-BD65-4471-9569-4595E1D2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forecast + avatars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DDB4DD-D4AA-46CD-B505-D862DB9A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8A7BB7-EB1B-4ECC-83A2-48D7D540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D080CC-2706-460A-9E23-50FD634E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 season + Canvas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B2BAD6-92DB-4F35-A7C4-F9F1AAC4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D2C820-A27E-4BE0-8932-E4D0D6B4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PAID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8D8F84-12AB-443D-B9C2-0E72CD99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Plus + first token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58E23-1C8C-425D-94AC-BDA11C1B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828151-620C-439E-B93E-577CF7819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RETENTION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3F0197-F6C2-49C6-85A0-2E0C92DE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D7 / season recaps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70FA71-B6D5-4EE8-8F8C-12663085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E8E8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DB0751-577C-469C-8EC2-7BFB5877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8245CD-1A4D-47B0-AA61-737ABD4E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creators + paid tests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C418B7-9D83-40A2-A1CB-555661BF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2382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333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D6A9E7-C56B-4A0C-BCB5-669183D9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90875"/>
            <a:ext cx="1085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$1M ARR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1C2AFA-D1A9-400D-B486-A4E6EA47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29050"/>
            <a:ext cx="142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engine + annual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ABB723-79BE-465C-9A6D-ABCFCA6A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5300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Roadmap остается узким, пока loop не доказан: сначала causality, затем retention, затем paid scale.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8C239F-18E3-41B0-8379-0596CCC34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1680730084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78C09B-0019-40FC-8DAE-CAC899F0D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ED6D7-6C15-45DE-8EE6-AB6C7FAF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F20023-5F7D-41A0-9407-BF9E1C5D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010B44-340F-4046-B52D-DDC7BD95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C3283A-2887-441F-9C82-198241C20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Что нужно строить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7378EA-89AF-48EE-AF5E-D85110CD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82E67D-5A59-4694-B97E-E62553CB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335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 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393F30-01A2-4035-B990-9C847DCC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17335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Weekly visual self-guidance app: пользователь вводит birth data/context, получает прогноз, делает daily micro-actions и видит, как развивается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F5B4C2-69C5-42B6-8B8B-FC0759539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98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MVP 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483F0-D478-4079-B9A1-4C8646C5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24098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Text-first assistant, weekly season, daily episode, action/reset/reflection, image-first Life Canvas, Plus paywall, один premium video token 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D2961-741A-48B2-889C-42E3A6AEE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8610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Pricing 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0F9E5C-F039-47F1-AA7A-576AB5A9B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08610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$9.99 стартовый тест, $12.99 blended/base, $14.99 visual bundle с 4 видео/мес, $4.99-$9.99 premium tokens, no unlimited generation.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D140E4-B979-4D83-8C9D-E392E9E1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6237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GTM 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2404E1-849D-4340-8D88-D19E5973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376237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Начать с interviews и concierge cohorts, затем creator-led proof, затем маленькие paid tests вокруг visual week/future-self hooks.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9674D8-685B-4C02-BA6C-E0CDCAA92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38650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Kill criteria 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83DF73-A2A1-4F07-A6BB-D3C57E004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438650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Stop/pivot, если users не объясняют Canvas causality, D1 ниже 20%, paid intent ниже 5% или video COGS нельзя контролировать.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40CC39-011B-4F93-B042-B4368132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114925"/>
            <a:ext cx="1762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Next step 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21A183-6656-4FFA-84F1-B324B050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5114925"/>
            <a:ext cx="82200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Сделать 3-5 visual examples, clickable prototype, 30-user cohort и один pricing/token experiment.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E31EE0-F80A-478F-A14B-88418391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355363781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B33D93-E973-4340-B46B-A9DF02C7E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A6276-B43E-425B-9AEA-9861AF26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4B7633-33E0-46B3-84E0-B71DEF100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45BBD3-9C71-48FD-BAAE-B2BC0DE6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A279EE-C7D5-4025-8EDC-B553EF77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Оффер на разработку: Phase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6DD5D4-FD88-4282-A8DC-FBDD0EAD5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CF026-E679-436E-B9F0-9496E076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2333625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D4"/>
          </a:solidFill>
          <a:ln xmlns:a="http://schemas.openxmlformats.org/drawingml/2006/main" w="10478">
            <a:solidFill>
              <a:srgbClr val="4D556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C45E24-9D3B-4D3A-A943-F8077CE8B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00250"/>
            <a:ext cx="1857375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7B61D1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7B61D1"/>
                </a:solidFill>
                <a:latin typeface="Aptos"/>
                <a:ea typeface="Aptos"/>
                <a:cs typeface="Aptos"/>
              </a:rPr>
              <a:t>€5,000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CF8AF7-BCF8-44A8-86A8-AF94B9C1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57500"/>
            <a:ext cx="16668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Phase 1</a:t>
            </a:r>
          </a:p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proof sprint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7BC26C-C6CA-42E0-AA2A-683D6735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21005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не full-scale app build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8DEAC3-8711-4609-9D48-66908787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381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9CFBD-334A-4C8F-A637-CDCFC624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447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Блок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5FE434-569B-49FB-A323-BCFEF2B5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381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CBCA8F-7CD9-4067-819D-46CCD13A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447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входит в €5,000 Phase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BC44E-DBFE-4CA9-AEF2-0DB5F9DB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381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BB260-D8EF-42E0-BDCA-14A568C24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447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Что пока не входит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D61D1-906C-4CA2-8842-AF08E58EF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1914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A7037D-260C-4898-BA20-4057D550D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81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06B37F-38C7-468F-8417-01BFF3FEC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914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98053A-122A-450F-8B48-1096172E1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981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8-10 clickable screens, product flow, onboarding, paywall logic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0F305F-20B9-41D6-9B9A-ECA07B7B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914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A613F9-496B-44B1-9725-2AB58798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1981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полноценное native mobile app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E70792-0065-477A-B27B-B1B641B4D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4479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261051-0115-4750-9CAD-B832D4DF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5146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Visual examples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AD8F13-28AE-41F0-B5E9-1B16D402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4479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00F1E-22D3-4A4D-826C-288151726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5146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3-5 Life Canvas / future-self / week trailer examples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EC97D0-D457-468D-9B40-EEB0D445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479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FF29BC-3552-4B40-A5F1-23B2B19C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5146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production-grade генерация на scale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AAF5E8-F468-4FA1-AE3F-E0F6D8C9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9813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5FE437-D22C-4204-9033-67851013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0480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Generation logic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69F006-4C3A-4B89-8370-DD9DA9164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813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BCE9C7-3538-44A2-8CA0-681A1FF8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480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manual/semi-automated Runway/image workflow, COGS tracking sheet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70C42D-30CA-439C-93CB-B920924CD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813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98A51F-6677-41AB-83E6-277CD0F7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0480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backend с unlimited generation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3E9902-CE6E-4421-BE19-32C28BF4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5147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C706F4-3B8D-4FAB-A802-F452960B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5814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Landing + analytics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8CFE2E5-2F14-486A-BC24-4DEE27132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147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662FE02-2A07-400C-B2C8-08B865DE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5814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simple landing, price test, lead capture, activation/paid-intent events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098152-AA63-4E15-9D74-6F163800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5147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96A2548-3223-4B00-9FC7-C10C6A6C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5814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крупная paid acquisition campaign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E25D76-301F-4B43-970B-386307418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481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CA64D2-4A2B-49A1-9A64-F0570CE1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1148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Marketing micro-test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82335C-FB28-4DB8-B408-3A5C77F3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0481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1846ED-A25A-45E5-94AE-EB9FB168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1148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creator hooks + small paid creative test inside validation logic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EA70E6-375E-43E8-BEA3-F46B4E38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0481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32CB60A-34C3-422D-9375-15C2C675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1148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масштабный performance marketing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370AE1-0285-4EC5-922B-6856EB39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581525"/>
            <a:ext cx="1428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FBA1462-B499-41EE-B14D-AE7D313A2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4648200"/>
            <a:ext cx="1276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Validation pack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2CABAE0-32D5-426A-968F-DF926569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81525"/>
            <a:ext cx="3714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CA91777-4B64-4B8E-9416-FC95008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4648200"/>
            <a:ext cx="35623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30-user cohort plan, interview script, metrics, go/no-go report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47A04E1-93E2-4FFF-B2FF-E072E1B8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81525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4D5563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8F16FC8-EDB1-400A-98BA-D2602760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648200"/>
            <a:ext cx="2705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гарантированный revenue или scale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74C9786-F00B-4AC7-A3C6-BA632A919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05500"/>
            <a:ext cx="857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Логика оффера: €5,000 — это validation sprint, а не полноценная разработка приложения.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672F4C4-EC8A-496D-9B80-45AF4E1E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</p:spTree>
    <p:extLst>
      <p:ext uri="{BB962C8B-B14F-4D97-AF65-F5344CB8AC3E}">
        <p14:creationId xmlns:p14="http://schemas.microsoft.com/office/powerpoint/2010/main" val="63568605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9E20DF-CB60-4E5F-8F61-561EFEBD0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D2D412-B3E0-43E6-9D19-69865A44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"/>
            <a:ext cx="552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8B06A-87CA-402F-8D87-AE102C9E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000"/>
            <a:ext cx="228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85E4"/>
          </a:solidFill>
          <a:ln xmlns:a="http://schemas.openxmlformats.org/drawingml/2006/main" w="0">
            <a:solidFill>
              <a:srgbClr val="9B85E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8755F-1193-4F24-B99B-7FC8830C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47675"/>
            <a:ext cx="19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22F41-A95A-4BF2-B10C-04FC73F6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"/>
            <a:ext cx="9144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Контакты / следующий шаг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68735-AB80-4EB2-8868-2BA0FC54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09650"/>
            <a:ext cx="10287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CFF"/>
          </a:solidFill>
          <a:ln xmlns:a="http://schemas.openxmlformats.org/drawingml/2006/main" w="0">
            <a:solidFill>
              <a:srgbClr val="F0E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167158-3A07-45F5-B1A1-2E55B208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38375"/>
            <a:ext cx="3429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200" b="1">
                <a:solidFill>
                  <a:srgbClr val="9B85E4"/>
                </a:solidFill>
                <a:latin typeface="Aptos"/>
                <a:ea typeface="Aptos"/>
                <a:cs typeface="Aptos"/>
              </a:defRPr>
            </a:pPr>
            <a:r>
              <a:rPr sz="4200" b="1">
                <a:solidFill>
                  <a:srgbClr val="9B85E4"/>
                </a:solidFill>
                <a:latin typeface="Aptos"/>
                <a:ea typeface="Aptos"/>
                <a:cs typeface="Aptos"/>
              </a:rPr>
              <a:t>AURA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70BCC9-6C92-4334-8B6B-40C84723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6667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Следующий шаг: сгенерировать visual examples, собрать clickable prototype, протестировать первых 30 users и проверить, понимают ли они causality Life Canvas.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269B4-2745-403E-9BA5-651BFA7E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7239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111"/>
                </a:solidFill>
                <a:latin typeface="Aptos"/>
                <a:ea typeface="Aptos"/>
                <a:cs typeface="Aptos"/>
              </a:rPr>
              <a:t>Prototype → interviews → concierge cohort → paid intent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59C596-728D-4D01-BC8C-A94AE847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238875"/>
            <a:ext cx="476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11111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111"/>
                </a:solidFill>
                <a:latin typeface="Aptos"/>
                <a:ea typeface="Aptos"/>
                <a:cs typeface="Aptos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8537230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2026-06-05T15:30:15.1430000Z</dcterms:created>
  <dcterms:modified xsi:type="dcterms:W3CDTF">2026-06-05T15:30:15.1430000Z</dcterms:modified>
</coreProperties>
</file>