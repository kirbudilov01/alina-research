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Layouts/slideLayout2.xml" ContentType="application/vnd.openxmlformats-officedocument.presentationml.slideLayout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1010c430f5614fc8" /><Relationship Type="http://schemas.openxmlformats.org/officeDocument/2006/relationships/extended-properties" Target="/docProps/app.xml" Id="R5b4f2772d63b4e0f" /><Relationship Type="http://schemas.openxmlformats.org/officeDocument/2006/relationships/officeDocument" Target="/ppt/presentation.xml" Id="R67adc438cfad4558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55f3bd52c4dc43a4"/>
  </p:sldMasterIdLst>
  <p:notesMasterIdLst>
    <p:notesMasterId xmlns:r="http://schemas.openxmlformats.org/officeDocument/2006/relationships" r:id="Rf08e10232f254a21"/>
  </p:notesMasterIdLst>
  <p:sldIdLst>
    <p:sldId xmlns:r="http://schemas.openxmlformats.org/officeDocument/2006/relationships" id="256" r:id="R873c8421e0594439"/>
    <p:sldId xmlns:r="http://schemas.openxmlformats.org/officeDocument/2006/relationships" id="257" r:id="R757cb1481c19491e"/>
    <p:sldId xmlns:r="http://schemas.openxmlformats.org/officeDocument/2006/relationships" id="258" r:id="Rd71d6382855e4458"/>
    <p:sldId xmlns:r="http://schemas.openxmlformats.org/officeDocument/2006/relationships" id="259" r:id="Rb21f78db94e54414"/>
    <p:sldId xmlns:r="http://schemas.openxmlformats.org/officeDocument/2006/relationships" id="260" r:id="R481556b9cfc3400d"/>
    <p:sldId xmlns:r="http://schemas.openxmlformats.org/officeDocument/2006/relationships" id="261" r:id="R247234918a79403f"/>
    <p:sldId xmlns:r="http://schemas.openxmlformats.org/officeDocument/2006/relationships" id="262" r:id="Rd0e7439c2f764358"/>
    <p:sldId xmlns:r="http://schemas.openxmlformats.org/officeDocument/2006/relationships" id="263" r:id="Rd88a92f577a14b0b"/>
    <p:sldId xmlns:r="http://schemas.openxmlformats.org/officeDocument/2006/relationships" id="264" r:id="R54307628f77d4418"/>
    <p:sldId xmlns:r="http://schemas.openxmlformats.org/officeDocument/2006/relationships" id="265" r:id="R63830601a28946ab"/>
    <p:sldId xmlns:r="http://schemas.openxmlformats.org/officeDocument/2006/relationships" id="266" r:id="R2f92f3050d3646e7"/>
    <p:sldId xmlns:r="http://schemas.openxmlformats.org/officeDocument/2006/relationships" id="267" r:id="Re28f4942347c41a2"/>
    <p:sldId xmlns:r="http://schemas.openxmlformats.org/officeDocument/2006/relationships" id="268" r:id="Rd8bd46b069ad4d45"/>
    <p:sldId xmlns:r="http://schemas.openxmlformats.org/officeDocument/2006/relationships" id="269" r:id="R8b2682cd1afb44ef"/>
    <p:sldId xmlns:r="http://schemas.openxmlformats.org/officeDocument/2006/relationships" id="270" r:id="R49c8734cd4b94405"/>
    <p:sldId xmlns:r="http://schemas.openxmlformats.org/officeDocument/2006/relationships" id="271" r:id="Rf82f85bc40ef4c59"/>
    <p:sldId xmlns:r="http://schemas.openxmlformats.org/officeDocument/2006/relationships" id="272" r:id="R1a76aa0b6c0c4d5f"/>
    <p:sldId xmlns:r="http://schemas.openxmlformats.org/officeDocument/2006/relationships" id="273" r:id="R703b96da0613407d"/>
    <p:sldId xmlns:r="http://schemas.openxmlformats.org/officeDocument/2006/relationships" id="274" r:id="Rb403d53610da468b"/>
    <p:sldId xmlns:r="http://schemas.openxmlformats.org/officeDocument/2006/relationships" id="275" r:id="Rc4670c0dd7a84117"/>
    <p:sldId xmlns:r="http://schemas.openxmlformats.org/officeDocument/2006/relationships" id="276" r:id="R624f417deb1648a9"/>
    <p:sldId xmlns:r="http://schemas.openxmlformats.org/officeDocument/2006/relationships" id="277" r:id="Rb1359894b52d42f4"/>
    <p:sldId xmlns:r="http://schemas.openxmlformats.org/officeDocument/2006/relationships" id="278" r:id="R17a7d71c3df74409"/>
    <p:sldId xmlns:r="http://schemas.openxmlformats.org/officeDocument/2006/relationships" id="279" r:id="R87aeafa384cd4eab"/>
    <p:sldId xmlns:r="http://schemas.openxmlformats.org/officeDocument/2006/relationships" id="280" r:id="Rbd3bcf1af2e64b9a"/>
    <p:sldId xmlns:r="http://schemas.openxmlformats.org/officeDocument/2006/relationships" id="281" r:id="R1475608b907d40f6"/>
    <p:sldId xmlns:r="http://schemas.openxmlformats.org/officeDocument/2006/relationships" id="282" r:id="R5030ee25a79f4ba2"/>
    <p:sldId xmlns:r="http://schemas.openxmlformats.org/officeDocument/2006/relationships" id="283" r:id="Rda52e464994a43e6"/>
    <p:sldId xmlns:r="http://schemas.openxmlformats.org/officeDocument/2006/relationships" id="284" r:id="R86bb3de440f14970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5f3bd52c4dc43a4" /><Relationship Type="http://schemas.openxmlformats.org/officeDocument/2006/relationships/theme" Target="/ppt/theme/theme1.xml" Id="R677dfee2272e4ab3" /><Relationship Type="http://schemas.openxmlformats.org/officeDocument/2006/relationships/notesMaster" Target="/ppt/notesMasters/notesMaster1.xml" Id="Rf08e10232f254a21" /><Relationship Type="http://schemas.openxmlformats.org/officeDocument/2006/relationships/presProps" Target="/ppt/presProps.xml" Id="R024ead6ec5284457" /><Relationship Type="http://schemas.openxmlformats.org/officeDocument/2006/relationships/viewProps" Target="/ppt/viewProps.xml" Id="Re8b6c593155946cc" /><Relationship Type="http://schemas.openxmlformats.org/officeDocument/2006/relationships/tableStyles" Target="/ppt/tableStyles.xml" Id="R33111df538154fb6" /><Relationship Type="http://schemas.openxmlformats.org/officeDocument/2006/relationships/slide" Target="/ppt/slides/slide1.xml" Id="R873c8421e0594439" /><Relationship Type="http://schemas.openxmlformats.org/officeDocument/2006/relationships/slide" Target="/ppt/slides/slide2.xml" Id="R757cb1481c19491e" /><Relationship Type="http://schemas.openxmlformats.org/officeDocument/2006/relationships/slide" Target="/ppt/slides/slide3.xml" Id="Rd71d6382855e4458" /><Relationship Type="http://schemas.openxmlformats.org/officeDocument/2006/relationships/slide" Target="/ppt/slides/slide4.xml" Id="Rb21f78db94e54414" /><Relationship Type="http://schemas.openxmlformats.org/officeDocument/2006/relationships/slide" Target="/ppt/slides/slide5.xml" Id="R481556b9cfc3400d" /><Relationship Type="http://schemas.openxmlformats.org/officeDocument/2006/relationships/slide" Target="/ppt/slides/slide6.xml" Id="R247234918a79403f" /><Relationship Type="http://schemas.openxmlformats.org/officeDocument/2006/relationships/slide" Target="/ppt/slides/slide7.xml" Id="Rd0e7439c2f764358" /><Relationship Type="http://schemas.openxmlformats.org/officeDocument/2006/relationships/slide" Target="/ppt/slides/slide8.xml" Id="Rd88a92f577a14b0b" /><Relationship Type="http://schemas.openxmlformats.org/officeDocument/2006/relationships/slide" Target="/ppt/slides/slide9.xml" Id="R54307628f77d4418" /><Relationship Type="http://schemas.openxmlformats.org/officeDocument/2006/relationships/slide" Target="/ppt/slides/slide10.xml" Id="R63830601a28946ab" /><Relationship Type="http://schemas.openxmlformats.org/officeDocument/2006/relationships/slide" Target="/ppt/slides/slide11.xml" Id="R2f92f3050d3646e7" /><Relationship Type="http://schemas.openxmlformats.org/officeDocument/2006/relationships/slide" Target="/ppt/slides/slide12.xml" Id="Re28f4942347c41a2" /><Relationship Type="http://schemas.openxmlformats.org/officeDocument/2006/relationships/slide" Target="/ppt/slides/slide13.xml" Id="Rd8bd46b069ad4d45" /><Relationship Type="http://schemas.openxmlformats.org/officeDocument/2006/relationships/slide" Target="/ppt/slides/slide14.xml" Id="R8b2682cd1afb44ef" /><Relationship Type="http://schemas.openxmlformats.org/officeDocument/2006/relationships/slide" Target="/ppt/slides/slide15.xml" Id="R49c8734cd4b94405" /><Relationship Type="http://schemas.openxmlformats.org/officeDocument/2006/relationships/slide" Target="/ppt/slides/slide16.xml" Id="Rf82f85bc40ef4c59" /><Relationship Type="http://schemas.openxmlformats.org/officeDocument/2006/relationships/slide" Target="/ppt/slides/slide17.xml" Id="R1a76aa0b6c0c4d5f" /><Relationship Type="http://schemas.openxmlformats.org/officeDocument/2006/relationships/slide" Target="/ppt/slides/slide18.xml" Id="R703b96da0613407d" /><Relationship Type="http://schemas.openxmlformats.org/officeDocument/2006/relationships/slide" Target="/ppt/slides/slide19.xml" Id="Rb403d53610da468b" /><Relationship Type="http://schemas.openxmlformats.org/officeDocument/2006/relationships/slide" Target="/ppt/slides/slide20.xml" Id="Rc4670c0dd7a84117" /><Relationship Type="http://schemas.openxmlformats.org/officeDocument/2006/relationships/slide" Target="/ppt/slides/slide21.xml" Id="R624f417deb1648a9" /><Relationship Type="http://schemas.openxmlformats.org/officeDocument/2006/relationships/slide" Target="/ppt/slides/slide22.xml" Id="Rb1359894b52d42f4" /><Relationship Type="http://schemas.openxmlformats.org/officeDocument/2006/relationships/slide" Target="/ppt/slides/slide23.xml" Id="R17a7d71c3df74409" /><Relationship Type="http://schemas.openxmlformats.org/officeDocument/2006/relationships/slide" Target="/ppt/slides/slide24.xml" Id="R87aeafa384cd4eab" /><Relationship Type="http://schemas.openxmlformats.org/officeDocument/2006/relationships/slide" Target="/ppt/slides/slide25.xml" Id="Rbd3bcf1af2e64b9a" /><Relationship Type="http://schemas.openxmlformats.org/officeDocument/2006/relationships/slide" Target="/ppt/slides/slide26.xml" Id="R1475608b907d40f6" /><Relationship Type="http://schemas.openxmlformats.org/officeDocument/2006/relationships/slide" Target="/ppt/slides/slide27.xml" Id="R5030ee25a79f4ba2" /><Relationship Type="http://schemas.openxmlformats.org/officeDocument/2006/relationships/slide" Target="/ppt/slides/slide28.xml" Id="Rda52e464994a43e6" /><Relationship Type="http://schemas.openxmlformats.org/officeDocument/2006/relationships/slide" Target="/ppt/slides/slide29.xml" Id="R86bb3de440f14970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0df630af246744e8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75cb94f33268439e" /><Relationship Type="http://schemas.openxmlformats.org/officeDocument/2006/relationships/notesMaster" Target="/ppt/notesMasters/notesMaster1.xml" Id="R85d2caa8ee8c4991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9cc159d752c94a43" /><Relationship Type="http://schemas.openxmlformats.org/officeDocument/2006/relationships/notesMaster" Target="/ppt/notesMasters/notesMaster1.xml" Id="R3bc6eb5d352244bf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106f95ec73604c85" /><Relationship Type="http://schemas.openxmlformats.org/officeDocument/2006/relationships/notesMaster" Target="/ppt/notesMasters/notesMaster1.xml" Id="R80085f8d87eb48b3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05328e83c36e4f4e" /><Relationship Type="http://schemas.openxmlformats.org/officeDocument/2006/relationships/notesMaster" Target="/ppt/notesMasters/notesMaster1.xml" Id="R717aaeadcd1040c3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2388f93d3bf545cc" /><Relationship Type="http://schemas.openxmlformats.org/officeDocument/2006/relationships/notesMaster" Target="/ppt/notesMasters/notesMaster1.xml" Id="R20664edd38e149e1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565cff6844b74ea7" /><Relationship Type="http://schemas.openxmlformats.org/officeDocument/2006/relationships/notesMaster" Target="/ppt/notesMasters/notesMaster1.xml" Id="R85edfafa50e34c7e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50eb953673be4481" /><Relationship Type="http://schemas.openxmlformats.org/officeDocument/2006/relationships/notesMaster" Target="/ppt/notesMasters/notesMaster1.xml" Id="Rf1b06e7cb43b4382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0bf97856a6824691" /><Relationship Type="http://schemas.openxmlformats.org/officeDocument/2006/relationships/notesMaster" Target="/ppt/notesMasters/notesMaster1.xml" Id="Rd7d6870c643347ce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6b42ccdaca914ade" /><Relationship Type="http://schemas.openxmlformats.org/officeDocument/2006/relationships/notesMaster" Target="/ppt/notesMasters/notesMaster1.xml" Id="Ra31c6ccd9bfb4c39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0f08f0950d8d4287" /><Relationship Type="http://schemas.openxmlformats.org/officeDocument/2006/relationships/notesMaster" Target="/ppt/notesMasters/notesMaster1.xml" Id="R120a525880854134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7fc68e52b2da494e" /><Relationship Type="http://schemas.openxmlformats.org/officeDocument/2006/relationships/notesMaster" Target="/ppt/notesMasters/notesMaster1.xml" Id="Rc7ccd66f99fd41f3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78151ddc315f4261" /><Relationship Type="http://schemas.openxmlformats.org/officeDocument/2006/relationships/notesMaster" Target="/ppt/notesMasters/notesMaster1.xml" Id="R2b539288b3664561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40702bd303244642" /><Relationship Type="http://schemas.openxmlformats.org/officeDocument/2006/relationships/notesMaster" Target="/ppt/notesMasters/notesMaster1.xml" Id="Ra7c054ace26a483c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499ac46ef61a4d8c" /><Relationship Type="http://schemas.openxmlformats.org/officeDocument/2006/relationships/notesMaster" Target="/ppt/notesMasters/notesMaster1.xml" Id="R8ad144f650c147d8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7229619ecb7a46fa" /><Relationship Type="http://schemas.openxmlformats.org/officeDocument/2006/relationships/notesMaster" Target="/ppt/notesMasters/notesMaster1.xml" Id="R638535bd71ea47ee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47596503b9b64a61" /><Relationship Type="http://schemas.openxmlformats.org/officeDocument/2006/relationships/notesMaster" Target="/ppt/notesMasters/notesMaster1.xml" Id="R3205bed931de4fb0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f10179484837476b" /><Relationship Type="http://schemas.openxmlformats.org/officeDocument/2006/relationships/notesMaster" Target="/ppt/notesMasters/notesMaster1.xml" Id="R921732231a3f417f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501d05ee99604102" /><Relationship Type="http://schemas.openxmlformats.org/officeDocument/2006/relationships/notesMaster" Target="/ppt/notesMasters/notesMaster1.xml" Id="R94b946c7489b4692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6e98e8bc92654c57" /><Relationship Type="http://schemas.openxmlformats.org/officeDocument/2006/relationships/notesMaster" Target="/ppt/notesMasters/notesMaster1.xml" Id="Raab4cd56b43d443b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29fe381ec0604466" /><Relationship Type="http://schemas.openxmlformats.org/officeDocument/2006/relationships/notesMaster" Target="/ppt/notesMasters/notesMaster1.xml" Id="R4b15321547834af4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ab58249d77e34972" /><Relationship Type="http://schemas.openxmlformats.org/officeDocument/2006/relationships/notesMaster" Target="/ppt/notesMasters/notesMaster1.xml" Id="R76005ea14063445b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c2aa6a6584f1422c" /><Relationship Type="http://schemas.openxmlformats.org/officeDocument/2006/relationships/notesMaster" Target="/ppt/notesMasters/notesMaster1.xml" Id="Rdab3b3ff91f44517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5806f0d602f54e09" /><Relationship Type="http://schemas.openxmlformats.org/officeDocument/2006/relationships/notesMaster" Target="/ppt/notesMasters/notesMaster1.xml" Id="Rb3aa02ff42b34e30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a03fe56a45734d02" /><Relationship Type="http://schemas.openxmlformats.org/officeDocument/2006/relationships/notesMaster" Target="/ppt/notesMasters/notesMaster1.xml" Id="R58b38e0ee3624ff2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ee064ea6251d4886" /><Relationship Type="http://schemas.openxmlformats.org/officeDocument/2006/relationships/notesMaster" Target="/ppt/notesMasters/notesMaster1.xml" Id="Rd8f537ff54904ba3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813df83f34284225" /><Relationship Type="http://schemas.openxmlformats.org/officeDocument/2006/relationships/notesMaster" Target="/ppt/notesMasters/notesMaster1.xml" Id="Rf85861d0d8094282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c4ec513359aa4109" /><Relationship Type="http://schemas.openxmlformats.org/officeDocument/2006/relationships/notesMaster" Target="/ppt/notesMasters/notesMaster1.xml" Id="R7c1cdc72253347e2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09e7028bb478474e" /><Relationship Type="http://schemas.openxmlformats.org/officeDocument/2006/relationships/notesMaster" Target="/ppt/notesMasters/notesMaster1.xml" Id="Re34b7a1c89eb4121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bb15622a9c6b4e7e" /><Relationship Type="http://schemas.openxmlformats.org/officeDocument/2006/relationships/notesMaster" Target="/ppt/notesMasters/notesMaster1.xml" Id="R14d2f2a36e6f448c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afb56e01d104992" /></Relationships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theme/theme1.xml" Id="R243fc5c12599422c" /><Relationship Type="http://schemas.openxmlformats.org/officeDocument/2006/relationships/slideLayout" Target="/ppt/slideLayouts/slideLayout2.xml" Id="R77dc554b19d64833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77dc554b19d64833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88f3e13e17443df" /><Relationship Type="http://schemas.openxmlformats.org/officeDocument/2006/relationships/notesSlide" Target="/ppt/notesSlides/notesSlide1.xml" Id="R89499d07e8804b04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95d1a84f5a44d7c" /><Relationship Type="http://schemas.openxmlformats.org/officeDocument/2006/relationships/notesSlide" Target="/ppt/notesSlides/notesSlide2.xml" Id="R07ab2440979a4865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44c1f2a035f4ac7" /><Relationship Type="http://schemas.openxmlformats.org/officeDocument/2006/relationships/notesSlide" Target="/ppt/notesSlides/notesSlide3.xml" Id="R5850354316704b7b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db532d0148a46f0" /><Relationship Type="http://schemas.openxmlformats.org/officeDocument/2006/relationships/notesSlide" Target="/ppt/notesSlides/notesSlide4.xml" Id="R81e14c6103c9403f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c3db6bb6f2c4101" /><Relationship Type="http://schemas.openxmlformats.org/officeDocument/2006/relationships/notesSlide" Target="/ppt/notesSlides/notesSlide5.xml" Id="Rd405fa402efa4b6d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ba0d33c3cc44eab" /><Relationship Type="http://schemas.openxmlformats.org/officeDocument/2006/relationships/notesSlide" Target="/ppt/notesSlides/notesSlide6.xml" Id="R24aa4014267f47e7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2869ebdf2e74df7" /><Relationship Type="http://schemas.openxmlformats.org/officeDocument/2006/relationships/notesSlide" Target="/ppt/notesSlides/notesSlide7.xml" Id="Reb2876dbbf7344d5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93538a5d1fd49f4" /><Relationship Type="http://schemas.openxmlformats.org/officeDocument/2006/relationships/notesSlide" Target="/ppt/notesSlides/notesSlide8.xml" Id="R666f3b3f56614433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48ba93e8f3745dc" /><Relationship Type="http://schemas.openxmlformats.org/officeDocument/2006/relationships/notesSlide" Target="/ppt/notesSlides/notesSlide9.xml" Id="Rf474b5ebd66c4fed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04e369a452e4ba9" /><Relationship Type="http://schemas.openxmlformats.org/officeDocument/2006/relationships/notesSlide" Target="/ppt/notesSlides/notesSlide10.xml" Id="Rbc6ae0df06d646f1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6b049a22b9e4b8b" /><Relationship Type="http://schemas.openxmlformats.org/officeDocument/2006/relationships/notesSlide" Target="/ppt/notesSlides/notesSlide11.xml" Id="R050f016461b04973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75cc239e45a40a5" /><Relationship Type="http://schemas.openxmlformats.org/officeDocument/2006/relationships/notesSlide" Target="/ppt/notesSlides/notesSlide12.xml" Id="Rb6630dc51c294af4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4118a8ce1aa444f" /><Relationship Type="http://schemas.openxmlformats.org/officeDocument/2006/relationships/notesSlide" Target="/ppt/notesSlides/notesSlide13.xml" Id="R72b3b9ef20464a9b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906f07ab6284f22" /><Relationship Type="http://schemas.openxmlformats.org/officeDocument/2006/relationships/notesSlide" Target="/ppt/notesSlides/notesSlide14.xml" Id="Rc5e8b1943dff44b0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f45fbd514cc4993" /><Relationship Type="http://schemas.openxmlformats.org/officeDocument/2006/relationships/notesSlide" Target="/ppt/notesSlides/notesSlide15.xml" Id="R5a6547831c994f43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8ee09c00558416f" /><Relationship Type="http://schemas.openxmlformats.org/officeDocument/2006/relationships/notesSlide" Target="/ppt/notesSlides/notesSlide16.xml" Id="R5261cc05c46a4be3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a965eed36b64a57" /><Relationship Type="http://schemas.openxmlformats.org/officeDocument/2006/relationships/notesSlide" Target="/ppt/notesSlides/notesSlide17.xml" Id="R12254042d1ea4e03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6fd4a82f21949c3" /><Relationship Type="http://schemas.openxmlformats.org/officeDocument/2006/relationships/notesSlide" Target="/ppt/notesSlides/notesSlide18.xml" Id="Rf25b451019ac4a16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df05ed15db14800" /><Relationship Type="http://schemas.openxmlformats.org/officeDocument/2006/relationships/notesSlide" Target="/ppt/notesSlides/notesSlide19.xml" Id="Rc100815fbb624671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7d23a55f67b492d" /><Relationship Type="http://schemas.openxmlformats.org/officeDocument/2006/relationships/notesSlide" Target="/ppt/notesSlides/notesSlide20.xml" Id="R206014809624468e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a703e0a1d034b30" /><Relationship Type="http://schemas.openxmlformats.org/officeDocument/2006/relationships/notesSlide" Target="/ppt/notesSlides/notesSlide21.xml" Id="Rcd1cb198ed6f4852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80f353f4dce4875" /><Relationship Type="http://schemas.openxmlformats.org/officeDocument/2006/relationships/notesSlide" Target="/ppt/notesSlides/notesSlide22.xml" Id="R42e3f44d16d64ace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5608e3707a140f8" /><Relationship Type="http://schemas.openxmlformats.org/officeDocument/2006/relationships/notesSlide" Target="/ppt/notesSlides/notesSlide23.xml" Id="Re5262db1880e4842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6cebed1abad4ab1" /><Relationship Type="http://schemas.openxmlformats.org/officeDocument/2006/relationships/notesSlide" Target="/ppt/notesSlides/notesSlide24.xml" Id="R4b59f03ef52648a5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7b4704b769446b3" /><Relationship Type="http://schemas.openxmlformats.org/officeDocument/2006/relationships/notesSlide" Target="/ppt/notesSlides/notesSlide25.xml" Id="Rba1fa27984d048b6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09dd1a965684c68" /><Relationship Type="http://schemas.openxmlformats.org/officeDocument/2006/relationships/notesSlide" Target="/ppt/notesSlides/notesSlide26.xml" Id="Rf23715f1f15940e0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3e6ce3125db4a19" /><Relationship Type="http://schemas.openxmlformats.org/officeDocument/2006/relationships/notesSlide" Target="/ppt/notesSlides/notesSlide27.xml" Id="R05a33586035d4d2a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67f536f36f54569" /><Relationship Type="http://schemas.openxmlformats.org/officeDocument/2006/relationships/notesSlide" Target="/ppt/notesSlides/notesSlide28.xml" Id="Rb2de8b05677e4486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cb10a5e32944a45" /><Relationship Type="http://schemas.openxmlformats.org/officeDocument/2006/relationships/notesSlide" Target="/ppt/notesSlides/notesSlide29.xml" Id="R46fc4bc6cbb34f86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CF030A5-F52A-4073-B9C0-AC896919E3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824B57A-89CE-4B7C-9E0D-6D4F02CE3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333625"/>
            <a:ext cx="123825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1B015E1-C1D1-4811-B860-3953E2AF7A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2552700"/>
            <a:ext cx="8191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57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57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544C4E4-F529-425E-B6F5-50E0B2A1FC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2686050"/>
            <a:ext cx="30480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43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43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AURA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DBBCDDF-31A9-4958-BEB2-54E971BB05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3638550"/>
            <a:ext cx="4762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00" b="0">
                <a:solidFill>
                  <a:srgbClr val="555555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555555"/>
                </a:solidFill>
                <a:latin typeface="Aptos"/>
                <a:ea typeface="Aptos"/>
                <a:cs typeface="Aptos"/>
              </a:rPr>
              <a:t>Product / Investor Deck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7443BD4-4D69-4098-BA70-3D6C9B0DD4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623714030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6A698E1-0ED8-41E9-B16F-4983C0A45F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FFB4ECE-C241-4E16-8DC4-C1FDCC584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00050"/>
            <a:ext cx="8191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8F038B2-1C20-4548-BD5B-551EC8DEF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52450"/>
            <a:ext cx="3238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73A5E3C-D843-47F2-A503-5EF79B4AD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657225"/>
            <a:ext cx="2667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00AB1FB-0978-49AD-9CF2-106D922F1F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742950"/>
            <a:ext cx="8572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What AURA Is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C54DF1A-B224-474A-A8F6-B8FE722AFA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733550"/>
            <a:ext cx="176212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One-line thesis —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D6BB16B-7E1D-4BEC-BA80-F937F2768B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47925" y="1733550"/>
            <a:ext cx="82200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AURA is a weekly visual self-guidance app: birth data + personal context → forecast → daily episode → action/reset → Life Canvas change → tomorrow hook.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417A75F-CDA7-4B9C-8311-F71CDA62BB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409825"/>
            <a:ext cx="176212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User promise —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3BCBE24-0017-43EB-9F82-813479CF64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47925" y="2409825"/>
            <a:ext cx="82200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Not “your zodiac sign says X”. The user should feel: “I understand my week, I did one small action, and I can see how my life picture changed.”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420EB9B-0480-4AAD-82C1-FEAAB811A9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086100"/>
            <a:ext cx="176212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Core product —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34AB324-1907-4180-99AD-8ED0626B3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47925" y="3086100"/>
            <a:ext cx="82200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A personal pocket forecastist/assistant with memory, weekly seasons, image-first Life Canvas and rare premium video moments.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319EC8C-3A14-4E33-9100-CC0C7D5EB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762375"/>
            <a:ext cx="176212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Why now —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20D81F5-1136-4B01-AB23-955F1B9FA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47925" y="3762375"/>
            <a:ext cx="82200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Astrology apps monetize personal meaning, mindfulness apps monetize ritual, AI companions monetize memory, video AI creates premium visual moments. AURA joins these behaviors.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4B6BB39-A045-4C38-9AA4-E4DE841FB2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438650"/>
            <a:ext cx="176212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Business rule —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10BE481-15F1-49D0-AC78-B36FD6CD4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47925" y="4438650"/>
            <a:ext cx="82200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Daily loop must stay cheap. Premium video/avatar must be tokenized, milestone-based or paid, not free daily generation.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DB3DAC1-6E85-40C8-84DC-2F52BBA640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114925"/>
            <a:ext cx="176212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Strategic gate —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F6297A8-65A3-404D-9165-6284B240B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47925" y="5114925"/>
            <a:ext cx="82200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If users cannot explain why Life Canvas changed, AURA becomes an AI image toy. If they can, AURA becomes a product.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F99BD8F-B493-46F1-B74A-7210B4B3F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1217210852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4BD9861-8248-48FC-B156-25F1D6D52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47E27D7-C09A-4D2F-A0A5-2416FB79A0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00050"/>
            <a:ext cx="8191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3C5950F-179E-468C-9CFF-ACF336BC7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52450"/>
            <a:ext cx="3238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60C1674-8232-4C02-9D14-C7B281ABD5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657225"/>
            <a:ext cx="2667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16519F7-1817-439D-B0C8-F587FE294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742950"/>
            <a:ext cx="8572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The Product Loop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AAB81FE-25D5-48D4-BCC3-F8B479F156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71750"/>
            <a:ext cx="1619250" cy="723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13335">
            <a:solidFill>
              <a:srgbClr val="4D5563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ADFDD26-6669-41B2-9DE5-D209F8424F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800350"/>
            <a:ext cx="14668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Birth data + request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C477E10-0CD2-4926-9CC2-9D52A62C5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429000"/>
            <a:ext cx="15240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personal context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EABB684-10D0-4E24-8BBE-9FE380313F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14625" y="2571750"/>
            <a:ext cx="1619250" cy="723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13335">
            <a:solidFill>
              <a:srgbClr val="4D5563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01EF406-FCF7-4FFD-BE9E-14C8364F59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90825" y="2800350"/>
            <a:ext cx="14668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Weekly forecast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BEEEEA1-62BC-458C-8854-6B526B54F1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3429000"/>
            <a:ext cx="15240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season arc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7C6936D-2598-45E7-BBB2-CBADCED659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2571750"/>
            <a:ext cx="1619250" cy="723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13335">
            <a:solidFill>
              <a:srgbClr val="4D5563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97DD115-E35F-46F6-B6FB-FA605BA37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2800350"/>
            <a:ext cx="14668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Daily episode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80AD655-C33F-4626-8C04-FC848D3952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4875" y="3429000"/>
            <a:ext cx="15240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today focus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4937493-A3B7-43BB-9F84-BD169A9B4E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2571750"/>
            <a:ext cx="1619250" cy="723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CEFD4"/>
          </a:solidFill>
          <a:ln xmlns:a="http://schemas.openxmlformats.org/drawingml/2006/main" w="13335">
            <a:solidFill>
              <a:srgbClr val="4D5563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9D9D2EA-37D3-486C-BEED-B58317DD17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96075" y="2800350"/>
            <a:ext cx="14668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Action / Reset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E6B57B7-086D-49E1-9667-1B6A061906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429000"/>
            <a:ext cx="15240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small behavior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4577771-8CDF-455C-8980-72463030D1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571750"/>
            <a:ext cx="1619250" cy="723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CEFD4"/>
          </a:solidFill>
          <a:ln xmlns:a="http://schemas.openxmlformats.org/drawingml/2006/main" w="13335">
            <a:solidFill>
              <a:srgbClr val="4D5563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61CB71F-7E76-4D9F-99BE-A3F3E7FBED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2800350"/>
            <a:ext cx="14668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Life Canvas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890A456-BB3D-489E-A569-C31E77A6AB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3429000"/>
            <a:ext cx="15240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visible causality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5738049-406D-4ADA-856E-2C5E859C9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572000"/>
            <a:ext cx="80962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The loop is the product: Episode → Action → Reset → Reflection → Life Canvas → Tomorrow Hook.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D70864B-91FD-4D54-8798-229CF416A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305550"/>
            <a:ext cx="8382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777777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777777"/>
                </a:solidFill>
                <a:latin typeface="Aptos"/>
                <a:ea typeface="Aptos"/>
                <a:cs typeface="Aptos"/>
              </a:rPr>
              <a:t>Source: Google Vertex AI pricing page for Veo 2; exact video model pricing must be rechecked before build.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923696E-A907-4044-A20C-A07BC36CE4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264701516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473004A-8A6E-4B2F-9B51-A05A61C3CF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833E46D-773E-4096-BD17-4ABDEAE67E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00050"/>
            <a:ext cx="8191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9BCE93C-C900-40FF-821C-A56F29B981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52450"/>
            <a:ext cx="3238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7EFB98D-65C4-4E1F-AA7C-004358ED6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657225"/>
            <a:ext cx="2667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21B58BB-C9A4-4A74-BFBA-DE82AB7BC6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742950"/>
            <a:ext cx="8572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User Journey: First 30 Days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8418BF1-87B5-4803-855A-42CFA7FE0E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43250"/>
            <a:ext cx="9144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D8A52E6-398C-419E-98CB-4363B840C2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667000"/>
            <a:ext cx="1066800" cy="1066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11430">
            <a:solidFill>
              <a:srgbClr val="4D556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4E074FB-3DDB-4F27-8B09-9A8CBC8D89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028950"/>
            <a:ext cx="83820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Day 0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BD6D161-8938-45FA-8406-257C0924F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4095750"/>
            <a:ext cx="1905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Search moment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01ED4BA-FBCB-4332-B40E-409BC6DA9E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" y="4457700"/>
            <a:ext cx="2000250" cy="809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The user wants meaning for the week, a softer reset, or a visual future-self prompt.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47CBA80-6437-4F44-BC04-6CB2193FF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2667000"/>
            <a:ext cx="1066800" cy="1066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11430">
            <a:solidFill>
              <a:srgbClr val="4D5563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CC810F6-B308-44F8-B977-D7E8A8054C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3028950"/>
            <a:ext cx="83820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Day 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E6CE1ED-177D-44E8-AF7E-F7B6CB8AC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4095750"/>
            <a:ext cx="1905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First loop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369C1A4-AAF9-4346-8F0A-59C4A3265D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90875" y="4457700"/>
            <a:ext cx="2000250" cy="809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Birth data + context → first forecast → one action → first Life Canvas shift.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E48B42B-C0C0-4A9E-82B4-90D013A821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667000"/>
            <a:ext cx="1066800" cy="1066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11430">
            <a:solidFill>
              <a:srgbClr val="4D5563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D651E1B-CE31-4F1E-B673-32911A4CB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3028950"/>
            <a:ext cx="83820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Day 7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185D15D-9E6B-497A-8F78-BA5120F1E2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095750"/>
            <a:ext cx="1905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First season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4BACBEE-E76C-4AD6-8A92-A7B6D1F41D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4457700"/>
            <a:ext cx="2000250" cy="809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The user sees a weekly arc, remembers actions, and receives a recap/visual artifact.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D72875A-41DA-49E3-A738-E03919948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2667000"/>
            <a:ext cx="1066800" cy="1066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CEFD4"/>
          </a:solidFill>
          <a:ln xmlns:a="http://schemas.openxmlformats.org/drawingml/2006/main" w="11430">
            <a:solidFill>
              <a:srgbClr val="4D5563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9D8AA21-DEF1-4C5E-9532-13C101A9A5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86900" y="3028950"/>
            <a:ext cx="83820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Day 30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06972E0-2DDC-4C4C-866F-DAACF92B6E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4095750"/>
            <a:ext cx="1905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Personal system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F5B94AF-8267-4DAD-904C-204D224671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05875" y="4457700"/>
            <a:ext cx="2000250" cy="809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AURA becomes a ritual: assistant memory, seasons, premium visual moments, annual path.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FB253A8-7100-4941-A1A4-D668313DB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5715000"/>
            <a:ext cx="8191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AURA only works if the user understands the sequence: input → meaning → action → visible change → return tomorrow.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B06D3D2-F8AC-46A2-B77F-D4E24944E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25182415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32B2A81-53CD-4713-B409-CE83541FF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FED33E2-7D6E-4C0C-A348-3449A3EE77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00050"/>
            <a:ext cx="8191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3F9FF1A-6905-4CFA-BA6E-6B8858861A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52450"/>
            <a:ext cx="3238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F743BB7-2047-423B-81EE-77740E2189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657225"/>
            <a:ext cx="2667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1DE6BF4-C517-46D4-ACA1-F343A1C83C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742950"/>
            <a:ext cx="8572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Core Screens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D0D5EF0-FA30-46A6-BCFE-B74CCF6296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71625"/>
            <a:ext cx="131445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383">
            <a:solidFill>
              <a:srgbClr val="4D5563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DA1506B-745A-40B3-A876-6621652DE5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1704975"/>
            <a:ext cx="110490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87A2852-18F2-4C72-AA8A-3351E60EE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800225"/>
            <a:ext cx="3238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7B61D1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7B61D1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FA9C2D4-2841-424B-AE18-5D81BF82C0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1790700"/>
            <a:ext cx="685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Birth data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2A08825-C7EB-40D0-A7B5-207CB86807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" y="2390775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7620">
            <a:solidFill>
              <a:srgbClr val="4D5563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568AD29-5926-4D1E-81A7-25E8E81BA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152775"/>
            <a:ext cx="10096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date / time / place</a:t>
            </a:r>
          </a:p>
          <a:p xmlns:a="http://schemas.openxmlformats.org/drawingml/2006/main">
            <a:pPr algn="ctr">
              <a:defRPr sz="9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current question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6CEC7EB-89CD-4335-B842-9FABDE11C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181475"/>
            <a:ext cx="857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5715">
            <a:solidFill>
              <a:srgbClr val="4D5563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05053E5-C835-4A9F-A370-6D8A6BF9E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229100"/>
            <a:ext cx="7810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continue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9CC65C8-3C20-4FF2-91F7-A48054A96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14575" y="1571625"/>
            <a:ext cx="131445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383">
            <a:solidFill>
              <a:srgbClr val="4D5563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CE91A6D-3A0A-43B7-AC19-88333317E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1704975"/>
            <a:ext cx="110490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0E09119-5333-4DD6-9DE9-39CDD9F429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05075" y="1800225"/>
            <a:ext cx="3238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7B61D1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7B61D1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33C82F5-F068-4902-9B7A-7D54B3C47E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1790700"/>
            <a:ext cx="685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Week forecast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983ACA2-AAAF-4E95-BD56-23F3F26DAC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2390775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7620">
            <a:solidFill>
              <a:srgbClr val="4D5563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8729246-0549-48F3-B1E8-65A63C9BF7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66975" y="3152775"/>
            <a:ext cx="10096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season theme</a:t>
            </a:r>
          </a:p>
          <a:p xmlns:a="http://schemas.openxmlformats.org/drawingml/2006/main">
            <a:pPr algn="ctr">
              <a:defRPr sz="9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3 tensions</a:t>
            </a:r>
          </a:p>
          <a:p xmlns:a="http://schemas.openxmlformats.org/drawingml/2006/main">
            <a:pPr algn="ctr">
              <a:defRPr sz="9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first promise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5B5E0D9-11A2-48E7-8C6A-FA08190AF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43175" y="4181475"/>
            <a:ext cx="857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5715">
            <a:solidFill>
              <a:srgbClr val="4D5563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0A8CCB7-3331-4DCD-9D12-BC7F04C5DF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81275" y="4229100"/>
            <a:ext cx="7810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continue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C00FB5B-EA72-4CBB-BE60-AFA01B1EF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6700" y="1571625"/>
            <a:ext cx="131445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383">
            <a:solidFill>
              <a:srgbClr val="4D5563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DFFBE16-5CD4-40B0-AD96-BC3E92700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81475" y="1704975"/>
            <a:ext cx="110490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4CB2C44-A26B-40C6-8D0B-4FD9C64DA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1800225"/>
            <a:ext cx="3238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7B61D1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7B61D1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FE35F6A-3802-4849-AD0D-F754311E24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1790700"/>
            <a:ext cx="685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Daily episode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CDDBE34-E8BA-4DF8-84D3-308DE30AAD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6275" y="2390775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7620">
            <a:solidFill>
              <a:srgbClr val="4D5563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FC3D628-E3D4-43C2-8B1D-2C350C7109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3152775"/>
            <a:ext cx="10096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today focus</a:t>
            </a:r>
          </a:p>
          <a:p xmlns:a="http://schemas.openxmlformats.org/drawingml/2006/main">
            <a:pPr algn="ctr">
              <a:defRPr sz="9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assistant message</a:t>
            </a:r>
          </a:p>
          <a:p xmlns:a="http://schemas.openxmlformats.org/drawingml/2006/main">
            <a:pPr algn="ctr">
              <a:defRPr sz="9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action card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5B76F06-3E12-4A0F-92FD-504094536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4181475"/>
            <a:ext cx="857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5715">
            <a:solidFill>
              <a:srgbClr val="4D5563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A0191C1-64BE-421B-87C7-D725A4AD94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4229100"/>
            <a:ext cx="7810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continue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892EE6A-D949-421D-81CE-788247628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38825" y="1571625"/>
            <a:ext cx="131445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383">
            <a:solidFill>
              <a:srgbClr val="4D5563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D9DA16C-DFE1-446B-B624-846C189C0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1704975"/>
            <a:ext cx="110490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DADDE34-EA7B-40E5-A6D2-4272817BE7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1800225"/>
            <a:ext cx="3238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7B61D1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7B61D1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B18EF892-9476-4118-B59D-13691FDB5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6025" y="1790700"/>
            <a:ext cx="685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Reset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47031561-43DF-488B-BC0F-E8F69778B2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390775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7620">
            <a:solidFill>
              <a:srgbClr val="4D5563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17C75CF3-FC45-4C95-9FF8-AACDDDBF34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91225" y="3152775"/>
            <a:ext cx="10096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2-min practice</a:t>
            </a:r>
          </a:p>
          <a:p xmlns:a="http://schemas.openxmlformats.org/drawingml/2006/main">
            <a:pPr algn="ctr">
              <a:defRPr sz="9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reflection</a:t>
            </a:r>
          </a:p>
          <a:p xmlns:a="http://schemas.openxmlformats.org/drawingml/2006/main">
            <a:pPr algn="ctr">
              <a:defRPr sz="9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completion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F5594FF2-BAE1-488D-9A5B-9BFECFFE12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7425" y="4181475"/>
            <a:ext cx="857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5715">
            <a:solidFill>
              <a:srgbClr val="4D5563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74318435-BC1C-4A1E-BA71-29C51CBE1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05525" y="4229100"/>
            <a:ext cx="7810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continue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C334453D-E173-4F20-BDDA-4ACC2CF06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1571625"/>
            <a:ext cx="131445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383">
            <a:solidFill>
              <a:srgbClr val="4D5563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3C1DA62D-BF82-4FD5-91A2-67169EAD3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05725" y="1704975"/>
            <a:ext cx="110490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F727C30D-57AC-4E9B-A257-539403F03A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1800225"/>
            <a:ext cx="3238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7B61D1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7B61D1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24B38211-FE49-4C3E-BB8E-0493C6437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1790700"/>
            <a:ext cx="685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Life Canvas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D386D34D-CDD5-4E12-99F9-654307F08D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0525" y="2390775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CEFD4"/>
          </a:solidFill>
          <a:ln xmlns:a="http://schemas.openxmlformats.org/drawingml/2006/main" w="7620">
            <a:solidFill>
              <a:srgbClr val="4D5563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C93F07DF-D3ED-4E3B-8F4D-C7208B8D8C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3152775"/>
            <a:ext cx="10096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before / after</a:t>
            </a:r>
          </a:p>
          <a:p xmlns:a="http://schemas.openxmlformats.org/drawingml/2006/main">
            <a:pPr algn="ctr">
              <a:defRPr sz="9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what changed</a:t>
            </a:r>
          </a:p>
          <a:p xmlns:a="http://schemas.openxmlformats.org/drawingml/2006/main">
            <a:pPr algn="ctr">
              <a:defRPr sz="9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why it changed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DC00B29C-1F05-4A4B-9DB0-7FB0D4700E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4181475"/>
            <a:ext cx="857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5715">
            <a:solidFill>
              <a:srgbClr val="4D5563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89EF4BBE-E44A-44E9-8FD6-86BDFDA051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4229100"/>
            <a:ext cx="7810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continue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7F3E35BE-7982-4C7B-B3F8-6646E62A65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63075" y="1571625"/>
            <a:ext cx="131445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383">
            <a:solidFill>
              <a:srgbClr val="4D5563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575209B2-542A-40DE-ABE1-270666B25A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1704975"/>
            <a:ext cx="110490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3A73AAF8-C943-415A-A983-0CB513A229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53575" y="1800225"/>
            <a:ext cx="3238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7B61D1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7B61D1"/>
                </a:solidFill>
                <a:latin typeface="Aptos"/>
                <a:ea typeface="Aptos"/>
                <a:cs typeface="Aptos"/>
              </a:rPr>
              <a:t>06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B362E46E-6EB6-4A2F-9573-58AB68D535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0275" y="1790700"/>
            <a:ext cx="685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Paywall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C08C32AB-B97D-437F-9D29-EA989925C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2390775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7620">
            <a:solidFill>
              <a:srgbClr val="4D5563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AEC15384-4F78-48FE-8212-FFFE0743F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15475" y="3152775"/>
            <a:ext cx="10096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continue season</a:t>
            </a:r>
          </a:p>
          <a:p xmlns:a="http://schemas.openxmlformats.org/drawingml/2006/main">
            <a:pPr algn="ctr">
              <a:defRPr sz="9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Plus / annual</a:t>
            </a:r>
          </a:p>
          <a:p xmlns:a="http://schemas.openxmlformats.org/drawingml/2006/main">
            <a:pPr algn="ctr">
              <a:defRPr sz="9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token video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E8764150-8E88-4EFA-A713-D05558DDF7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91675" y="4181475"/>
            <a:ext cx="857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FD4"/>
          </a:solidFill>
          <a:ln xmlns:a="http://schemas.openxmlformats.org/drawingml/2006/main" w="5715">
            <a:solidFill>
              <a:srgbClr val="4D5563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52F9646F-5A80-4329-B74B-BC8B9FEAB8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9775" y="4229100"/>
            <a:ext cx="7810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choose plan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970A20E7-0B69-4C04-9076-2C77E5389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5429250"/>
            <a:ext cx="7810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These are not final UI designs. They define what the designer must make visible on screen.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503A7E2C-FCE9-4089-B73A-AC96981B0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515598651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68C18F5-A07D-42C2-B25F-D6C0059DD5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3978E65-24E3-4DA1-A294-178935FFC6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00050"/>
            <a:ext cx="8191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DFAF739-AFBD-473C-96AC-9A6793680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52450"/>
            <a:ext cx="3238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CCF321F-183C-4328-A841-7A902CCCDF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657225"/>
            <a:ext cx="2667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A937EBB-38F6-47AA-91A4-54CA3991F8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742950"/>
            <a:ext cx="8572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Life Canvas Must Explain Causality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553DF02-DF7F-4826-9207-2F8E9A0ADF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1581150"/>
            <a:ext cx="2476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Before action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E153773-D383-4DB0-B148-04EA08B55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581150"/>
            <a:ext cx="2476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After action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3EAB8FA-DFD6-4133-9E93-092DF3810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000250"/>
            <a:ext cx="34290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11430">
            <a:solidFill>
              <a:srgbClr val="4D5563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0DD6C74-B5B9-4394-87D7-AE0F9B7B3B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1625" y="2476500"/>
            <a:ext cx="1143000" cy="1143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8D5E6"/>
          </a:solidFill>
          <a:ln xmlns:a="http://schemas.openxmlformats.org/drawingml/2006/main" w="0">
            <a:solidFill>
              <a:srgbClr val="D8D5E6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30DD1F3-AF9A-46C7-9EB9-C7376A588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5550" y="2238375"/>
            <a:ext cx="1381125" cy="13811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4B7F5"/>
          </a:solidFill>
          <a:ln xmlns:a="http://schemas.openxmlformats.org/drawingml/2006/main" w="0">
            <a:solidFill>
              <a:srgbClr val="C4B7F5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1C8B645-1147-45D3-B347-2C733C86E9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3857625"/>
            <a:ext cx="25717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fog / pressure</a:t>
            </a:r>
          </a:p>
          <a:p xmlns:a="http://schemas.openxmlformats.org/drawingml/2006/main">
            <a:pPr algn="ctr">
              <a:defRPr sz="15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unclear week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9563145-2925-429F-AC7A-0C2EFAC75D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2625" y="2000250"/>
            <a:ext cx="34290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FF0"/>
          </a:solidFill>
          <a:ln xmlns:a="http://schemas.openxmlformats.org/drawingml/2006/main" w="11430">
            <a:solidFill>
              <a:srgbClr val="4D5563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538C90A-767B-4032-824B-FBE299443B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457450"/>
            <a:ext cx="1143000" cy="1143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CEFD4"/>
          </a:solidFill>
          <a:ln xmlns:a="http://schemas.openxmlformats.org/drawingml/2006/main" w="0">
            <a:solidFill>
              <a:srgbClr val="DCEFD4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743A872-C95C-4CE1-90F5-215B0B5FB4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2552700"/>
            <a:ext cx="119062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88FC392-187F-4256-AAA9-F4F5270607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3028950"/>
            <a:ext cx="857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B61D1"/>
          </a:solidFill>
          <a:ln xmlns:a="http://schemas.openxmlformats.org/drawingml/2006/main" w="0">
            <a:solidFill>
              <a:srgbClr val="7B61D1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6BD0A22-19B0-4EEB-B77C-CCA8F406AF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857625"/>
            <a:ext cx="25717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clear route</a:t>
            </a:r>
          </a:p>
          <a:p xmlns:a="http://schemas.openxmlformats.org/drawingml/2006/main">
            <a:pPr algn="ctr">
              <a:defRPr sz="15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grounded self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F60BE21-314C-4CC5-8860-4B34E52383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2857500"/>
            <a:ext cx="4762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300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300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D78254D-6B67-418F-B18D-BE9B67A426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743450"/>
            <a:ext cx="75247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B2D16C2-195B-4671-BCB8-CF0BF98A22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4857750"/>
            <a:ext cx="7143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Because the user completed the reset and reflection, the Canvas changes from “fog / pressure” to “clear route / grounded self”.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F1F0E7D-96E8-4B47-9D6C-401DA0AA95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5676900"/>
            <a:ext cx="8191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If the user says “AI just drew another picture”, the product fails. If the user says “the picture changed because I acted”, AURA is alive.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A4CA775-064D-40C7-BFAD-11BD40B31D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10234027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DA1FD7E-7363-401F-947E-3B4EE86E63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7DF33DD-69F2-4A4C-94A8-726A1DC30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00050"/>
            <a:ext cx="8191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8A69489-E8D4-45D3-8161-88213D7CFB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52450"/>
            <a:ext cx="3238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7A31B85-FB0A-4C3F-9ED8-F94AA37C3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657225"/>
            <a:ext cx="2667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3F06386-A466-47E1-9A57-3CE57E893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742950"/>
            <a:ext cx="8572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Premium Video Is a Magic Moment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4C39D20-8F9C-492C-8695-7803B9A010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24000"/>
            <a:ext cx="5619750" cy="3429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1022"/>
          </a:solidFill>
          <a:ln xmlns:a="http://schemas.openxmlformats.org/drawingml/2006/main" w="11430">
            <a:solidFill>
              <a:srgbClr val="4D5563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1A4036E-DE4A-49D7-ABEB-81E8DBA83C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2190750"/>
            <a:ext cx="2000250" cy="2000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E97D8C4-ED75-4408-BAC1-D9D6F38E3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2733675"/>
            <a:ext cx="16192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WEEK</a:t>
            </a:r>
          </a:p>
          <a:p xmlns:a="http://schemas.openxmlformats.org/drawingml/2006/main">
            <a:pPr algn="ctr">
              <a:defRPr sz="25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TRAILER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EBD135B-0D3A-4909-9DB5-5C888E46A5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4400550"/>
            <a:ext cx="23812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Premium video moment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DAA2239-6205-4B63-AD13-BFA9FD5D80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1619250"/>
            <a:ext cx="31432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Video should feel like the trailer of your week, not like a free daily content slot.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9F36C2B-D7B6-489F-91F8-D80E666B48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2714625"/>
            <a:ext cx="1619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86EDDA3-DFC1-492C-9A94-296F3D392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2781300"/>
            <a:ext cx="14668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Veo 8 sec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C4B4D40-E739-48AB-AF1C-9780E4BFD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2714625"/>
            <a:ext cx="2000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E8FFCDD-C29E-4D22-81A8-1E37E5BED8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2781300"/>
            <a:ext cx="18478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~$4 COGS before retries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ACD6990-0A7F-4530-97DD-AE7982842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3190875"/>
            <a:ext cx="1619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CB68B24-9B8B-4C91-9B9C-E5925320F2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3257550"/>
            <a:ext cx="14668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Runway 8 sec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4CB5FA2-0F6D-491F-9B29-DED9E88B1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3190875"/>
            <a:ext cx="2000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5BE2C36-3912-43F5-B591-7A7ED35759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3257550"/>
            <a:ext cx="18478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~$0.40 COGS proxy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49823D6-A756-47CA-ABF2-275365F47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3667125"/>
            <a:ext cx="1619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C7FC505-C7D6-46EC-AD90-01A42B4DB2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3733800"/>
            <a:ext cx="14668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HeyGen 30 sec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8CCB3DE-3840-42A2-B39D-CB2D017A91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3667125"/>
            <a:ext cx="2000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DFA41AC-EAC5-45FC-847D-9180D41402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3733800"/>
            <a:ext cx="18478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~$1.50-$2.00 COGS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322672A-420E-4FE7-B23A-2956C7B1E9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4143375"/>
            <a:ext cx="1619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FD4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FE63298-1FC1-4BCA-AD93-BD51A045A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4210050"/>
            <a:ext cx="14668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AURA token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21829BB-1892-44A9-869D-C12E00309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4143375"/>
            <a:ext cx="2000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FD4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7B05320-5579-4469-866D-CAD71BD4C8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4210050"/>
            <a:ext cx="18478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$2.99-$9.99 depending quality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0247E4A-7E62-4F61-850A-87C454B12E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5524500"/>
            <a:ext cx="8953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The business move: keep subscription image-first, sell rare video as premium forecast / future-self / season trailer.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1FDBDCA-41F9-48A2-BC59-3F2D44B6AB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1169923902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0A9D491-7D4A-4B4D-99DB-422867519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0D0546B-E3A8-4FE7-BEA0-57FACE71CA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00050"/>
            <a:ext cx="8191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81CA8CF-9CED-4FBA-A60C-C7E255C58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52450"/>
            <a:ext cx="3238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FE4E4BE-A864-4E6E-8990-33EBDDE07D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657225"/>
            <a:ext cx="2667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CB744BB-9185-4BCF-8181-E581E3DEF0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742950"/>
            <a:ext cx="8572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Paywall Architecture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2A717B1-C05F-4E95-BBD5-2BCB2343E5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19250"/>
            <a:ext cx="2238375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4D5563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8018394-C717-4713-99EF-1646BD07B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866900"/>
            <a:ext cx="1857375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7B61D1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7B61D1"/>
                </a:solidFill>
                <a:latin typeface="Aptos"/>
                <a:ea typeface="Aptos"/>
                <a:cs typeface="Aptos"/>
              </a:rPr>
              <a:t>Free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C74FF51-51DA-40A3-9E70-BE8521BCC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3625"/>
            <a:ext cx="185737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$0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1D05FC8-B69F-43AF-80E8-FE16322D90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990850"/>
            <a:ext cx="1781175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first forecast</a:t>
            </a:r>
          </a:p>
          <a:p xmlns:a="http://schemas.openxmlformats.org/drawingml/2006/main">
            <a:pPr algn="ctr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Day 1 loop</a:t>
            </a:r>
          </a:p>
          <a:p xmlns:a="http://schemas.openxmlformats.org/drawingml/2006/main">
            <a:pPr algn="ctr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one Life Canvas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BAFF362-04FD-4112-8608-9AC2EF78D5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4171950"/>
            <a:ext cx="13811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7620">
            <a:solidFill>
              <a:srgbClr val="4D5563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37D373B-8BC9-470A-925C-8C82CC46B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48150"/>
            <a:ext cx="12573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activation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D8503EA-1CB2-4197-8A4D-3CD0C8DC3F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05175" y="1619250"/>
            <a:ext cx="2238375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11430">
            <a:solidFill>
              <a:srgbClr val="4D5563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B9C69FA-7A37-45B4-9E88-D062C48EAE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95675" y="1866900"/>
            <a:ext cx="1857375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7B61D1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7B61D1"/>
                </a:solidFill>
                <a:latin typeface="Aptos"/>
                <a:ea typeface="Aptos"/>
                <a:cs typeface="Aptos"/>
              </a:rPr>
              <a:t>Plus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6280E08-B41B-4636-8F8C-F4CF23FC6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95675" y="2333625"/>
            <a:ext cx="185737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$9.99-$14.99/mo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CABE382-6B5C-4C3E-BD07-AEFBAC26D9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3775" y="2990850"/>
            <a:ext cx="1781175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daily episodes</a:t>
            </a:r>
          </a:p>
          <a:p xmlns:a="http://schemas.openxmlformats.org/drawingml/2006/main">
            <a:pPr algn="ctr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memory</a:t>
            </a:r>
          </a:p>
          <a:p xmlns:a="http://schemas.openxmlformats.org/drawingml/2006/main">
            <a:pPr algn="ctr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weekly recap</a:t>
            </a:r>
          </a:p>
          <a:p xmlns:a="http://schemas.openxmlformats.org/drawingml/2006/main">
            <a:pPr algn="ctr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limited images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979F22A-AC93-4EE3-821E-F1AF7A131B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4171950"/>
            <a:ext cx="13811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7620">
            <a:solidFill>
              <a:srgbClr val="4D5563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E1DB81B-B5C0-4BFB-BA9F-1C467267C0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0475" y="4248150"/>
            <a:ext cx="12573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retention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4815EFE-7004-4028-8B0A-B14639D89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1619250"/>
            <a:ext cx="2238375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4D5563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1950EB2-928C-4E94-9347-C9F8E93DD6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1866900"/>
            <a:ext cx="1857375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7B61D1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7B61D1"/>
                </a:solidFill>
                <a:latin typeface="Aptos"/>
                <a:ea typeface="Aptos"/>
                <a:cs typeface="Aptos"/>
              </a:rPr>
              <a:t>Annual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B3B68BD-4B67-495B-95A5-7F85CA722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2333625"/>
            <a:ext cx="185737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$69-$89/yr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966FE4B-65EB-4F6B-B19D-3DF3355BA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2990850"/>
            <a:ext cx="1781175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same loop</a:t>
            </a:r>
          </a:p>
          <a:p xmlns:a="http://schemas.openxmlformats.org/drawingml/2006/main">
            <a:pPr algn="ctr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season framing</a:t>
            </a:r>
          </a:p>
          <a:p xmlns:a="http://schemas.openxmlformats.org/drawingml/2006/main">
            <a:pPr algn="ctr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lower churn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F5872BC-4B93-46B7-91CA-03EC7FD8E9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4171950"/>
            <a:ext cx="13811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7620">
            <a:solidFill>
              <a:srgbClr val="4D5563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25DFCB9-CC31-4B38-B7CB-DF23899FB9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4248150"/>
            <a:ext cx="12573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cashflow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72A06B1-95E1-4448-B477-7F8DCDE1DC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3925" y="1619250"/>
            <a:ext cx="2238375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FD4"/>
          </a:solidFill>
          <a:ln xmlns:a="http://schemas.openxmlformats.org/drawingml/2006/main" w="11430">
            <a:solidFill>
              <a:srgbClr val="4D5563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216267F-7110-4C15-ABA3-7C3CEA5E6B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4425" y="1866900"/>
            <a:ext cx="1857375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7B61D1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7B61D1"/>
                </a:solidFill>
                <a:latin typeface="Aptos"/>
                <a:ea typeface="Aptos"/>
                <a:cs typeface="Aptos"/>
              </a:rPr>
              <a:t>Tokens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A8261CE-56A8-46B2-9937-FCEB7919D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4425" y="2333625"/>
            <a:ext cx="185737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$2.99-$9.99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6F21F77-183B-41CC-B237-5D8558B762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2525" y="2990850"/>
            <a:ext cx="1781175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future-self video</a:t>
            </a:r>
          </a:p>
          <a:p xmlns:a="http://schemas.openxmlformats.org/drawingml/2006/main">
            <a:pPr algn="ctr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Canvas trailer</a:t>
            </a:r>
          </a:p>
          <a:p xmlns:a="http://schemas.openxmlformats.org/drawingml/2006/main">
            <a:pPr algn="ctr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special episode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F24E4E8-A4E0-43A2-AF73-50D9D51553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4171950"/>
            <a:ext cx="13811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7620">
            <a:solidFill>
              <a:srgbClr val="4D5563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67E65B4-7DDD-4FCD-852C-48917E335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9225" y="4248150"/>
            <a:ext cx="12573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ARPMAU uplift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9252A5A-EEE5-4A71-9764-5B16D5FB45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5476875"/>
            <a:ext cx="80010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Paywall appears after the first completed loop, not before the user understands the product.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0F17401-54B2-4CF0-B9CE-73255FAF0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948204538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F8F6DEE-B2C1-48F8-8B1E-EFA7F7456A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30BB05D-20B7-4C54-855A-3B9224614A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00050"/>
            <a:ext cx="8191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92E26F8-72B4-4D2B-BABF-A726CDFC03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52450"/>
            <a:ext cx="3238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E38FD7E-6D61-4DCB-BBD7-8315361D8D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657225"/>
            <a:ext cx="2667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49A5230-02EC-4EB4-A743-514D635750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742950"/>
            <a:ext cx="8572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Why This Is Not Just Astrology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57508B3-33EC-4615-824A-3D9AA0A3E0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714500"/>
            <a:ext cx="4286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What existing apps give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029D7F8-D5B8-4135-8890-5A8A7F869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266950"/>
            <a:ext cx="228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E982EB3-3E6D-4F20-B8B1-A84872FA62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286000"/>
            <a:ext cx="41148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Astrology: meaning, but often generic and passive.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391C63A-6B3B-4388-A8F6-637FC40BDC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819400"/>
            <a:ext cx="228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7B542D8-0958-4F2E-B96D-2B720E0F42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838450"/>
            <a:ext cx="41148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Mindfulness: ritual, but often not personal enough.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6A08073-F17E-4BFA-856F-F04CBF792F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71850"/>
            <a:ext cx="228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C3D65A6-EA1D-4F5A-A0B3-4E6999FF37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390900"/>
            <a:ext cx="41148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AI companion: conversation, but not a structured week.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361D454-AE29-4CA1-9CDA-2DCDAE08FC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924300"/>
            <a:ext cx="228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015A5B2-BD5C-416F-8772-B6429CE086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943350"/>
            <a:ext cx="41148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Avatar tools: visuals, but weak causality.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06AFF28-23CC-4755-9AFE-9283637AE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714500"/>
            <a:ext cx="4095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What AURA combines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4E88062-3C47-4C72-9CD4-FC8F3BACF1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266950"/>
            <a:ext cx="228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B838758-CB1F-4E34-9CAB-53FCF5BF5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2286000"/>
            <a:ext cx="39243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Birth-data context without fatalistic positioning.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8383594-809F-48BB-B6E1-786BA79ED4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724150"/>
            <a:ext cx="228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4528D22-0D7E-4831-9D63-C12021B75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2743200"/>
            <a:ext cx="39243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A weekly season that gives structure.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0AFB579-A230-429A-939D-0A36A82C9E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181350"/>
            <a:ext cx="228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543D750-A9B6-4F9B-B579-29381D15B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3200400"/>
            <a:ext cx="39243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A daily micro-action that creates agency.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550F393-2C61-4794-A3F8-19ACBE4AA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638550"/>
            <a:ext cx="228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084FE79-F0B2-4900-8965-259CDC3990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3657600"/>
            <a:ext cx="39243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A Life Canvas that changes for a reason.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E131B51-C64F-4257-AD55-A298AF2072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095750"/>
            <a:ext cx="228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A77CAD9-7569-4904-AA47-924F34B9C8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4114800"/>
            <a:ext cx="39243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Premium video as rare proof-of-magic, not daily COGS leak.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68B781D-AC57-4FDE-90C1-E09144061A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76875" y="1666875"/>
            <a:ext cx="19050" cy="3429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AF8ED1A-B6D6-4825-A36E-501EB2172F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1970423311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B3164AF-B636-4AFA-B016-B3C17FD49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6619125-69EB-407E-B11B-D8A068667E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00050"/>
            <a:ext cx="8191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B235057-2466-4644-8E49-DE38524075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52450"/>
            <a:ext cx="3238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F7ED51D-99F0-47C5-B5DB-781F9F2F9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657225"/>
            <a:ext cx="2667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BA680DF-5618-4642-AC77-5D4A314ECF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742950"/>
            <a:ext cx="8572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Market Map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48CAF70-8B65-4C85-B8FA-A6B166FFDB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762125"/>
            <a:ext cx="1000125" cy="10001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E8E8"/>
          </a:solidFill>
          <a:ln xmlns:a="http://schemas.openxmlformats.org/drawingml/2006/main" w="13335">
            <a:solidFill>
              <a:srgbClr val="4D5563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D38C042-CD14-4981-99B1-6012B59B25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128838"/>
            <a:ext cx="847725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PAM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EED6A12-1808-4207-BB66-3AD1D84588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1885950"/>
            <a:ext cx="1524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consumer mobile apps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2E18CBA-266F-434F-AA8E-A64EA1325E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190750"/>
            <a:ext cx="40957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AURA competes for the daily habit of opening an app for meaning, reset and self-direction.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0827698-BC08-4F4E-B0A3-0AF576649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3048000"/>
            <a:ext cx="1000125" cy="10001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E8E8"/>
          </a:solidFill>
          <a:ln xmlns:a="http://schemas.openxmlformats.org/drawingml/2006/main" w="13335">
            <a:solidFill>
              <a:srgbClr val="4D5563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0670FBE-BE4D-4CEB-B80C-6422A3C760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414713"/>
            <a:ext cx="847725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TAM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5316AE5-B545-4091-92C9-CAEC808375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171825"/>
            <a:ext cx="1524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4 paid behaviors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587BE3D-E3E8-4424-B848-2169E85DF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476625"/>
            <a:ext cx="40957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personal guidance, wellness ritual, AI companion memory, visual identity/avatar progression.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BEA5E95-5B9D-4827-8857-DDC6E5C72D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4333875"/>
            <a:ext cx="1000125" cy="10001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13335">
            <a:solidFill>
              <a:srgbClr val="4D5563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B9B4D9F-B5C4-4DEA-8070-453BBA803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700588"/>
            <a:ext cx="847725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SAM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8022E2F-BCD3-466F-A9AE-8F9CEF2B3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457700"/>
            <a:ext cx="1524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apps + web + AI tools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D99F870-6D4A-48E3-9174-D7B5BC6C09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762500"/>
            <a:ext cx="40957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existing research covers app stores, web apps, paywalls, adjacent tools and manual competitor walkthroughs.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5E75078-92A8-432E-9DB6-2CB65C21E9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1905000"/>
            <a:ext cx="1143000" cy="952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13335">
            <a:solidFill>
              <a:srgbClr val="4D5563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ABC96C4-9452-4CA6-ACCF-DC5A68EB17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2247900"/>
            <a:ext cx="9906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SOM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981190D-0D61-41F8-8298-B1CA65453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1981200"/>
            <a:ext cx="2286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100k-300k users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A301828-7068-431D-9DF7-7B1FA687E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2305050"/>
            <a:ext cx="27622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reachable first scale if creator-led GTM, weekly seasons and premium visual moments work.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F071901-6E65-494A-A746-A37217455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333750"/>
            <a:ext cx="1143000" cy="952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13335">
            <a:solidFill>
              <a:srgbClr val="4D5563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F2C9836-A280-487D-80A4-EB8203B9DC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3676650"/>
            <a:ext cx="9906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UP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30A5A13-A25E-4BB2-9C5A-06753AE9D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3409950"/>
            <a:ext cx="2286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$30-80M ARR path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7C67361-728B-41F8-8AD9-03BD5B03F6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3733800"/>
            <a:ext cx="27622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subscription + annual + premium tokens + creator seasons can create venture-relevant upside.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F96BB93-52BB-4D51-90FF-58375FD8AB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5048250"/>
            <a:ext cx="4095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The market is not a single horoscope TAM. It is the overlap of paid personal meaning, daily ritual and AI visual identity.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D8260AA-3355-4605-92EE-795B00B9D8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1328941572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A758192-E896-471B-9FDA-E314CAF133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99024A9-E6AF-4179-A011-BB6774C8AD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00050"/>
            <a:ext cx="8191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1F24BD6-02CB-446D-850B-C46CB295C8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52450"/>
            <a:ext cx="3238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36BE3A2-A720-4539-BC04-B5B182951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657225"/>
            <a:ext cx="2667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C7C40DF-4099-451B-90C3-AD9E925E30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742950"/>
            <a:ext cx="8572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Competitor Economics: The Read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4623DDE-CACD-4E70-8101-7865DDC3EB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0002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11876A8-4C5B-46FB-AD93-0D11E3096D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743075"/>
            <a:ext cx="18478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Co-Star iOS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B8207FD-2B5E-4D2F-9E5A-260F76A39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1676400"/>
            <a:ext cx="21431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32871C3-4DDC-42AC-948A-97D6D54E7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1743075"/>
            <a:ext cx="19907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$797.5K/mo estimate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5F67370-68E6-4C84-8A51-880C4C03DF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1676400"/>
            <a:ext cx="2190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E9BF5F1-F186-40F9-A70A-8D948CF740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33925" y="1743075"/>
            <a:ext cx="2038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2.7M MAU / 64K payers / 2.4% conversion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8538B83-6981-403F-8C61-FA8B3FA900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8475" y="1676400"/>
            <a:ext cx="4000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41BD402-3F44-415B-86D4-1AB5CB2BA2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24675" y="1743075"/>
            <a:ext cx="38481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social astrology can scale with low CAC if language is viral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0D30AEC-877C-4231-8BC6-FD5391852C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228850"/>
            <a:ext cx="20002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CF31F7C-7245-4158-BE95-D66382D18E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295525"/>
            <a:ext cx="18478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Nebula iOS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682C5CB-B4F7-4AF8-B4F6-CF84CC75F2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2228850"/>
            <a:ext cx="21431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A224CCE-4D9C-491E-830C-C671316290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2295525"/>
            <a:ext cx="19907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$718K/mo estimate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A04CE86-87F6-46E0-B7F0-EFC0AA8E7E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2228850"/>
            <a:ext cx="2190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D42BB75-E940-4443-811A-0AF8EBC3F1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33925" y="2295525"/>
            <a:ext cx="2038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2.2M MAU / 52K payers / $0.33 ARPMAU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58254CB-6BA6-4831-AC38-B03BA0A34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8475" y="2228850"/>
            <a:ext cx="4000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85BB6BD-8818-4A0E-95CF-676102C233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24675" y="2295525"/>
            <a:ext cx="38481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paid spiritual guidance works, but aggressive funnels create trust risk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50B29DB-0909-4981-ABB0-F3096E3FBA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781300"/>
            <a:ext cx="20002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6314B7C-9908-4F43-B20E-4F463D5E7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847975"/>
            <a:ext cx="18478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Calm Android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FFC5A48-5882-4F95-9769-73BA35BA6B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2781300"/>
            <a:ext cx="21431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95065F6-23E6-4DCE-B855-D5847B9D1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2847975"/>
            <a:ext cx="19907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$2.35M/mo estimate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9C6A89A-17CE-4765-B754-642611FF18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2781300"/>
            <a:ext cx="2190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2A209F0-BF9C-4875-8141-1BC941C22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33925" y="2847975"/>
            <a:ext cx="2038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3.6M MAU / 85K payers / 2.4% conversion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CB15DCD-6BB2-4188-A7B7-9250E01918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8475" y="2781300"/>
            <a:ext cx="4000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20B9204-E1B4-47C6-93D9-D29DBDA5F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24675" y="2847975"/>
            <a:ext cx="38481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wellness ritual can monetize at scale with annual subscription logic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4C30D58-4B42-4100-83CB-ED6D921123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333750"/>
            <a:ext cx="20002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ABB132B-B77B-4F3C-A3FA-C391172C49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400425"/>
            <a:ext cx="18478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AstroTime Android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15BE3F7-3665-4688-943A-FCCFBB614D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3333750"/>
            <a:ext cx="21431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F34C1F3-1854-45BD-AB34-5C45958B60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3400425"/>
            <a:ext cx="19907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$440.8K/mo estimate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95A22B4-300C-4826-B8C2-8DA45C1E33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3333750"/>
            <a:ext cx="2190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774C3F40-CB72-41D6-853E-331B1ADEF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33925" y="3400425"/>
            <a:ext cx="2038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242K MAU / 11K payers / 4.5% conversion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6543B8D7-852F-43C0-8A5F-36DD4B3B09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8475" y="3333750"/>
            <a:ext cx="4000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56132521-C361-4142-900D-9483119CC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24675" y="3400425"/>
            <a:ext cx="38481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urgent guidance and human-like help can lift ARPMAU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4EBCFBE2-78C3-4F27-852A-8CCF898F57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86200"/>
            <a:ext cx="20002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40F946A1-3D19-4C82-9CEC-02EF3A3488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952875"/>
            <a:ext cx="18478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Replika Android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BDFA53D4-B417-44B6-96CC-390607B63F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3886200"/>
            <a:ext cx="21431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394C0DEB-0807-4F0F-A2F6-09CD8A6142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3952875"/>
            <a:ext cx="19907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$2.36M/mo estimate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99D0A607-D7FE-414F-A9DF-B702266A3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3886200"/>
            <a:ext cx="2190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329603B0-FB69-4F2D-BB32-FDBF6A72A9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33925" y="3952875"/>
            <a:ext cx="2038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99K paying users proxy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3C538221-AE2C-4C06-BDD3-5DA380A37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8475" y="3886200"/>
            <a:ext cx="4000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2DE5F71E-3D91-4DD8-B232-B834844D8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24675" y="3952875"/>
            <a:ext cx="38481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memory, avatar, voice and emotional continuity create paid intent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608F7158-9657-4741-A65C-1FC3FCBDE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5095875"/>
            <a:ext cx="47625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AURA should model base-case like subscription self-discovery, and upside like premium visual/guidance moments.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E8271C1D-5614-41DE-B6BD-454B3D202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305550"/>
            <a:ext cx="8382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777777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777777"/>
                </a:solidFill>
                <a:latin typeface="Aptos"/>
                <a:ea typeface="Aptos"/>
                <a:cs typeface="Aptos"/>
              </a:rPr>
              <a:t>Sources: Sacra, Adapty, Rev.now public estimates. Figures are directional public proxies, not private company P&amp;L.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889E7A6D-9286-436C-AABE-21EA52EDA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836580374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23E3814-7786-4A21-9F9C-9F5EE9798B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133873B-6D60-4296-8BA7-69BFC1AA77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00050"/>
            <a:ext cx="8191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819D346-49DE-4CB0-B0D3-D4E07730AA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52450"/>
            <a:ext cx="3238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960678B-B0A0-4CCA-948A-A7B6ED581D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657225"/>
            <a:ext cx="2667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7B1C6E5-990E-4F03-93F9-A94C43E62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742950"/>
            <a:ext cx="8572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Astrology Unit Economics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65BE0FD-CD0C-4746-AE3C-92A4A4D30A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219200"/>
            <a:ext cx="14763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2417B3C-29F2-41EB-9AE9-AF09C2BAE6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285875"/>
            <a:ext cx="13239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Product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F1D7970-8D13-4EA8-98FC-B7A1376610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0725" y="1219200"/>
            <a:ext cx="1809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C6C0E1C-F5D6-4925-B583-D431744EE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1285875"/>
            <a:ext cx="1657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Revenue / scale signal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EAF2C04-E2BF-42A9-A0A3-CB57DDCD3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0475" y="1219200"/>
            <a:ext cx="35718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1B2980D-BF66-417A-89BF-E54B57F297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6675" y="1285875"/>
            <a:ext cx="34194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Visible economics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46BAA58-B45F-42E4-96CE-EFD3759015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1219200"/>
            <a:ext cx="3333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7F34742-7E08-4375-8AD9-9A117F808E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1285875"/>
            <a:ext cx="3181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AURA implication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4FF267A-6713-408B-AF0D-43EA773C8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14763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2CF2387-01E5-415D-9B5E-ADB14CCDA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743075"/>
            <a:ext cx="13239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Co-Star iOS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4DFB9BD-CF43-45E1-A49D-4567FB0F22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0725" y="1676400"/>
            <a:ext cx="1809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E1FB01D-355A-4DC5-A086-CE2A463B9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1743075"/>
            <a:ext cx="1657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$797.5K/mo; 2.7M MAU; 64K payers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E8BC7BF-3764-4E97-BFA5-707468C430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0475" y="1676400"/>
            <a:ext cx="35718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EFE74DD-FC4F-46BC-8A76-015346A20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6675" y="1743075"/>
            <a:ext cx="34194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ARPMAU ~$0.30; conversion ~2.4%; $8.99/mo + IAP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A432493-A422-460C-AD2C-35FA1BEDBD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1676400"/>
            <a:ext cx="3333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A65F747-EA0E-4E2E-B5E6-22E554719B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1743075"/>
            <a:ext cx="3181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base paid conversion should be 2-3%, not fantasy 8-10%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86CE78B-6616-4936-9329-EC2B2EDBD0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133600"/>
            <a:ext cx="14763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D59B19C-1515-4FE3-94BB-5E224EE8A2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200275"/>
            <a:ext cx="13239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Nebula iOS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D278B81-661B-4036-BDFC-627B9D982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0725" y="2133600"/>
            <a:ext cx="1809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C6DE4C9-1A47-43C6-ABA7-5E17C8C575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2200275"/>
            <a:ext cx="1657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$718K/mo; 2.2M MAU; 52K payers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CCD62CC-F8C1-420A-BD3C-727EE5A84B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0475" y="2133600"/>
            <a:ext cx="35718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1D0FE63-7938-4F39-ACE7-52B9CF7EC4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6675" y="2200275"/>
            <a:ext cx="34194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ARPMAU ~$0.33; conversion ~2.4%; $9.99/mo + weekly IAPs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D78C38C-8635-4313-A824-1FE7C3FDF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2133600"/>
            <a:ext cx="3333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C9DC844-E385-4BBE-A846-81DB46AA7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2200275"/>
            <a:ext cx="3181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personal guidance monetizes, but paywall trust is fragile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73F2C78-FA4D-4A72-B4E1-145073813A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590800"/>
            <a:ext cx="14763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D9BF3D0-16E3-43E9-B60E-59F50E8BB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657475"/>
            <a:ext cx="13239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The Pattern iOS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245AB4F-7521-4629-AB5B-F8EDC3384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0725" y="2590800"/>
            <a:ext cx="1809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53B5B12-7EE2-40FE-B4D8-C0CE2B8C6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2657475"/>
            <a:ext cx="1657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$36.1K/mo; 160K MAU; 4K payers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FC493CAB-5493-427F-A227-01BBB71B57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0475" y="2590800"/>
            <a:ext cx="35718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78764C08-F8D0-4545-89B3-A9CB8894B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6675" y="2657475"/>
            <a:ext cx="34194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ARPMAU ~$0.23; conversion ~2.5%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68DDA311-960A-4D5F-A0EC-BB3F16FC0B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2590800"/>
            <a:ext cx="3333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39495BCD-323E-45BF-8555-B47086DBCF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2657475"/>
            <a:ext cx="3181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relationship/self-insight works, but depth alone does not guarantee scale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58310084-635F-494A-822D-216000A65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048000"/>
            <a:ext cx="14763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560817D3-FC64-4991-87E2-9874B071F5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114675"/>
            <a:ext cx="13239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AstroSage Android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533C3E78-E559-4F51-ADF8-AF7451EB4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0725" y="3048000"/>
            <a:ext cx="1809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DB3876E5-2BEE-40BA-BB85-E7E927DB01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3114675"/>
            <a:ext cx="1657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$547.8K/mo; 2.4M MAU; 34K payers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BD5BC433-9BF9-4E21-BAB1-2122983A5F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0475" y="3048000"/>
            <a:ext cx="35718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31BD502E-62B6-465F-82BC-AE421C781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6675" y="3114675"/>
            <a:ext cx="34194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ARPMAU ~$0.23; conversion ~1.4%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86F91C4A-36E2-458F-8797-BEFC4232B3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3048000"/>
            <a:ext cx="3333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AA605EB7-1F43-4847-B270-0C9087D797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3114675"/>
            <a:ext cx="3181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birth-data utility can bring huge reach with lower conversion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7483223D-2A94-404A-AD50-B5EE1F90D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505200"/>
            <a:ext cx="14763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9696E1D0-826D-4EF9-BECC-27FBF7D62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571875"/>
            <a:ext cx="13239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AstroTime Android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6D4CC885-58FA-4D1A-8AF2-CF006965E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0725" y="3505200"/>
            <a:ext cx="1809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A3477591-B9CF-47E4-90E1-00094AEB9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3571875"/>
            <a:ext cx="1657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$440.8K/mo; 242K MAU; 11K payers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078FFE01-EE71-4B9A-A1BE-02017F639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0475" y="3505200"/>
            <a:ext cx="35718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C3576E8E-7699-44EE-8FED-1955D32C61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6675" y="3571875"/>
            <a:ext cx="34194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ARPMAU ~$1.82; conversion ~4.5%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B5E0FE1D-B34A-49B4-BA5E-B58821C32A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3505200"/>
            <a:ext cx="3333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C02B6A22-2CD8-431D-A0BA-D95AFAC3E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3571875"/>
            <a:ext cx="3181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urgent guidance mechanics can lift conversion and ARPMAU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32350D58-01AA-4800-8E58-0C961632C7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962400"/>
            <a:ext cx="14763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9F4E6373-D2E5-4779-A977-69BAFE577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029075"/>
            <a:ext cx="13239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Astrotalk company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EFFACF24-47F9-45CF-911D-0C9B07574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0725" y="3962400"/>
            <a:ext cx="1809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94678F1A-D11E-452B-851B-C020CD69DB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4029075"/>
            <a:ext cx="1657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Rs 1,214 crore FY25 total revenue reported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BD3A8C3D-18A3-437E-9BA8-1CC04E900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0475" y="3962400"/>
            <a:ext cx="35718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ADFAAF6C-2FA5-4B55-A7B9-04641AC06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6675" y="4029075"/>
            <a:ext cx="34194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consultation marketplace, not pure app subscription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E18FD255-AA3D-4E13-8C31-F749DDDDF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3962400"/>
            <a:ext cx="3333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4F52026F-8B1E-4496-8571-6CDAC065E8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4029075"/>
            <a:ext cx="3181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human/expert layer is upside later, not MVP core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2B8ADBAB-53A1-456A-B4EC-E9F8816722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810250"/>
            <a:ext cx="9429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Source layer: Rev.now estimates and public company/press reports. Directional benchmarks, not audited internal P&amp;L.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66A67CF2-6A3E-4644-9C2B-B6F48B7674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2138579202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34DABFF-8A43-449E-B0BB-8F751AE68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B0C4E9B-3B28-4379-BF86-AD42B636AB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00050"/>
            <a:ext cx="8191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2085BB1-7938-4ED4-8F85-D532E82D7A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52450"/>
            <a:ext cx="3238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7A1F728-E4B5-42D9-AE64-37762948E1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657225"/>
            <a:ext cx="2667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D56723D-FC8A-4816-B7E0-E58FCFB7D4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742950"/>
            <a:ext cx="8572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Mindfulness Unit Economics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B0DE98F-7B85-4F36-89CB-FF066A3ABA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219200"/>
            <a:ext cx="14763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33CC056-4C5C-496A-A681-2B35EF68B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285875"/>
            <a:ext cx="13239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Product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863865C-6245-4CDE-BF33-C7B55AD34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0725" y="1219200"/>
            <a:ext cx="1809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C3E4703-7B76-47D1-9C01-A2633513E9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1285875"/>
            <a:ext cx="1657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Revenue / scale signal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3DCF5CB-CACE-497E-B855-1B58E48B3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0475" y="1219200"/>
            <a:ext cx="35718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6EB7D24-A4B1-494B-8D67-CB8750D0A4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6675" y="1285875"/>
            <a:ext cx="34194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Visible economics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2EC95D0-B079-4F42-BC5F-59BC30ABCF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1219200"/>
            <a:ext cx="3333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51D2143-BEBB-4362-8560-8C997742E6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1285875"/>
            <a:ext cx="3181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AURA implication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57BF1CC-6C3D-4D76-8041-25BC66BC08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14763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8A8BE49-0EFF-4C73-A28E-753BC45B74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743075"/>
            <a:ext cx="13239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Calm brand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31B619F-A11C-4663-BF76-552AD365F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0725" y="1676400"/>
            <a:ext cx="1809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75F1D3E-AE84-4132-9A6D-3A2A230716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1743075"/>
            <a:ext cx="1657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$300M/year proxy; 4M+ paying subscribers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13BABD1-0DDB-4781-8FF6-0391D667CF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0475" y="1676400"/>
            <a:ext cx="35718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4B3D4A7-EFA8-4735-9D36-7684F0AD83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6675" y="1743075"/>
            <a:ext cx="34194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$70/year and $14.99/mo price anchors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BA25AD1-48DF-40F7-8512-F6A9F5C30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1676400"/>
            <a:ext cx="3333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D5D7870-B553-4C6C-BAD9-687F881A58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1743075"/>
            <a:ext cx="3181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annual wellness subscription can be very large when trust and routine exist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BBC3E81-A1C1-4BC5-BA05-294B7570D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133600"/>
            <a:ext cx="14763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30EC905-39E3-4D44-9F42-57F83013E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200275"/>
            <a:ext cx="13239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Calm Android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1B2F39D-F9F8-46CE-86BD-D22C30E3E2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0725" y="2133600"/>
            <a:ext cx="1809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46A2980-0A15-484E-8756-46CF8898C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2200275"/>
            <a:ext cx="1657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$2.35M/mo; 3.6M MAU; 85K payers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C39B5EC-9595-4616-9630-D6707D448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0475" y="2133600"/>
            <a:ext cx="35718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A2A1EDE-EE00-4287-AE7F-88D79DDED5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6675" y="2200275"/>
            <a:ext cx="34194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ARPMAU ~$0.65; conversion ~2.4%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48D586F-E6DC-4303-8FF4-C5180CB88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2133600"/>
            <a:ext cx="3333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35C066B-26CA-4234-BE99-81FD41F20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2200275"/>
            <a:ext cx="3181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wellness can monetize above astrology ARPMAU, but needs retention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848A320-8841-4546-B2DB-300505ED86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590800"/>
            <a:ext cx="14763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E65D7A0-3DB8-4373-8068-3E1C77D089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657475"/>
            <a:ext cx="13239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Headspace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2DBECB5-83D5-41C7-99C8-21D0ADC18D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0725" y="2590800"/>
            <a:ext cx="1809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032098F-611C-45D2-AC0C-644F391AA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2657475"/>
            <a:ext cx="1657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~$200M/year brand proxy; app-store proxy ~$39-40M/year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4FB98DA3-16F0-479F-9BCF-FA0A3954AC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0475" y="2590800"/>
            <a:ext cx="35718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86A18665-C0F5-4B03-93A8-906365FE2C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6675" y="2657475"/>
            <a:ext cx="34194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$12.99/mo price signal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7C95CB60-9E63-4505-BFEC-5F85B70BB4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2590800"/>
            <a:ext cx="3333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EBDFB6F8-44FF-4E5C-892D-CBC3E0F14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2657475"/>
            <a:ext cx="3181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off-store/B2B revenue can understate visible app economics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2EFC1EDA-0DB3-449F-855C-B54EBA7814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048000"/>
            <a:ext cx="14763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163F05BF-3576-40C4-B79D-6E7434FB39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114675"/>
            <a:ext cx="13239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Waking Up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55180FF2-209A-4D7F-89D2-4D456B05CF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0725" y="3048000"/>
            <a:ext cx="1809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7B89130B-F40D-4B09-B4D6-728521B90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3114675"/>
            <a:ext cx="1657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$492.7K/mo iOS leaderboard estimate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770FF520-B65A-4493-B57C-DB82B3B710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0475" y="3048000"/>
            <a:ext cx="35718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D0B5365B-0818-4067-B8F5-F30A4EE93A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6675" y="3114675"/>
            <a:ext cx="34194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$19.99/mo; $129.99/year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254F613F-DCBD-461A-A058-DCADAF5F9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3048000"/>
            <a:ext cx="3333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10DC6250-8BD3-47B5-917E-8FDF3207D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3114675"/>
            <a:ext cx="3181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trusted teacher voice can justify premium pricing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E7EBA948-418E-4B7D-832D-6803767E81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505200"/>
            <a:ext cx="14763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84B8B241-C866-4D0D-99A7-FABF75888C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571875"/>
            <a:ext cx="13239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Balance Android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41CA308C-92AE-4CB5-91E4-F2E0499AD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0725" y="3505200"/>
            <a:ext cx="1809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B532A64F-FF89-4EC8-AD25-21BDC24DEB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3571875"/>
            <a:ext cx="1657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$180K/mo; ~317K MAU; 11K payers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9BBFC88B-FB8B-4516-836A-E6207CDBC3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0475" y="3505200"/>
            <a:ext cx="35718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318E262A-07EF-4FB9-9661-0A5C70D1B8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6675" y="3571875"/>
            <a:ext cx="34194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ARPMAU ~$0.57; conversion ~3.5%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5F845D54-A105-4AE0-AE3B-C325C1220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3505200"/>
            <a:ext cx="3333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8C9A36B7-24A1-4D94-9DF1-1B231C9F80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3571875"/>
            <a:ext cx="3181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personalization can outperform generic meditation libraries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99A3B7BD-B2AB-4534-93CA-0E3F5054F4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962400"/>
            <a:ext cx="14763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3B9BB4FF-1946-49BC-8B0E-B6F3DFB9BC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029075"/>
            <a:ext cx="13239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Meditopia iOS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7185E464-3F0C-4F19-8D4D-4670C1C5E9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0725" y="3962400"/>
            <a:ext cx="1809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6886C331-1B79-4DEE-8914-354EA22C0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4029075"/>
            <a:ext cx="1657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$118.4K/mo; 629K MAU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8E688491-B57D-438B-9B9B-2481EC9C8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0475" y="3962400"/>
            <a:ext cx="35718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8E78AAD7-D47B-4658-BA0C-C6A0D61D9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6675" y="4029075"/>
            <a:ext cx="34194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ARPMAU ~$0.19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E3695835-E93F-49E1-9B6B-E2F7D383D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3962400"/>
            <a:ext cx="3333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85799544-649C-422A-B638-B9B3F1BAE8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4029075"/>
            <a:ext cx="3181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large MAU without strong monetization can still be thin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28A521D7-4520-4FA7-ADAA-6CD087FAA3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810250"/>
            <a:ext cx="9429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AURA should borrow daily ritual and annual plan logic, not build a giant meditation library.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FB155AF8-B3B3-4C22-AFD3-06FFCF87E5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1973192053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CA3AA12-40BA-469C-B6B3-B2C03A1455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DA568CD-27A7-4685-B5E8-D811FE3269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00050"/>
            <a:ext cx="8191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904812D-5F69-4D68-AA16-E5F40C31A2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52450"/>
            <a:ext cx="3238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EC308F1-44A0-48AB-BBF6-7CEB1F6AF5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657225"/>
            <a:ext cx="2667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450ED55-AD95-4C60-BAB2-FCFECBB8A7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742950"/>
            <a:ext cx="8572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AI Companion / Avatar Economics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44D1FD0-6B2E-4058-8680-19775ACB5D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219200"/>
            <a:ext cx="14763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133279F-9B86-40D5-BCBC-A9D02EA97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285875"/>
            <a:ext cx="13239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Product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2D8454B-0AB5-4D46-B1A1-AB8FE1F73E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0725" y="1219200"/>
            <a:ext cx="1809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719413E-56C9-4FDD-859C-0D8C7F0C6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1285875"/>
            <a:ext cx="1657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Revenue / scale signal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1E0709A-1E53-42EF-8044-622F6BAE1C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0475" y="1219200"/>
            <a:ext cx="35718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FACB5D7-527C-46FF-A90A-E99A2CEAC8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6675" y="1285875"/>
            <a:ext cx="34194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What people pay for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369B724-904E-4880-8116-E1BFBC8BB3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1219200"/>
            <a:ext cx="3333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5EA2C65-F834-4788-8C44-42B47013D2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1285875"/>
            <a:ext cx="3181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AURA implication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F569E33-6B10-480B-871B-12E82E18DD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14763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92DAB1B-1640-4B34-B590-689C9632B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743075"/>
            <a:ext cx="13239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Character.AI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C7FBBCD-1494-4959-8B3D-FBEEF781B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0725" y="1676400"/>
            <a:ext cx="1809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5F17EF5-D57A-4262-9B9A-8C7273C46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1743075"/>
            <a:ext cx="1657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$30M-$32M ARR proxy; c.ai+ $9.99/mo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BB7CC9B-15E0-42FE-AEAA-579E165820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0475" y="1676400"/>
            <a:ext cx="35718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E06C45E-F621-488F-AFF2-4CDA87F8F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6675" y="1743075"/>
            <a:ext cx="34194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priority, memory, engagement, chat volume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154E682-61D1-493B-A9A8-D2F481B4B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1676400"/>
            <a:ext cx="3333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AB8C215-C013-4B85-8E79-A0C13DC221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1743075"/>
            <a:ext cx="3181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AI can monetize engagement, but inference cost and safety dominate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0FBF07A-5F38-4CC2-846F-C5F645C00E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133600"/>
            <a:ext cx="14763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FD26E66-F397-4D34-9E6F-0DD26E8E28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200275"/>
            <a:ext cx="13239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Replika Android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083DAF8-1920-4539-940F-CD9FBABC3C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0725" y="2133600"/>
            <a:ext cx="1809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9C7EE10-331F-4889-A8F8-C032BC834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2200275"/>
            <a:ext cx="1657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$2.36M/mo estimate; 99K payers proxy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E6C64FE-EF00-4E20-AD0B-9F601AD02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0475" y="2133600"/>
            <a:ext cx="35718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CE78A9C-4938-401D-AF8C-D2BEDCB845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6675" y="2200275"/>
            <a:ext cx="34194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AI companion, avatar, memory, voice/video features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06025D4-4087-43E1-81D9-298C776580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2133600"/>
            <a:ext cx="3333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66E6B56-CBC1-49A9-84C8-CE98521EBF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2200275"/>
            <a:ext cx="3181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users pay for emotional continuity, not raw text chat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34DD2AB-7468-4D82-BFD4-B7C995C1A7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590800"/>
            <a:ext cx="14763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A5DE3EB-98E3-4962-ACB1-BC10350D5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657475"/>
            <a:ext cx="13239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Finch iOS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B2238B2-B740-4B60-9D3E-F3AE6F3B14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0725" y="2590800"/>
            <a:ext cx="1809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DA6D11C-5AD3-4D07-9D66-5C47C45AF2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2657475"/>
            <a:ext cx="1657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$1.5M-$2.0M/mo public estimate range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FFB33C1B-8523-4BCA-83EA-DECB8DF85F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0475" y="2590800"/>
            <a:ext cx="35718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E8B9553C-4954-4EE6-AEEA-827FD57C3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6675" y="2657475"/>
            <a:ext cx="34194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self-care pet, soft progression, daily loop, Plus features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4C4966FE-8356-4BF3-82AD-7CF08CCF5D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2590800"/>
            <a:ext cx="3333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5EF17F0A-F5F1-45A7-BA5D-5D806FCA4D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2657475"/>
            <a:ext cx="3181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daily companion mechanics can monetize without scary “therapy” positioning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DF396B0E-169A-40A4-A47C-DB9E2A701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048000"/>
            <a:ext cx="14763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FE1BCDC1-B5C6-4493-A18A-F3C02011C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114675"/>
            <a:ext cx="13239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HeyGen / D-ID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867587CB-3580-4DC4-97B0-9A8E710D92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0725" y="3048000"/>
            <a:ext cx="1809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3A5DA316-5F30-4FB6-9D52-4AED570280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3114675"/>
            <a:ext cx="1657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API pricing proves avatar video is paid compute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715AEF80-9AF4-42C0-91ED-3544EDE410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0475" y="3048000"/>
            <a:ext cx="35718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B8479FD5-0D97-4617-8E31-FB5129398F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6675" y="3114675"/>
            <a:ext cx="34194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$0.05-$0.0667/sec or plan/credit based pricing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C9637333-7451-48B3-9C4A-3272A96FF7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3048000"/>
            <a:ext cx="3333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A89DD744-AF07-41F3-BB45-6F4FB02798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3114675"/>
            <a:ext cx="3181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talking avatar is a premium event, not free habit content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E207406E-3AFE-4395-AA05-7443565177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505200"/>
            <a:ext cx="14763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08106E59-F7B1-415B-890C-10E2E38080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571875"/>
            <a:ext cx="13239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AURA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3C564A18-58B9-4879-B5F0-269D122D8A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0725" y="3505200"/>
            <a:ext cx="1809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E97F3D0C-68B2-47F2-ABD9-420FD19769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3571875"/>
            <a:ext cx="1657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$9.99-$14.99/mo + tokens target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5255B495-F197-48F1-9DB9-374859CFF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0475" y="3505200"/>
            <a:ext cx="35718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BFCD1C7A-1C6B-47DC-967E-9E05E0B5EE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6675" y="3571875"/>
            <a:ext cx="34194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season, assistant memory, Life Canvas, rare video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C0B4DCDD-F520-49B5-B51C-00663B6A15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3505200"/>
            <a:ext cx="3333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47BD3E4F-0C6A-4071-909A-A26EC0F830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3571875"/>
            <a:ext cx="3181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must be a cost-controlled AI product under a premium visual wrapper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7CCA2766-E368-46CC-AF2E-79928A4E6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810250"/>
            <a:ext cx="9429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The avatar is not decoration. It has to show the user why the week changed.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54FE4217-237F-4759-A903-E412BD41AF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1061372010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F1B27A5-EB5D-49F4-A77F-D42B46689D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CC29B1A-4F39-484D-BD18-BF12CCFFA9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00050"/>
            <a:ext cx="8191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D0C5379-6FE4-47DC-AA82-BAEE11AC5B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52450"/>
            <a:ext cx="3238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E2C49C2-4575-40A1-B56B-6A17B46F03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657225"/>
            <a:ext cx="2667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552CC5C-8609-474B-B6E5-80B614790A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742950"/>
            <a:ext cx="8572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What People Actually Pay For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B5123AD-80FF-4231-A9AF-1F608F70B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3443BF5-05BD-4622-9C49-C3053AC992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7430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Paid object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206C84F-6290-4A6D-BB22-C21BF0D0D0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16764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EFA413F-21B4-4885-856A-8090AC5FB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17430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Seen in competitors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F64A491-0D70-4C40-A8EC-4A64A5F322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16764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B07F486-AED3-4A4A-9F10-6D4FF082F7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17430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Why users pay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8E5577D-6870-4F01-B686-1CE73B59E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16764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FCEA3D1-D054-42D5-AC22-A82A18854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17430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AURA equivalent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6B0658F-75D2-4096-89EE-D4205603A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3622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71142FE-E9F5-497A-BDF6-1DE2219503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4288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Monthly subscription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1FBCD32-E4BA-4C76-9BD2-9FD0127447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23622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EDAAD71-80F6-4E53-963C-B67E82767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24288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Co-Star, Nebula, CHANI, Calm, Balance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A681398-A130-4101-895E-D9635E70A9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23622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BC133A0-D705-49C7-8466-81C21103F9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24288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regular personal value and lower friction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2153147-3996-4196-BAD2-3527CB07EF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23622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F260CD6-A4B3-4A4B-818C-5056A2A6C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24288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AURA Plus: weekly season + memory + Life Canvas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A53A808-AE71-4B65-945D-43F94775D4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0480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7247E65-F9FB-43C0-A93A-E5A3969708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1146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Annual subscription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ACBB4F3-AA31-4BBB-9CCB-4B737BA40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30480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25311BD-5310-4FE6-8A92-DEA3BA31C6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31146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Calm, Headspace, Waking Up, CHANI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E7C78D0-2787-46CA-93E0-26D8492C0D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30480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8F065E3-D638-469F-A1BF-693CC3F2F1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31146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commitment and cashflow when trust is formed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484121E-E4B3-4189-A69E-C95691630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30480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43B3DBA-9423-4579-9FF5-66E8AA3F2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31146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$69-$89 annual after first completed week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8F6C8B9-F8C8-4CAE-9803-C0425BA70C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7338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966F467-1ADB-45C6-825D-DEE6C085F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8004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Compatibility / relationship report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B8317FAB-A28D-4379-B80D-EE5110C593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37338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2CD165BB-AD92-4F4B-B10A-FBF83AB696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38004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Co-Star, The Pattern, Nebula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FD0CFCE-7F6E-45BF-9287-8463A2BF40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37338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2F74CEE9-BD2C-4714-A1E9-928D1DEBE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38004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emotionally high-stakes personal insight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10139B88-F115-4913-B6C3-455B787884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37338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C3AA6546-015B-4F06-88FF-0452C1C6DA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38004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relationship / future-self special episode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B3292822-8CC5-4F58-AFEE-2EB97E72C2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4196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5B13D0B2-4913-4F7D-9E94-7941362A8D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4862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Live or urgent guidance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ADD74969-D6F8-424A-A12F-7FB71DC76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44196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55C4F2B4-7AFA-440D-A3F8-0E72AA816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44862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Astrotalk, AstroTime, Astroyogi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E52B17B3-85EE-4413-A668-6DC0140283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44196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0118F0A0-CAD7-47A7-A7ED-84458FDF1A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44862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anxiety moment: “answer me now”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81F70367-2094-4268-B9E6-650E0D821E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44196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6FF6E9CD-B682-4803-B196-6529C3B94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44862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AI assistant first; human/creator layer later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5843B3BE-41B0-47EB-B885-5F75D8BC9F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1054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57B4330F-2015-47A8-8127-13F5562A0E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1720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Special visual asset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5B7C5A51-67AA-4363-B3D7-B9393A6A20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51054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36CC20B5-B84B-4A76-BA2A-702CE896F8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51720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soulmate sketch, aura reading, avatar/video tools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811CFC27-475C-4AC5-A7D9-2C501DCDDB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51054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D54842A9-EBE5-44AA-85B6-151358440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51720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ownable image of self/future/period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2212503D-6577-4543-9F2B-1B4F2CA11A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51054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9BCA1615-905F-4C68-BCB3-7838247486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51720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Life Canvas trailer or future-self video token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5528FE2D-CF33-4CE1-815F-863D953B18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2120982888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15D31BB-B75C-4905-9BC0-D91221452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171C967-414D-4E9F-AF50-43D5CC4EA6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00050"/>
            <a:ext cx="8191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B0E8F01-BA2E-4AA9-B9B4-2F305D5A3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52450"/>
            <a:ext cx="3238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8DB66E0-66B2-44F1-8BC8-3792C05630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657225"/>
            <a:ext cx="2667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22448DA-BA51-436D-B148-0E4E144BA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742950"/>
            <a:ext cx="8572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Pricing Decision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B3AA611-C6F9-4593-A1B6-611452C8BF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428750"/>
            <a:ext cx="1809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E05F7CA-7843-44C4-B50D-73E2C654DF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495425"/>
            <a:ext cx="1657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Plan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52526E4-EA4B-4DE0-BBEB-1AD09AE9B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1428750"/>
            <a:ext cx="1524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207F5D5-3A9A-41CB-BC25-B6A4E219A0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1495425"/>
            <a:ext cx="13716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Price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91C7552-E36B-4188-8275-08E34943B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1428750"/>
            <a:ext cx="37623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81B3431-745A-4839-83D8-2FB80CD61A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1495425"/>
            <a:ext cx="360997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Included generation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5C7F0DC-8C55-4CA4-86B4-B267851393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10475" y="1428750"/>
            <a:ext cx="30956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B1C388F-B3D1-46B6-BCD7-342D6F29F2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6675" y="1495425"/>
            <a:ext cx="29432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Target margin logic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04902FA-4878-4EB3-836C-F2F40C8655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81200"/>
            <a:ext cx="1809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9AB88C1-56A6-42CA-BF60-25EC0379A9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047875"/>
            <a:ext cx="1657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Free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102E547-C97A-4B62-9559-7976A2AB87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1981200"/>
            <a:ext cx="1524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DF2AB21-D9D4-46FD-BB37-36A0C9B37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2047875"/>
            <a:ext cx="13716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$0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79C979D-983D-4653-887A-8226BA4A7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1981200"/>
            <a:ext cx="37623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09D0AC5-D778-4F3A-AA65-CE6ADDE80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2047875"/>
            <a:ext cx="360997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first forecast + Day 1 loop + one medium Life Canvas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5215EF2-F174-4185-B275-8A3E6B7A9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10475" y="1981200"/>
            <a:ext cx="30956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54D78D6-280D-4750-8D81-DDED31212A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6675" y="2047875"/>
            <a:ext cx="29432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COGS target &lt;$0.20; goal is activation, not generosity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5B7B95C-5C13-4615-A5D9-C5E1943A30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533650"/>
            <a:ext cx="1809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4AA717F-E867-4964-B19E-AAED7AC25A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600325"/>
            <a:ext cx="1657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Plus monthly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3BE62E1-150E-485F-A2C4-9321162D05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2533650"/>
            <a:ext cx="1524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4C9A38B-A2CA-4583-945A-AA559C1B13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2600325"/>
            <a:ext cx="13716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$9.99-$14.99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1FD7E68-BF68-4149-B18D-FC987DDA99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2533650"/>
            <a:ext cx="37623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C367F34-ED33-4D55-B535-8E0B77CD7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2600325"/>
            <a:ext cx="360997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daily text loop, memory, weekly recap, 2-4 images/mo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0D1F457-4693-4692-8927-87ADB7FC12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10475" y="2533650"/>
            <a:ext cx="30956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C5AD047-BFA0-4259-AD7C-036399B545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6675" y="2600325"/>
            <a:ext cx="29432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net after app fee ~$8.49-$12.74; COGS target &lt;$1.50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5FE91E1-8BB3-4832-A41B-EF1AF342A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086100"/>
            <a:ext cx="1809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E0A1D81-B442-41AE-B258-CA9A9A665F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152775"/>
            <a:ext cx="1657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Plus annual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AC293B3-CA24-4A9A-A3E3-5F89E2EED7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3086100"/>
            <a:ext cx="1524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89923F5-B0E0-486A-9E45-EAC75F0C1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3152775"/>
            <a:ext cx="13716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$69-$89/year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D31D6204-59DC-4C37-84C9-FC2483FDCC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3086100"/>
            <a:ext cx="37623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612DB04E-2A65-4BCA-95D4-C07B2984E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3152775"/>
            <a:ext cx="360997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same loop + annual season framing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3D54852E-0457-4103-AD77-9AC0B358BC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10475" y="3086100"/>
            <a:ext cx="30956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9ADB1C02-FC83-4A85-9C9E-A8FBDC6ED3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6675" y="3152775"/>
            <a:ext cx="29432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cashflow and lower churn pressure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16BEEA67-49CD-477B-80CA-CB0C44FA3E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638550"/>
            <a:ext cx="1809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E1AD2779-7345-4E24-921B-142B07E6F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705225"/>
            <a:ext cx="1657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Low video token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B586B287-D23B-4D95-8EEC-97EED30F3B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3638550"/>
            <a:ext cx="1524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CE7CD492-7BEB-4EC7-B4A6-E80C6A87C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3705225"/>
            <a:ext cx="13716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$2.99-$4.99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F2C8E838-D725-490F-A5ED-AA7DFA44CC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3638550"/>
            <a:ext cx="37623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6AD8EC4C-4BFC-4D5E-A6B8-6ACEA2F462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3705225"/>
            <a:ext cx="360997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Runway/Luma-class 5-8 sec visual moment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B90319E8-4791-4564-9007-98FB71B1FF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10475" y="3638550"/>
            <a:ext cx="30956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EC9DF32E-EA15-4847-BC00-615DDB1E9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6675" y="3705225"/>
            <a:ext cx="29432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works if COGS &lt;$1 and retries are capped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5EB0C803-6485-49BF-A57C-AD58D353C3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191000"/>
            <a:ext cx="1809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F40BBB96-C251-44D1-88A4-D1718D551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257675"/>
            <a:ext cx="1657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Premium video token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6EB1E43B-2EEB-4D0B-BC1A-A9F243F1C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4191000"/>
            <a:ext cx="1524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F864AF30-A2C8-4D24-8DD4-9A5873FCC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4257675"/>
            <a:ext cx="13716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$6.99-$9.99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7658B683-F61A-4BB1-8061-6FAEDCFEAB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4191000"/>
            <a:ext cx="37623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DCB2CDF4-67E6-4F8B-981A-5458B0637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4257675"/>
            <a:ext cx="360997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Veo/Replicate/HeyGen high-quality moment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474C0E9C-238E-47A1-BCA3-C75F9DC340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10475" y="4191000"/>
            <a:ext cx="30956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AFFBE3F7-2BAC-42FB-867E-603F3F5CCD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6675" y="4257675"/>
            <a:ext cx="29432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needed when COGS is $2-$4+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F3C4E0ED-2849-4BD2-9297-A2DBCDF036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743450"/>
            <a:ext cx="1809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A75A0ACC-E6D1-401C-A13F-6038BE3370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810125"/>
            <a:ext cx="1657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Creator season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F359EC94-770E-438B-B203-DE6F4147D9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4743450"/>
            <a:ext cx="1524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B9F4D625-0649-4307-8D96-DC9D5A7144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4810125"/>
            <a:ext cx="13716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$14.99-$29.99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D6AD0C07-8BF5-42FC-87F3-EAA5C6E6C1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4743450"/>
            <a:ext cx="37623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311E2C11-C5A5-44DB-B6B0-7A8E29174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4810125"/>
            <a:ext cx="360997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limited guided pack / custom assistant style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58A31519-86C9-4BFB-B893-2F11FA36BE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10475" y="4743450"/>
            <a:ext cx="30956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4DC2E247-C398-43E1-A73B-80E0337593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6675" y="4810125"/>
            <a:ext cx="29432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monetizes content leverage, not only compute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290BDD38-AB24-43DF-AC1A-2F50D6DC40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5810250"/>
            <a:ext cx="82867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FD4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47422F65-9920-42AB-8701-2A79DF579A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905500"/>
            <a:ext cx="7905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AURA should not sell unlimited AI. It sells season, memory, causality and rare premium visual events.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6A8126AE-CFEE-4F9F-A00D-CDC8C62D44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909802153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5B95E44-BD42-4C77-860F-797D078D82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8F33398-98EC-41B4-AFE3-8B4934CA67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00050"/>
            <a:ext cx="8191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3081E79-6A54-4310-8A04-D1DC2673A3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52450"/>
            <a:ext cx="3238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1CF78E6-0B7E-4DAC-8416-56B80074D4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657225"/>
            <a:ext cx="2667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0CF3DF7-EF87-4798-A2E0-548E11D79D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742950"/>
            <a:ext cx="8572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Conversion / ARPMAU Assumptions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EBBF10E-E741-4781-9CA9-1EEC85D5B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714500"/>
            <a:ext cx="2286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850635D-7691-4765-8249-EAF955E88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781175"/>
            <a:ext cx="2133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Metric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1796F9F-C6D4-4EBC-8222-F7B02F2BBE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171450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BBBC96E-4EB9-48BA-8A3A-8A58633A33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178117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Conservative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1988AEB-3FB1-4D9A-B8F2-CA158FD35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171450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DB8F691-EAB1-4B30-9E5C-A4D324E756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178117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Base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38651D1-1C83-41D6-8F5B-7A8665486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171450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E3B9116-B5B3-4ACC-B5C3-D93A99C46E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178117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Strong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954D8D8-911A-4CEA-8938-E3402FB95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90750"/>
            <a:ext cx="2286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8FA494E-9C1D-4F90-B599-AC5C9CF4A4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257425"/>
            <a:ext cx="2133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Paid conversion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A287259-4FD3-49CB-884C-8EAEF9E60D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219075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F72A01D-15FA-4195-A4D5-673D7C5C9B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225742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1.5%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11B9110-0D70-444E-B918-6628587DA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219075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373A253-10A9-4517-9794-6A61D564F5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225742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2.5-3.0%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EAEE4CE-ACAE-4067-A40F-24F02B8F0B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19075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28E0934-4096-47FF-8CB3-D0388851AE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25742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4.0-5.0%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BEB9D1D-8BF7-46CB-BE1C-735A8CC542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667000"/>
            <a:ext cx="2286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D2C25AC-95B4-4AD0-9983-3D7B94C6F7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733675"/>
            <a:ext cx="2133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Monthly ARPMAU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E2C8A62-6C4D-4E28-8588-6224999CC8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266700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AC817BA-4A55-4EFE-A265-11DFE7D47F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273367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$0.20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3820479-4614-473D-9143-0B75F33102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266700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4851E72-75B2-43D9-BBF9-8B08EBF41E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273367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$0.35-$0.50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BE2A10E-2841-4700-BC50-81254FE0D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66700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AB314C7-5939-4981-8204-BC48FEF8D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73367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$0.80-$1.50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57AAF84-5C1C-469D-918B-6BC02D543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143250"/>
            <a:ext cx="2286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A2CFC7B-7EF0-4AB0-A1F4-828BEE1B0E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209925"/>
            <a:ext cx="2133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Monthly price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DC38BE8-AC2A-4734-83E6-B62F57FAAC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314325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406B5A6D-D565-4B18-A33E-72C79D4447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320992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$7.99-$9.99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7ED221F-2D2E-4DAB-A891-5C18670AC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314325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38D59E48-6617-4742-A086-B0E46A778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320992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$9.99-$14.99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3A062AC4-9DE7-4B56-9A03-318180CB0D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314325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0FD81697-48CF-44D7-8E4B-1A87AC7B3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320992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$14.99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A060D4A9-3306-4851-814F-E85B79B32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19500"/>
            <a:ext cx="2286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34409275-A2CA-44CF-8C08-9FC5064F04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686175"/>
            <a:ext cx="2133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Token buyer share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1D6FB3C7-3FC2-4CEB-B06D-80BA8D2AA5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361950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3C3747C6-BD97-48A2-A52F-0679853267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368617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3%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873710FD-DD6F-49EC-B91B-BB434FD062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361950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3F417AD4-928F-48E1-8FC9-E50BE06C64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368617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8-12%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61CCDFC1-CB68-4292-A525-08F6C5E900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361950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7D5E7C28-4EA3-4F5F-A0E3-E171A652B7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368617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15-20%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DE35CA0A-778F-4BFD-B8EC-E8C79AF306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095750"/>
            <a:ext cx="2286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A43B2EC0-E463-4BFA-9FD6-2424E8BF2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162425"/>
            <a:ext cx="2133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CAC payer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4F7C0F72-EEC7-43BF-A8ED-04FEFA42DF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409575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F614F9E7-3AD9-44A4-8B96-155BE004DE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416242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$300-$800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CEE986D6-DC4F-44BF-B6A8-A8865584E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409575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B6C4D68E-F70A-4AF8-B821-62D549B42B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416242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$100-$250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FEDB09B0-3EE5-4B9B-B690-4B59FC26C8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409575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EDA28784-D382-46AB-835A-92C195E2F5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416242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$30-$100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EB625F2C-3DD5-447F-961F-92A26CBBA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572000"/>
            <a:ext cx="2286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E301717C-6B64-4EFE-9E96-91F5ADB46A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638675"/>
            <a:ext cx="2133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Verdict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1F60EA51-E93B-4715-96D3-1C84E7B80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457200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7463B5DD-18C0-4387-820B-03FC6C10FE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463867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content app risk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ABF0903D-D808-46F8-A9C6-F2E1F2AAC6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457200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062AE275-9A4E-4FB2-A106-00CCCA4AE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463867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works if causality is understood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8577277C-37F0-4B3E-AFBF-C88FA0B4DA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457200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99FF179D-7C8A-45EF-895F-5A5C457555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463867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works only with high-intent moments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BB952EC4-0118-4596-9ACD-1887A83872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286375"/>
            <a:ext cx="89535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These assumptions are derived from competitor estimates: Co-Star, Nebula, The Pattern, AstroSage, AstroTime, Calm and Balance.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95AD9BEC-F6C0-45A0-877F-13411D5C4E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305550"/>
            <a:ext cx="8382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777777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777777"/>
                </a:solidFill>
                <a:latin typeface="Aptos"/>
                <a:ea typeface="Aptos"/>
                <a:cs typeface="Aptos"/>
              </a:rPr>
              <a:t>Assumptions: $10-14 ARPPU, image-first cost control, premium video gated. Needs recalculation after prototype telemetry.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4F110551-90FD-49F6-9CED-8C9D8106B5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17</a:t>
            </a:r>
          </a:p>
        </p:txBody>
      </p:sp>
    </p:spTree>
    <p:extLst>
      <p:ext uri="{BB962C8B-B14F-4D97-AF65-F5344CB8AC3E}">
        <p14:creationId xmlns:p14="http://schemas.microsoft.com/office/powerpoint/2010/main" val="1370576998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158EA7A-6A8C-4F36-8A7E-1AC63A2844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EE7CA2B-0C10-4639-A10C-CE8FAA4511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00050"/>
            <a:ext cx="8191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91FA4FB-2C3F-4C9E-BCB3-E906261DD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52450"/>
            <a:ext cx="3238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1DBA1A9-A255-42FD-859A-284192AD89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657225"/>
            <a:ext cx="2667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34741C5-C654-454A-B67B-6BF813031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742950"/>
            <a:ext cx="8572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Generation Cost Benchmarks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2EFBA42-C9F8-45E8-9507-C0BA9BC1A0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428750"/>
            <a:ext cx="147637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DAFC755-250A-452F-B0AA-3993FA64E6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495425"/>
            <a:ext cx="132397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Layer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3D301A0-B803-430E-B8EA-835CB4AFE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0725" y="1428750"/>
            <a:ext cx="23336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B7CE864-E73D-40B2-A044-6A58927529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1495425"/>
            <a:ext cx="21812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Provider / model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F5B5E59-01DE-43AD-91A1-8CF001A3DA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1428750"/>
            <a:ext cx="2952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66BEA7E-23DD-4727-B596-DB923865C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1495425"/>
            <a:ext cx="28003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Public price signal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98BFD15-306E-411F-9463-7E430C76DF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1428750"/>
            <a:ext cx="3429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64ECEED-FB7E-44F0-9211-A42EEB7ED4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1495425"/>
            <a:ext cx="32766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AURA implication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EEC1E7D-FA4D-4AF2-8B54-D8804372F8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43100"/>
            <a:ext cx="147637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8CA951B-3081-4826-ACC5-B153AEDD0D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009775"/>
            <a:ext cx="132397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LLM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33A156A-40BE-4ED8-A1C0-7DB16CC36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0725" y="1943100"/>
            <a:ext cx="23336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35B666B-72C6-4F41-95CF-CA5CDD02E6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2009775"/>
            <a:ext cx="21812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OpenAI GPT-4.1 mini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227B005-6CBF-4CD3-A8E5-E83176806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1943100"/>
            <a:ext cx="2952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6E064C2-5378-4621-856C-47F5D216DA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2009775"/>
            <a:ext cx="28003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$0.40 / 1M input tokens; $1.60 / 1M output tokens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25DF58C-A409-400F-8C1B-A87F472947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1943100"/>
            <a:ext cx="3429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90CF46B-EA74-4220-9B3F-45615E2038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2009775"/>
            <a:ext cx="32766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daily text loop is cheap if prompts are structured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F52BB81-8383-4DD0-907B-A3FBC29F64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457450"/>
            <a:ext cx="147637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B28F7A6-4349-4740-AE8A-1EF4E136C8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524125"/>
            <a:ext cx="132397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Image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B14F3D8-DF8F-4994-9291-BCC16B843B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0725" y="2457450"/>
            <a:ext cx="23336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4CCD5A3-26B3-497E-909D-CC8CE7DF4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2524125"/>
            <a:ext cx="21812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OpenAI Images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DEB3EFA-301D-4332-AE19-000E8CA730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2457450"/>
            <a:ext cx="2952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89153C3-16D9-4DA6-B526-7BF6F92BC5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2524125"/>
            <a:ext cx="28003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~$0.01 low / $0.04 medium / $0.17 high per square image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5796C77-5EAC-48C9-AEF3-39EB217222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2457450"/>
            <a:ext cx="3429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E436766-5F7C-495C-B8BD-020C84731A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2524125"/>
            <a:ext cx="32766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Life Canvas can be included if image count is capped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68EA84A-4342-4BF3-AF0A-7877E40BC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971800"/>
            <a:ext cx="147637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98B4209-DA5B-4D45-A441-DDDBF5333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038475"/>
            <a:ext cx="132397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Cinematic video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5DD5ABE-3DB1-4AD9-80BD-27D55567BC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0725" y="2971800"/>
            <a:ext cx="23336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7DEAFC9-4D92-40D1-B705-581DABD1E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3038475"/>
            <a:ext cx="21812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Google Veo 2 / Vertex AI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8782715-E547-456A-A412-5AA610BEC8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2971800"/>
            <a:ext cx="2952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927B87CA-CD13-4FB3-B961-898823118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3038475"/>
            <a:ext cx="28003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~$0.50 per generated second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27BF3F0D-904B-4488-B0DB-3BFF402A7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2971800"/>
            <a:ext cx="3429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01887CEA-52F6-441F-B6CE-F9BCA98D06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3038475"/>
            <a:ext cx="32766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8 sec ~= $4.00; cannot be free daily content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15C5F642-CED9-4920-9DB0-0D89987F1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486150"/>
            <a:ext cx="147637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3F3BF86B-C0CD-4128-B3A4-CFC83841D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552825"/>
            <a:ext cx="132397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Cinematic video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B6F70115-6E9C-4191-8A86-FC9068CCC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0725" y="3486150"/>
            <a:ext cx="23336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A2495268-CEDE-4656-BC7B-BB81F00ACE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3552825"/>
            <a:ext cx="21812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Runway API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8575CA17-61CB-4275-BB34-4DCA3046F4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3486150"/>
            <a:ext cx="2952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4AF303F1-4DB4-4FAC-9AFF-D349F7088A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3552825"/>
            <a:ext cx="28003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$0.25 per 5 sec API example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F25FADDA-45AC-4C4F-99CB-316AC76C45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3486150"/>
            <a:ext cx="3429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70224C12-B2CD-4EA9-A77A-2DD844693C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3552825"/>
            <a:ext cx="32766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8 sec ~= $0.40; viable for tests, still needs retry budget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433CBBEC-F6DA-469C-AEAE-0DBCE83945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000500"/>
            <a:ext cx="147637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9D63D5B3-DB49-472B-9E2A-196F921A8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067175"/>
            <a:ext cx="132397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Video model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701D7878-5F24-48C2-A56D-429D2F794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0725" y="4000500"/>
            <a:ext cx="23336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16240E39-3593-48D0-8CAF-0E8D14116E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4067175"/>
            <a:ext cx="21812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Replicate Wan 2.1 720p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2095F11A-1CAB-4631-95CE-BCA8077E02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4000500"/>
            <a:ext cx="2952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7D88F8BA-ECFD-43AE-8CD1-6442C2108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4067175"/>
            <a:ext cx="28003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$0.24 per output second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2E518531-21EB-485D-9536-F27EA1658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4000500"/>
            <a:ext cx="3429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8D34AA54-3E06-4096-BB67-E0A70E9D46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4067175"/>
            <a:ext cx="32766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8 sec ~= $1.92; better as paid token / milestone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0BDC710D-86AA-4AE7-B65F-4F51465A4B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514850"/>
            <a:ext cx="147637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86725CC8-0E79-4A76-901F-88373A7B8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581525"/>
            <a:ext cx="132397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Talking avatar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3F3F277B-00B6-4D30-BC56-B268940A97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0725" y="4514850"/>
            <a:ext cx="23336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B4F90283-80A9-499C-A3AA-39CC729178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4581525"/>
            <a:ext cx="21812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HeyGen API Avatar IV/V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EE58CB46-450F-4005-B1F5-89CF2FF3A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4514850"/>
            <a:ext cx="2952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6B4BDA74-776C-4D44-A3A7-2F90509042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4581525"/>
            <a:ext cx="28003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$0.05/sec photo avatar; $0.0667/sec digital twin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C9299BDA-D7A9-41E8-AD0D-0828A0EAD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4514850"/>
            <a:ext cx="3429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DF966E51-6B66-47E1-96AD-20C0B094A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4581525"/>
            <a:ext cx="32766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30 sec ~= $1.50-$2.00; not a default daily loop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0F96DC6A-AE67-42DF-AB8C-BD1D376E00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029200"/>
            <a:ext cx="147637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795B5FAE-098B-4917-BAF3-7FF9C69B63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095875"/>
            <a:ext cx="132397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Avatar API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FB2F4AE7-17B0-4A44-A454-946C8FDE8B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0725" y="5029200"/>
            <a:ext cx="23336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AD490946-986D-44BB-959C-2AE31C7A0F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5095875"/>
            <a:ext cx="21812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D-ID Build plan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07DBAE09-BCC4-4C34-B074-690BE27A7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5029200"/>
            <a:ext cx="2952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4949C25A-16FF-4FD3-9925-01C79390A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5095875"/>
            <a:ext cx="28003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$14.4/mo annual plan; up to 16 offline video min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5389450C-78D4-44BD-911E-2F9CB2344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5029200"/>
            <a:ext cx="3429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F22D9A7E-A76B-44D9-AA26-D95B8EE6E4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5095875"/>
            <a:ext cx="32766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~$0.90/min plan math, but limits/watermark/credits matter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EA6193F8-173E-4A81-9B8B-4F84766950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810250"/>
            <a:ext cx="9429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All prices are public API/pricing-page signals as of June 2026; exact billing must be rechecked before procurement.</a:t>
            </a:r>
          </a:p>
        </p:txBody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297124F3-1F6B-4438-AB58-7A4937018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305550"/>
            <a:ext cx="8382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777777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777777"/>
                </a:solidFill>
                <a:latin typeface="Aptos"/>
                <a:ea typeface="Aptos"/>
                <a:cs typeface="Aptos"/>
              </a:rPr>
              <a:t>Sources: OpenAI, Google Vertex AI, Runway, Replicate, HeyGen, D-ID, Luma public pricing pages.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3A20D86C-1A3A-49A8-AB82-5917D5AFE4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1349506927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3CF8132-A31F-4FB9-83E1-C172616EC9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8D9C2A2-5806-4B71-8F06-68907BB231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00050"/>
            <a:ext cx="8191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D1F206B-D365-496B-95AB-6C2BF3283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52450"/>
            <a:ext cx="3238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936A866-76D8-43E3-81E9-FDC6AFF9E7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657225"/>
            <a:ext cx="2667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B004859-AD94-4B98-B520-0922DCFB2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742950"/>
            <a:ext cx="8572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Cost Per User / Month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CCEC26F-84C3-4E91-8E86-23FEC582A5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466850"/>
            <a:ext cx="1809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DB25A94-9676-4783-9BA8-053C2B0974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533525"/>
            <a:ext cx="1657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User type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E2DCBD0-60C6-45F3-B1FF-83A6A59649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1466850"/>
            <a:ext cx="32861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932EA50-A9A5-400C-9C67-31706BFB79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1533525"/>
            <a:ext cx="31337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Usage assumption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27B8183-0535-4547-90DA-28A110E0BA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0225" y="1466850"/>
            <a:ext cx="20478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B605D32-979A-437B-963A-C8732B744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86425" y="1533525"/>
            <a:ext cx="189547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Variable AI cost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8E4CFCC-6E62-4B66-AD8D-9150C725FF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1466850"/>
            <a:ext cx="3048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3368005-493C-4F96-9DC6-416283CF9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1533525"/>
            <a:ext cx="28956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Business meaning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2276D38-7AC5-4D73-B0C6-E216A0221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019300"/>
            <a:ext cx="1809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CC27BDF-8212-43F3-91F1-BC1785545D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085975"/>
            <a:ext cx="1657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Free active user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2BB9D5F-6568-45C6-AF19-56CD26C78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2019300"/>
            <a:ext cx="32861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C74E9CB-1F81-4C1B-8859-9925D8045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2085975"/>
            <a:ext cx="31337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8 text loops + 1 medium image + no video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0A658E4-253B-4925-8742-66983573B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0225" y="2019300"/>
            <a:ext cx="20478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6F9E208-7F12-499F-A844-9BFF465FE7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86425" y="2085975"/>
            <a:ext cx="189547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$0.10-$0.20 / MAU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4E9A119-FC84-4780-B19A-FC50A03BCF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2019300"/>
            <a:ext cx="3048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DA01003-C386-43F0-A8D4-47ECA8CD24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2085975"/>
            <a:ext cx="28956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safe if onboarding is capped and no free video exists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EA728A3-5FB0-43AA-89EC-E49A147015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571750"/>
            <a:ext cx="1809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73DC74D-D1AF-4AD9-8829-54D064443C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638425"/>
            <a:ext cx="1657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Engaged free user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63417C0-B4AB-401D-B30E-D44CF5C923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2571750"/>
            <a:ext cx="32861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CCA8993-F3FF-4D8B-AAA6-0B9127A2CE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2638425"/>
            <a:ext cx="31337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20 text loops + 2 images + no video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F7E74B7-43D3-4F5E-854A-A1FDFF65F7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0225" y="2571750"/>
            <a:ext cx="20478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538D061-96C1-4889-A3E3-6B039C2D90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86425" y="2638425"/>
            <a:ext cx="189547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$0.25-$0.45 / MAU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1D5AA7C-721E-49A0-9411-FFEF92741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2571750"/>
            <a:ext cx="3048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33D1F32-CD60-4639-ACB9-038968E2F7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2638425"/>
            <a:ext cx="28956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acceptable only if retention and conversion are visible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3ED0445-8E5B-4F25-9C30-6AD17B476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124200"/>
            <a:ext cx="1809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BE70FFC-D58B-47C0-BC9A-550797A93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190875"/>
            <a:ext cx="1657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Plus subscriber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6F7C3793-8F33-4CE6-A485-72B0A15E7A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3124200"/>
            <a:ext cx="32861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42392A4E-DF48-4F7F-9EFA-6FC987DF92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3190875"/>
            <a:ext cx="31337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25 text loops + 4 images + recaps + support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FF3BDB6D-ECB3-40DF-BB9F-D3C0D528E5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0225" y="3124200"/>
            <a:ext cx="20478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98EABBC7-D52B-4239-9EDB-BED2525A48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86425" y="3190875"/>
            <a:ext cx="189547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$0.70-$1.40 / payer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26FC506E-D839-4D83-AD13-2EB41050E5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3124200"/>
            <a:ext cx="3048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9415F11C-B53D-4C93-8236-489E3F9B84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3190875"/>
            <a:ext cx="28956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$9.99-$14.99 subscription can hold strong margin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4452C67D-AD0F-4359-9100-375F558CF6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676650"/>
            <a:ext cx="1809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A5878394-145B-4478-8285-7C916CFA9B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743325"/>
            <a:ext cx="1657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Plus + 1 Veo clip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AEA47D4B-F595-4967-B8A0-E63AA9DA2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3676650"/>
            <a:ext cx="32861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E84432A5-3D66-4777-A629-69C92DBB4D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3743325"/>
            <a:ext cx="31337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+ one 8 sec Veo 2 clip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AB2644A8-5492-4EF9-9E25-8C5B19C46B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0225" y="3676650"/>
            <a:ext cx="20478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2BFC9C85-FEC8-4C73-9459-E292514690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86425" y="3743325"/>
            <a:ext cx="189547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+$4.00 before retries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195854DC-92EC-48C0-9433-E519BF2A5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3676650"/>
            <a:ext cx="3048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96E299A0-3085-42EA-96E5-1640A904A3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3743325"/>
            <a:ext cx="28956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margin collapses unless clip is paid separately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B2104F63-BAED-478B-A1F7-258BB4D61C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229100"/>
            <a:ext cx="1809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2A51C327-C6ED-468B-9158-9A77FDEEF7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295775"/>
            <a:ext cx="1657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Plus + 4 Veo clips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9B5F5F5D-B3C7-444C-B907-0CB239281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4229100"/>
            <a:ext cx="32861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E2E21402-1891-4D34-BDFD-14AB822AD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4295775"/>
            <a:ext cx="31337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+ weekly 8 sec Veo clip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A7EFDA92-B2B0-47B4-8193-9910B8DAED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0225" y="4229100"/>
            <a:ext cx="20478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E8141865-C7E2-4D68-9DEF-F4704B25D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86425" y="4295775"/>
            <a:ext cx="189547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+$16.00 before retries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B70AE637-FE19-4BC1-9AC9-28394247A9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4229100"/>
            <a:ext cx="3048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AF4C53E9-5C38-4756-AF0E-1A26989247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4295775"/>
            <a:ext cx="28956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negative economics on consumer subscription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ABA5CC1D-7C20-4481-AE02-6FAAF4BC07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781550"/>
            <a:ext cx="1809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356090A9-DD45-46AD-B6BF-C3A6F0BF8A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848225"/>
            <a:ext cx="1657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Token video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7A8BC14A-0FFC-4E5D-B413-322260D03C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4781550"/>
            <a:ext cx="32861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7100DCD5-367F-47ED-ACD8-F49649F030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4848225"/>
            <a:ext cx="31337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one paid 8 sec video moment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1B8C0DC8-4EF1-4BC3-B418-FF8C9FE59A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0225" y="4781550"/>
            <a:ext cx="20478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3B1B5ED2-FDAD-4997-8179-78CF77AAF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86425" y="4848225"/>
            <a:ext cx="189547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Runway ~$0.40 / Replicate ~$1.92 / Veo ~$4.00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CDCE32D9-96B8-40C4-B81A-A332C065F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4781550"/>
            <a:ext cx="3048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B97BDD99-5D5B-4C8C-8B27-F6F8DDA26C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4848225"/>
            <a:ext cx="28956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price token by model quality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91712187-2880-4792-B931-CF1E6F2E3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14950"/>
            <a:ext cx="98107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BE35902F-F389-4711-A821-C230869A61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410200"/>
            <a:ext cx="95059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COGS = LLM tokens + images + video seconds × provider price + storage + support + failed-generation buffer.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08111315-3ACD-4BE9-852A-F72C2EBD7B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857875"/>
            <a:ext cx="8953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The daily product can be cheap. The wow video must be paid, capped and measurable.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55AFA06D-BDC6-46EA-A321-45D66F1C58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19</a:t>
            </a:r>
          </a:p>
        </p:txBody>
      </p:sp>
    </p:spTree>
    <p:extLst>
      <p:ext uri="{BB962C8B-B14F-4D97-AF65-F5344CB8AC3E}">
        <p14:creationId xmlns:p14="http://schemas.microsoft.com/office/powerpoint/2010/main" val="583242309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9DE5164-E743-4B24-BDFA-6F7C8BBE7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90002B0-5476-4B65-B3A3-1B6E21C41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00050"/>
            <a:ext cx="8191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4D13D9E-FB24-4615-867D-5A2E468FC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52450"/>
            <a:ext cx="3238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4705C43-890C-4DA7-9133-D91D10CF7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657225"/>
            <a:ext cx="2667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D66AE24-5F9F-4326-8C89-2189A11D3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742950"/>
            <a:ext cx="8572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Video Cost Stress Test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D628509-6B9B-45D4-BF8B-59B72A1AF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504950"/>
            <a:ext cx="25241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76C28FE-522F-4E57-88AA-CA974B1793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571625"/>
            <a:ext cx="23717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Scenario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98B14BF-9DED-4DE0-9127-F9DE0F191C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8475" y="1504950"/>
            <a:ext cx="14763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13CB46D-C33F-4A2A-A7EF-628AA1835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14675" y="1571625"/>
            <a:ext cx="132397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100 users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E4AFCFC-BE61-4F4A-BC39-30369824A7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1504950"/>
            <a:ext cx="16192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DADDFD5-A362-43C2-AD2D-EAF117DA5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1571625"/>
            <a:ext cx="14668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1,000 users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2B505C9-03DD-41AE-9F87-AA8F8580DF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1504950"/>
            <a:ext cx="1714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0C26819-B09B-42A9-9DB4-7327D69A3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1571625"/>
            <a:ext cx="15621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10,000 users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9114127-BE25-4622-ABFB-A497FBC23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1504950"/>
            <a:ext cx="2857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AD6956F-BE63-417B-B7E1-AA64BF5D1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1571625"/>
            <a:ext cx="27051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Conclusion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B119F0F-6F6F-4BEF-8E37-89324C487B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057400"/>
            <a:ext cx="25241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6745330-5DFA-4D03-B7AE-631354BB94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124075"/>
            <a:ext cx="23717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1 free 8s Veo clip / month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5CD6C18-1724-48CB-99E2-963C797A1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8475" y="2057400"/>
            <a:ext cx="14763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5B1E8FE-E4FB-43F1-B0DE-8E463AE6BD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14675" y="2124075"/>
            <a:ext cx="132397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$400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8BF2237-6241-4F72-B8E5-298748A870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057400"/>
            <a:ext cx="16192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B705803-E716-46E1-A040-E866603F2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2124075"/>
            <a:ext cx="14668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$4,000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674DED3-D0D3-4078-86EE-46B9F4744A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2057400"/>
            <a:ext cx="1714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2FB2A57-77BB-4536-9847-6D5E981F76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124075"/>
            <a:ext cx="15621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$40,000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BD8A393-F3B1-4DCE-B21C-A79972E32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2057400"/>
            <a:ext cx="2857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A852419-9445-4D80-B584-AA209BB67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2124075"/>
            <a:ext cx="27051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too expensive before strong paid conversion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30AC499-F414-4CC1-BBB2-B7D3092E1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09850"/>
            <a:ext cx="25241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BA4C5A6-FAD7-4D13-8AC9-59F73E4BC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676525"/>
            <a:ext cx="23717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4 free 8s Veo clips / month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9E369A2-BE30-4202-9B00-16A2FF8873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8475" y="2609850"/>
            <a:ext cx="14763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2510A33-52D5-4FA2-A1A2-EA49428A1A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14675" y="2676525"/>
            <a:ext cx="132397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$1,600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7330BE9-1F5D-4212-ACFC-1225DC2A04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609850"/>
            <a:ext cx="16192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D162E21-9012-45C8-87F2-049AEEC015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2676525"/>
            <a:ext cx="14668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$16,000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C3B7C90-C518-4331-A6EF-E2340C76B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2609850"/>
            <a:ext cx="1714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952E006-1DB3-4332-88BF-818387614D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676525"/>
            <a:ext cx="15621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$160,000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99B30C7A-7E54-4CA8-978F-A9095400F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2609850"/>
            <a:ext cx="2857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B516E6EA-BC84-44D6-8314-BEC3234679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2676525"/>
            <a:ext cx="27051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kills consumer subscription margin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C31ACA58-C60A-43BE-B3FF-A48589F300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162300"/>
            <a:ext cx="25241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6F452583-6568-4FF1-95E3-59FB8A9224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228975"/>
            <a:ext cx="23717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1 paid 8s Runway clip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237A40B5-ACC9-4025-9502-4BC16DFEA0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8475" y="3162300"/>
            <a:ext cx="14763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01943C2A-14D7-4320-9B9E-4A8A87DEF8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14675" y="3228975"/>
            <a:ext cx="132397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$40 COGS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326D1D9B-4B54-4102-8BDD-996DC91D58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162300"/>
            <a:ext cx="16192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45923F4F-3060-4455-BF66-317CC4BC13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3228975"/>
            <a:ext cx="14668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$400 COGS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ED77F32E-51F7-4955-B075-85E9A1978D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3162300"/>
            <a:ext cx="1714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DA449193-6C00-4CA5-A7F4-62BA77BAD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3228975"/>
            <a:ext cx="15621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$4,000 COGS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C8C0F745-576D-4391-A52D-C828E94067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3162300"/>
            <a:ext cx="2857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D069DDD5-B3CE-4CD4-81CB-6BA74A3A98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3228975"/>
            <a:ext cx="27051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can work as low-price token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D4CAF2A4-41FD-4014-8427-52BD7C3C1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714750"/>
            <a:ext cx="25241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45B0B7B5-8ED3-4A53-9994-220D044B39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781425"/>
            <a:ext cx="23717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1 paid 8s Replicate/Wan clip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A509A97D-B231-4AD9-A761-5A2C88B70F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8475" y="3714750"/>
            <a:ext cx="14763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22597910-BFCE-42EB-A22E-25D4634C30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14675" y="3781425"/>
            <a:ext cx="132397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$192 COGS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D4B3FE25-F9B1-41D0-9334-D9634AAA58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714750"/>
            <a:ext cx="16192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2D07C0B1-BC17-4955-AAA2-9A6C6152C6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3781425"/>
            <a:ext cx="14668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$1,920 COGS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5D3E2D2E-4B39-4465-92A2-8815B6193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3714750"/>
            <a:ext cx="1714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79AA25B8-8C89-4430-A600-60803A1FA0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3781425"/>
            <a:ext cx="15621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$19,200 COGS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B4C84E2A-C594-4CFA-B4AA-598D6690E7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3714750"/>
            <a:ext cx="2857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0082E57D-BA20-4615-835F-69159AF2AD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3781425"/>
            <a:ext cx="27051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needs $4.99-$9.99 token or bundle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0943B3CF-4722-42C6-9D78-F258F6175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267200"/>
            <a:ext cx="25241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7BD574CC-27F6-4C0D-98A4-5B49B09CB4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333875"/>
            <a:ext cx="23717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1 paid 30s HeyGen avatar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F4945CFE-E1BF-4842-A878-7397CE70AC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8475" y="4267200"/>
            <a:ext cx="14763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5EFD558B-C3C8-46BF-85A7-8B355BEF0C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14675" y="4333875"/>
            <a:ext cx="132397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$150-$200 COGS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7E58BDA3-7BDB-4830-BCB9-4BAADD1B4B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4267200"/>
            <a:ext cx="16192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FDA059D6-0498-407D-B263-E543DB9EB7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4333875"/>
            <a:ext cx="14668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$1,500-$2,000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8C60D376-CBA5-45FC-BDB4-4297BBEA62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4267200"/>
            <a:ext cx="1714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BE22373A-EC75-431A-B195-60C5F4973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4333875"/>
            <a:ext cx="15621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$15,000-$20,000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A5111277-3C50-4ED6-85A7-0FB064E89A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4267200"/>
            <a:ext cx="2857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62021547-FAD6-4CE4-A437-FB3710498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4333875"/>
            <a:ext cx="27051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works for premium forecast / assistant moment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6ECB6EFC-F132-4F12-B8BA-25FB7F3C8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819650"/>
            <a:ext cx="25241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54EC0122-905A-4C6C-A745-6B8BBCCE96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886325"/>
            <a:ext cx="23717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Image-first Life Canvas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9CC2CD05-6BE9-401C-9E37-A4F1EC7A1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8475" y="4819650"/>
            <a:ext cx="14763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D45C6F76-B2E7-4C0E-8A39-F608911FB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14675" y="4886325"/>
            <a:ext cx="132397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$4-$17 COGS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6AC7D7F1-6E73-4805-ABBF-9E9A6A108B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4819650"/>
            <a:ext cx="16192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B5CB7243-C30A-4ECB-A592-C376DF9C04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4886325"/>
            <a:ext cx="14668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$40-$170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C4849487-BDAE-4C48-88F6-52E66FA08A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4819650"/>
            <a:ext cx="1714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2334F17D-D99E-4F6C-AF9A-01DA2FCA29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4886325"/>
            <a:ext cx="15621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$400-$1,700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A056EC66-A714-484E-B962-D580BAD5A8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4819650"/>
            <a:ext cx="2857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406AEE60-64E2-44BD-BC55-9103BF9A18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4886325"/>
            <a:ext cx="27051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safe default visual layer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59CB3FA2-6D31-4CD0-A0DF-84B9996C8E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810250"/>
            <a:ext cx="8572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This is the missing math: video is not “a feature”; it is a pricing boundary.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488B43E5-46F9-4E4D-8E7A-B0EDAFA31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1616545829"/>
      </p:ext>
    </p:extLst>
  </p:cSld>
</p:sld>
</file>

<file path=ppt/slides/slide2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DA21BBE-D608-4B5F-B386-21A75C5BE1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77DB3EA-76BD-4A9F-9A4F-6D7468CA5F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00050"/>
            <a:ext cx="8191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EF2DC86-726F-4D1E-8879-E7B5165FD3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52450"/>
            <a:ext cx="3238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0B46EA5-1410-4BDC-96F1-7D97DEB29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657225"/>
            <a:ext cx="2667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29DF84D-DD94-4272-8086-1A784E2C77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742950"/>
            <a:ext cx="8572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AURA Base Financial Model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11CBB4D-B024-4583-8567-5E076C76E6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714500"/>
            <a:ext cx="2286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64EBE44-DBE6-4BF2-84DD-FE041A8AD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781175"/>
            <a:ext cx="2133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Scenario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A19D6F0-28DD-43CA-B05D-6B19219354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171450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51FEF7B-C162-4D9B-BE7A-595FCE679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178117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10k MAU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E449D02-966E-490A-BAD0-CAAC7F3B64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171450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6DBF3F1-134C-488D-AAFE-AD0E1EAC11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178117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50k MAU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106D41B-17F1-4C80-AE38-251409AC4B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171450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4A7BCEB-DDA6-4F8B-8CF2-B678D74FA5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178117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150k MAU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06E7A20-FAC2-42D6-9955-7301F77C3E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90750"/>
            <a:ext cx="2286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78D1DB5-30BA-4801-9319-96D9684A60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257425"/>
            <a:ext cx="2133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Paid conversion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F9C0949-478B-4DF3-8105-A5C509F50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219075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CFFC69B-F8FB-410B-99EB-F94EDD68D7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225742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1.5%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AD893D5-BB9B-4D00-9B94-637D89AD53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219075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5503322-39AA-439C-93F8-2C7246F4C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225742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3.0%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C1B6459-0EDF-45BD-A83F-EC560795A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19075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B700A04-BA70-40CB-B003-A921C6961E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25742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4.5%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947FBAC-F2FA-42BE-9425-9C81860F87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667000"/>
            <a:ext cx="2286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639CABB-A080-4937-8FB8-4CD2CFBA3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733675"/>
            <a:ext cx="2133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Payers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547D427-9085-4DD2-9028-95CC5F04F5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266700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5B1104F-7290-4068-9D1E-1BFF3DBEC4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273367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150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23804EF-B15E-40FB-AF86-2A32E3BB20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266700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10184A5-F92C-482B-8EBE-EA62ACC05C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273367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1,500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6DF7C8D-3798-4E95-9AE6-79A25D3A0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66700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DEC8BCE-FE63-4C74-8EF2-898173F9C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73367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6,750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1DA5D9F-2AF2-48A5-A1CA-DCE42C4B6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143250"/>
            <a:ext cx="2286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84597C7-91DC-49A5-AF87-C3565BFD3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209925"/>
            <a:ext cx="2133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Gross subscription @ $11.99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5509F3E-C513-468F-870E-9AAFD6DE1E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314325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C05F59E-5566-490E-8514-3318437B8E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320992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$1.8K/mo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FB715001-4511-4599-8561-CCFA7E1AE0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314325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C01EB2F6-1087-409B-84AA-F3CA25ABF1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320992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$18.0K/mo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9F93BE4F-7A00-4145-8FB4-52640743D4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314325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9EF583A9-015E-4D2F-8DE7-182934BBCF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320992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$80.9K/mo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B617D762-35D7-49E1-964C-E1C30A3EB2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19500"/>
            <a:ext cx="2286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97FC0635-8FE9-46EA-9AAC-A565A18CA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686175"/>
            <a:ext cx="2133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Net after 15% fee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0B7B6863-F45C-4150-BC5A-2269539C06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361950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7D2C65FB-EFAF-45C4-A23D-8BB971DA20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368617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$1.5K/mo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5CB05DAE-8A3B-44D2-A5B7-097BE434D8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361950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0E3DEFA4-0EF7-41CC-8AC8-DD6F9FCEB2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368617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$15.3K/mo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B27A6936-269E-47FD-8B38-46F9A627B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361950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B85D5F57-EB17-4ABF-83E7-E9CA2D32F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368617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$68.8K/mo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7426E9E9-44D3-449A-85DA-3645F8D220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095750"/>
            <a:ext cx="2286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6A811118-D7A3-4F8D-B71B-CE03F3F6F8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162425"/>
            <a:ext cx="2133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AI/image COGS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8455D31E-F1A9-424E-AC1E-B36A9C8858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409575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F901FAAB-0F13-44F6-A642-B48B66811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416242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$1.0K-$2.5K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3961E350-1C2C-4FC3-9876-9DA0FCC518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409575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EC74F4E2-0B5A-487C-AA2D-69B4551D1F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416242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$5.0K-$12.5K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B9DA372A-195F-4A6E-A531-E1E3CACBD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409575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16FB661C-C5CB-4F38-8E53-4778ED3357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416242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$15K-$37.5K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C553E849-BF5A-4CE4-AAAA-515B3771F2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572000"/>
            <a:ext cx="2286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BCE77FC0-9CEF-497B-9FC5-3BB0EA426E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638675"/>
            <a:ext cx="2133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Verdict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F3FB329C-E1FC-4F51-89CC-9F5C2E9A0C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457200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2C2F0CC8-579E-4FA0-B278-310ED1AFE7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463867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thin unless COGS capped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D37E208D-F59F-46A3-A6CC-599E003CF5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457200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ED58DB6E-898E-45E8-A7C8-50A33A6339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463867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works if no free video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CF29459E-3E3D-4757-A274-0463045640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457200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08B19426-74F9-493C-9119-44DFCE15A2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463867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strong if retention + tokens work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0B3331C1-753A-468D-9A62-DB84C44975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286375"/>
            <a:ext cx="89535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Subscription alone is not enough if free COGS is loose. Tokens and annual plans protect margin.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2B0682AE-7012-463C-93CD-3FD2C8949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305550"/>
            <a:ext cx="8382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777777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777777"/>
                </a:solidFill>
                <a:latin typeface="Aptos"/>
                <a:ea typeface="Aptos"/>
                <a:cs typeface="Aptos"/>
              </a:rPr>
              <a:t>Assumptions: $10-14 ARPPU, image-first cost control, premium video gated. Needs recalculation after prototype telemetry.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6E620D81-8161-4BB6-BB78-23A2765F9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21</a:t>
            </a:r>
          </a:p>
        </p:txBody>
      </p:sp>
    </p:spTree>
    <p:extLst>
      <p:ext uri="{BB962C8B-B14F-4D97-AF65-F5344CB8AC3E}">
        <p14:creationId xmlns:p14="http://schemas.microsoft.com/office/powerpoint/2010/main" val="1127050754"/>
      </p:ext>
    </p:extLst>
  </p:cSld>
</p:sld>
</file>

<file path=ppt/slides/slide2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CDD1A18-DCF2-40CF-AE93-395B46BD93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D41DCA3-425A-4422-A528-934BA44112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00050"/>
            <a:ext cx="8191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33799CF-E50D-413C-87CC-D3A9A1490D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52450"/>
            <a:ext cx="3238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B1D06E4-0712-4F25-948E-E3CC0618C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657225"/>
            <a:ext cx="2667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A4BFA38-F308-458B-ACEE-21C6E7F57F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742950"/>
            <a:ext cx="8572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Marketing Benchmarks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A8BF96B-0138-440E-A1F2-DD4FE1A96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219200"/>
            <a:ext cx="14763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E6D722B-80E4-4DFC-9837-E7AFE8FB2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285875"/>
            <a:ext cx="13239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Competitor / archetype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A8D4B5B-DBB0-4DF6-969B-903F5ECFC0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0725" y="1219200"/>
            <a:ext cx="1809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4457D4C-53D8-4685-BCA6-01C68A2030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1285875"/>
            <a:ext cx="1657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Public marketing signal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0622688-E8C1-418F-86C2-0F5DC7DED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0475" y="1219200"/>
            <a:ext cx="35718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A653319-C09C-4CF8-9AEE-B6E05DE5E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6675" y="1285875"/>
            <a:ext cx="34194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Risk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1A1D36B-7B62-4BE2-8532-70137B7F0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1219200"/>
            <a:ext cx="3333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3669150-8081-4A11-941B-EE02961CA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1285875"/>
            <a:ext cx="3181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AURA use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D6667CE-F5A8-446D-AFFF-0B0B55D65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14763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74BED0C-5C6B-4CED-81FD-8ED4687F8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743075"/>
            <a:ext cx="13239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Nebula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21C9936-F062-4113-B095-DF78FC6BCF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0725" y="1676400"/>
            <a:ext cx="1809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CC806EF-2AB3-4A61-B23E-881719D87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1743075"/>
            <a:ext cx="1657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$6.8M/mo YouTube ad spend estimate; 620 creatives; 18.6M visits Jan 2026; 50 landing pages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E075CE7-24F9-4AEC-AD72-CE04D6EC0F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0475" y="1676400"/>
            <a:ext cx="35718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E256DE2-039B-4956-9C46-04C3428FE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6675" y="1743075"/>
            <a:ext cx="34194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paid scale requires high LTV and aggressive funnel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CEAA183-2E0C-4220-98D9-F383969D99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1676400"/>
            <a:ext cx="3333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C40616A-8C5E-4CEA-B63C-0AB0A2634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1743075"/>
            <a:ext cx="3181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use as paid-test inspiration, not MVP operating model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F83290E-6382-4706-AA83-97167503A2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133600"/>
            <a:ext cx="14763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2895587-C09A-4B19-B413-9BA0858118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200275"/>
            <a:ext cx="13239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Nebula prelands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CAA40DA-4620-4295-8753-56A71B1F2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0725" y="2133600"/>
            <a:ext cx="1809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8A07112-E305-41C7-B7D0-45C71BB3D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2200275"/>
            <a:ext cx="1657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soulmate sketch 10% ad traffic; marriage compatibility 8.2%; aura reading 8%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352FE1A-3C19-4A42-967D-C3D9C027C5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0475" y="2133600"/>
            <a:ext cx="35718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F68BEA5-7AF8-41F2-8963-BF76256D4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6675" y="2200275"/>
            <a:ext cx="34194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curiosity hooks can become scammy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A54F1DE-C5AE-4B9D-BFB4-4EE6749163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2133600"/>
            <a:ext cx="3333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677D13B-4332-4969-BDA2-308792D599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2200275"/>
            <a:ext cx="3181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test future-self / visual week / relationship hooks carefully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D97ADC6-C7CC-4261-B0C0-CAEDF61435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590800"/>
            <a:ext cx="14763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31843CD-8DD1-414C-B2C1-26C361E70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657475"/>
            <a:ext cx="13239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Co-Star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EEC0F5A-849C-491B-975B-0D667CDEE4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0725" y="2590800"/>
            <a:ext cx="1809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2F2E302D-DF13-4AEA-891B-C306B9FB9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2657475"/>
            <a:ext cx="1657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20M+ downloads with no real marketing spend; 25% young US women 18-25 downloaded historically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9C792CAC-CF0E-41BC-AE7D-5409D65B62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0475" y="2590800"/>
            <a:ext cx="35718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87167ADE-F374-4D7A-96BE-B12D372307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6675" y="2657475"/>
            <a:ext cx="34194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hard to force virality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BF5BA949-B0F7-4D36-9FEA-9862814FB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2590800"/>
            <a:ext cx="3333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D8376DAE-6F37-4E65-8E4A-B63849AF7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2657475"/>
            <a:ext cx="3181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build shareable identity language and relationship/social hooks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75E7A3D8-AA37-4407-90A1-F441FA6518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048000"/>
            <a:ext cx="14763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562B863B-DC77-456B-A464-3469D036ED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114675"/>
            <a:ext cx="13239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Astrotalk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E1BA290C-4C33-4B7B-AD4C-AA9CF2E15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0725" y="3048000"/>
            <a:ext cx="1809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E9204FD7-6C83-41F5-A4F1-3297607E2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3114675"/>
            <a:ext cx="1657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FY25 total expenses Rs 1,129 crore; marketing/tech/ops/talent growth cited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CACD2C50-CE3D-4244-9FB2-94E80873F7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0475" y="3048000"/>
            <a:ext cx="35718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AA3F6989-443A-4747-B32A-5796A0D0E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6675" y="3114675"/>
            <a:ext cx="34194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marketplace growth is expensive operationally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5474D293-2D7C-4B40-909D-BBDF2D599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3048000"/>
            <a:ext cx="3333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34B81053-1289-4D70-9052-21023ACE1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3114675"/>
            <a:ext cx="3181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do not start with marketplace/expert model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F35E7F90-E860-428B-A938-A27DB0BCC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505200"/>
            <a:ext cx="14763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155B3281-4CC3-490E-9ACF-E2816F65A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571875"/>
            <a:ext cx="13239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CHANI / Waking Up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EA694470-DB1F-4F06-BFF3-8E32A2BED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0725" y="3505200"/>
            <a:ext cx="1809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97FDB4BA-DC25-4E28-823F-AC0FC8B87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3571875"/>
            <a:ext cx="1657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trusted founder/teacher voice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FDA70195-8C94-4F3D-95AF-D5C1BF1CF3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0475" y="3505200"/>
            <a:ext cx="35718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28AE4DBE-15DC-4C47-B679-DF10FD42C7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6675" y="3571875"/>
            <a:ext cx="34194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requires real authority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1346AD1F-8E2C-4FDB-AD6E-45F816BF6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3505200"/>
            <a:ext cx="3333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C2ED3BF9-C5A0-4999-AA04-4BC6F20391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3571875"/>
            <a:ext cx="3181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use Alina/creator expertise without guru tone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7842AD15-E3EE-4079-9ED8-BCF8AF36F9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810250"/>
            <a:ext cx="9429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Sources: Web2App World, Axios/TIME, Moneycontrol/ET-style reporting and qualitative product observations.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3B12CC0C-61E5-4140-BB1F-AD07A7BD3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22</a:t>
            </a:r>
          </a:p>
        </p:txBody>
      </p:sp>
    </p:spTree>
    <p:extLst>
      <p:ext uri="{BB962C8B-B14F-4D97-AF65-F5344CB8AC3E}">
        <p14:creationId xmlns:p14="http://schemas.microsoft.com/office/powerpoint/2010/main" val="7477318"/>
      </p:ext>
    </p:extLst>
  </p:cSld>
</p:sld>
</file>

<file path=ppt/slides/slide2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62DC8DF-9865-4A9E-8E6E-CCAEA5945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2E2EDB7-A448-441F-9D38-825D9EFE0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00050"/>
            <a:ext cx="8191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30B97CA-646C-4440-BE20-E5A89D5EDC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52450"/>
            <a:ext cx="3238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CA0B084-2F59-4DBA-A80D-ED54D2E12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657225"/>
            <a:ext cx="2667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130C151-0627-4B87-B20A-529E815D9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742950"/>
            <a:ext cx="8572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Go-to-Market Strategy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0563016-29F3-4840-97FF-2D4BEBFC3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714500"/>
            <a:ext cx="3333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1. First 100 are not bought by ads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5CDDA75-1373-47A3-B7BF-F188E3029E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1714500"/>
            <a:ext cx="60007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warm users, interviews, manual weekly forecasts and concierge cohort. Goal: understand the loop, not installs.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227C457-18E2-4253-B080-0B1B37424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647950"/>
            <a:ext cx="3333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2. Creator-led proof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8FF6082-050F-4416-8298-22E4AF8ECD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2647950"/>
            <a:ext cx="60007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micro creators in astrology/self-growth/visual AI pass a 7-day season and show the experience, not a generic ad.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A6ACA67-E1AB-4A04-8B00-535654D6D8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581400"/>
            <a:ext cx="3333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3. Short-form hooks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EC3D3CE-22A2-40FC-9665-EFF87415C8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3581400"/>
            <a:ext cx="60007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future-self, weekly forecast, avatar transformation, “not horoscope”, before/after Life Canvas and paid-intent CTA.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845468F-9F9F-47DB-91AE-CAD898E654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514850"/>
            <a:ext cx="3333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4. Shareable artifacts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966FAEA-F76F-4082-AB3D-E33978E9E0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4514850"/>
            <a:ext cx="60007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Life Canvas card, season recap, future-self poster and trailer week as viral layer after value moment.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B396C03-5500-47BF-817D-B265B5F3C5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23</a:t>
            </a:r>
          </a:p>
        </p:txBody>
      </p:sp>
    </p:spTree>
    <p:extLst>
      <p:ext uri="{BB962C8B-B14F-4D97-AF65-F5344CB8AC3E}">
        <p14:creationId xmlns:p14="http://schemas.microsoft.com/office/powerpoint/2010/main" val="386929832"/>
      </p:ext>
    </p:extLst>
  </p:cSld>
</p:sld>
</file>

<file path=ppt/slides/slide2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F996895-BD5F-45E2-AD8E-C1417EA16B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D58753B-B89A-45CB-A8FD-2585EAF1A1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00050"/>
            <a:ext cx="8191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F34AE58-056A-4858-89D2-1893E9E47D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52450"/>
            <a:ext cx="3238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8C929F7-1451-4D4F-8BDE-0C0AC8BE8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657225"/>
            <a:ext cx="2667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400F0D3-3449-4401-AA43-56303C2781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742950"/>
            <a:ext cx="8572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30-Day Validation Plan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DAF3550-0A11-4045-81BD-DBB96F73EF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190750"/>
            <a:ext cx="1428750" cy="666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13335">
            <a:solidFill>
              <a:srgbClr val="4D5563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AB979BC-E7F6-44CD-9B0E-175C7D98CB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390775"/>
            <a:ext cx="12763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Week 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2F4CB56-8928-4E7C-8013-0E36A9377D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095625"/>
            <a:ext cx="18097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20-30 interviews + manual weekly forecast concierge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959D97B-410E-4AFE-A56C-91DDD1A104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190750"/>
            <a:ext cx="1428750" cy="666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13335">
            <a:solidFill>
              <a:srgbClr val="4D5563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E7330D6-831D-42B3-A1E9-ACD183879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2390775"/>
            <a:ext cx="12763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Week 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1C81F1E-1B35-4163-B244-022723BE96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3095625"/>
            <a:ext cx="18097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10-screen prototype + 2 Life Canvas visual styles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1AD2FF0-5403-4938-B2DF-79E4FC6EA1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2190750"/>
            <a:ext cx="1428750" cy="666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13335">
            <a:solidFill>
              <a:srgbClr val="4D5563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4A43F67-28ED-49A7-8D51-FB22D8366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6450" y="2390775"/>
            <a:ext cx="12763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Week 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D054C14-8EBC-4194-91B3-8D09BA64CC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3095625"/>
            <a:ext cx="18097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landing + price test $7.99 / $9.99 / $14.99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968C376-9B7C-4B97-B114-9B0D561788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190750"/>
            <a:ext cx="1428750" cy="666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CEFD4"/>
          </a:solidFill>
          <a:ln xmlns:a="http://schemas.openxmlformats.org/drawingml/2006/main" w="13335">
            <a:solidFill>
              <a:srgbClr val="4D5563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B4E2A53-0E17-44C8-974F-B72251C31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2390775"/>
            <a:ext cx="12763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Week 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2DF94EB-C1A4-47DB-BED4-E5B2A1CDAF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095625"/>
            <a:ext cx="18097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30-50 users through 3-7 days + paid-intent test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2ECF8A2-44DB-47AE-B381-4A6DA7479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572000"/>
            <a:ext cx="22860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Success metrics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1D2F3C8-A6AB-4B1F-AF0E-406DFC95EC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972050"/>
            <a:ext cx="89535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&gt;70% understand category  /  &gt;50% explain Canvas change  /  D1 &gt;20%  /  paid intent &gt;5%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EA716FA-1CDA-45DD-93A7-0CED7563D1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24</a:t>
            </a:r>
          </a:p>
        </p:txBody>
      </p:sp>
    </p:spTree>
    <p:extLst>
      <p:ext uri="{BB962C8B-B14F-4D97-AF65-F5344CB8AC3E}">
        <p14:creationId xmlns:p14="http://schemas.microsoft.com/office/powerpoint/2010/main" val="2120679377"/>
      </p:ext>
    </p:extLst>
  </p:cSld>
</p:sld>
</file>

<file path=ppt/slides/slide2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16C35AB-5670-424A-BB77-B2840C1F72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CF95DC5-C3C3-4B70-A2FE-58A0E451B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00050"/>
            <a:ext cx="8191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004074C-7245-4CB0-8EEA-921B27F79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52450"/>
            <a:ext cx="3238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124B3E9-F0F1-4132-87AB-D84A4E638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657225"/>
            <a:ext cx="2667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AD8EBE4-3257-4360-804D-CAA09BCC1E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742950"/>
            <a:ext cx="8572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Product Scope: MVP vs Later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BE7A440-3997-4D23-8493-7CBACE0F7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44FF010-6830-4520-BC9C-BD0C66121A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7430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Layer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8F42E12-36EB-4E53-B89F-F686176620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16764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A07F215-A061-4ABF-8C27-1F55B654BA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17430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MVP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71BD026-2083-4B21-BA57-A686BA3051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16764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B1FA6F8-BA68-4634-9E46-E83B2E493C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17430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Later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4DCF985-0088-43C9-845A-1F82C8C4B4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16764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35CE28F-26D5-4305-8150-3636FAD209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17430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Why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A337396-144E-48FF-9B06-8B6C8EA808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3622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74351A4-95F6-4390-8108-6593143842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4288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Core loop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472A78F-2D77-48C5-B4A1-B4E5392225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23622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AA32681-FFF8-4747-AF28-88D8B3D77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24288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Episode → Action → Reset → Reflection → Life Canvas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3D9E1FE-9BB2-4853-9846-33135543A6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23622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E6554BE-1AD9-4E75-8A4E-EA2BBCFB8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24288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season branching and deeper memory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49167A3-9652-4325-AFA9-2F1BBAE76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23622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2F7C53C-E490-4A6F-9C24-8D0C72CB2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24288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must prove causality first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11E4742-6B8D-4F58-89C5-5C5DE607A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0480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E7A2DA9-0CE8-4281-9922-6A2C5B4E5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1146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Assistant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BFC6C4A-6D82-4E72-9B93-96BF809824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30480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4F0096B-8F66-429F-B194-57AD93E9F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31146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chosen tone + weekly context + memory summary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D57F477-1F05-435F-8512-D4F5528283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30480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FADC916-7952-451E-8115-7DDC412230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31146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voice/video assistant, creator voices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83C2B97-66BC-46FF-8A2A-F78321019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30480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7C4009C-63F4-4C6A-91EE-0059AFFC00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31146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text memory is cheaper and faster to validate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357A484-D7B8-43E8-B9F6-2F0B0B58EB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7338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4C94DCF-D906-4261-A0A1-1DDCFB298E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8004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Visual layer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8CED930-0CCD-45DC-807F-B8C135F567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37338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5DDCCB7-6DA0-4856-9C90-E0C5AC2C6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38004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image-first Life Canvas + avatar style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F104E627-ED0E-4170-BFF5-B562E78EC2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37338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762E13A7-F06A-4F82-89C6-4D0449147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38004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cinematic video, talking avatar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6DCFE8EF-F204-4E1A-A9A4-BAA30A830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37338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94AC7220-B7C8-4B11-81B2-F84F4D9A0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38004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video is premium COGS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D854EF94-558F-4971-8DD3-67B92BEB91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4196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DB7385DB-D0A8-4DD1-BF3F-8A324357B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4862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Monetization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F0C3A8E8-6464-4E9E-9427-FBB060E79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44196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81743AC1-9A38-4B2D-9087-39CBD6D2D9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44862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Plus + annual + one token test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A4FE9450-5C09-4E35-90A9-118078EDE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44196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9D3795E3-B216-4B85-83BE-8C19EB4F2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44862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creator seasons, expert layer, marketplace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5BE85F74-8489-4197-A360-CAFB484CEC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44196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FAE02766-A597-40C7-A18D-16F2D10D86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44862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avoid operational complexity before retention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4A1BB024-49E3-477D-9F82-254272A08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1054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09DC67BB-34BE-4613-A469-18EE8530C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1720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Community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B85F2ADE-2C64-414A-BD89-FE4034F4E8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51054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3DE7B60A-EFF3-4C34-ACFF-DDFE90BA24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51720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none in MVP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2A202563-D8BF-47AC-B1A5-38A4280F29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51054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5B882365-CBDE-4461-A213-D34C26E46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51720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sharing, social, cohorts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59417E98-8FD3-4937-ADEB-A5AA3F401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51054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8F4B36D2-3EF5-41CF-99BB-2A671B03F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51720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do not build social network before core value is proven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D73EDA9C-5051-4FA4-8E60-642DBB21BD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25</a:t>
            </a:r>
          </a:p>
        </p:txBody>
      </p:sp>
    </p:spTree>
    <p:extLst>
      <p:ext uri="{BB962C8B-B14F-4D97-AF65-F5344CB8AC3E}">
        <p14:creationId xmlns:p14="http://schemas.microsoft.com/office/powerpoint/2010/main" val="1380641909"/>
      </p:ext>
    </p:extLst>
  </p:cSld>
</p:sld>
</file>

<file path=ppt/slides/slide2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C5B2F6C-53D6-40E8-8CF7-50D745F02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1C26055-A994-45A8-B7B7-498376C05C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00050"/>
            <a:ext cx="8191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1D7C2EE-D1BC-48F0-B61D-B02395A29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52450"/>
            <a:ext cx="3238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A2C10B6-169A-4C18-9956-E7E3C3B3D4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657225"/>
            <a:ext cx="2667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822EAB3-2E9B-4CAF-B4AF-D27E53C2D4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742950"/>
            <a:ext cx="8572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Risks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BD37971-E44B-45F1-AAD4-D6E50C46F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714500"/>
            <a:ext cx="2333625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A1C5AA1-1FAE-4B6F-8F79-289F55C923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781175"/>
            <a:ext cx="21812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Risk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2014DE9-F76A-4A12-A40D-01C5217F7A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1714500"/>
            <a:ext cx="37147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DF0C01A-9EAA-4312-AB2A-A13E982042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6575" y="1781175"/>
            <a:ext cx="35623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How it breaks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BC03BCE-A63F-47B6-983B-420208D94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5" y="1714500"/>
            <a:ext cx="40957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951C690-A72E-40A8-B83B-4C2494FBB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1325" y="1781175"/>
            <a:ext cx="39433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Mitigation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FA1D4E6-581D-41A1-8EAF-D1DC6ED4E4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400300"/>
            <a:ext cx="2333625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0321B0E-C908-448C-9681-D0C0B25D5B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466975"/>
            <a:ext cx="21812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Looks like horoscope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A05F577-0947-4987-A866-3EC74638A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2400300"/>
            <a:ext cx="37147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E0ADB40-8FF5-45A2-BC0B-D03E4BF2B4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6575" y="2466975"/>
            <a:ext cx="35623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user thinks it is generic astrology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6BA9809-E60E-4C2D-BB33-240DBCE1CE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5" y="2400300"/>
            <a:ext cx="40957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8199F55-44D3-4B12-ABF4-157AB8450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1325" y="2466975"/>
            <a:ext cx="39433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position as weekly life-series and action, not fate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3305561-622C-4778-A72F-6AE1E080A2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086100"/>
            <a:ext cx="2333625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423F19A-4E35-48D2-940E-98B61FFCF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152775"/>
            <a:ext cx="21812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Avatar feels random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4018124-51A9-42DF-BBF9-B734CD9C29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3086100"/>
            <a:ext cx="37147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5538970-5CEA-4732-8409-B8CCCE644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6575" y="3152775"/>
            <a:ext cx="35623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user cannot explain visual change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917F1EB-375D-4BC2-B125-CDC24EB149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5" y="3086100"/>
            <a:ext cx="40957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93474A9-2B56-4E19-9510-8B0893F0F9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1325" y="3152775"/>
            <a:ext cx="39433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show cause next to Canvas and tie it to action/reflection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1C6F2A9-EC3A-40DE-87F3-A5287AD17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771900"/>
            <a:ext cx="2333625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98713C3-F71C-4630-823E-FD5BA35F5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838575"/>
            <a:ext cx="21812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Video cost kills margin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1DB22C7-5D71-4F88-8AF3-56E3E07DF4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3771900"/>
            <a:ext cx="37147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28B0CC9-0BEB-402D-B0E1-45CC464565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6575" y="3838575"/>
            <a:ext cx="35623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free users generate expensive clips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CF0B160-B508-435C-843F-CFEB2AD57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5" y="3771900"/>
            <a:ext cx="40957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86CC886-0531-44F7-944E-91AB1562C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1325" y="3838575"/>
            <a:ext cx="39433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premium/token video only; log COGS per asset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F3B762B-1E71-4509-A228-2ED945404F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457700"/>
            <a:ext cx="2333625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0F1A451-EF93-483D-9B30-BC61AB9A0C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524375"/>
            <a:ext cx="21812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AI sounds generic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E5062EA-7729-4CA0-B89D-B4481E04B0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4457700"/>
            <a:ext cx="37147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4D94BC7-A4E8-4DBF-B3D4-E49A6CE78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6575" y="4524375"/>
            <a:ext cx="35623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low trust and no return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8F75C6B8-AB43-46B0-90FE-A05F222848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5" y="4457700"/>
            <a:ext cx="40957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DC8D517A-F479-4094-8DCC-6B155A6F1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1325" y="4524375"/>
            <a:ext cx="39433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prompt QA, user feedback and memory guardrails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F5D29F23-EA9E-4BA4-810F-8B7DE6D58B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143500"/>
            <a:ext cx="2333625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203050B7-7CC2-49E2-8484-E3B8BE1B1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210175"/>
            <a:ext cx="21812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No paid intent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F6008EB0-984D-4C14-938C-F649A9883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5143500"/>
            <a:ext cx="37147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A86E7901-083B-442F-AFE7-CA0E658F4D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6575" y="5210175"/>
            <a:ext cx="35623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users like it but do not pay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6CFD9940-91AF-4524-A0E0-0A4BCFA3B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5" y="5143500"/>
            <a:ext cx="40957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A7DC54B1-D63B-40FB-9EFF-4DDB40FAB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1325" y="5210175"/>
            <a:ext cx="39433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paywall after first completed loop and price tests by cohort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CF015B7F-27DB-4ABF-B6BD-9DE830A2AA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26</a:t>
            </a:r>
          </a:p>
        </p:txBody>
      </p:sp>
    </p:spTree>
    <p:extLst>
      <p:ext uri="{BB962C8B-B14F-4D97-AF65-F5344CB8AC3E}">
        <p14:creationId xmlns:p14="http://schemas.microsoft.com/office/powerpoint/2010/main" val="1948621487"/>
      </p:ext>
    </p:extLst>
  </p:cSld>
</p:sld>
</file>

<file path=ppt/slides/slide2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CDD68E7-03E1-4D5C-B3EA-32A001035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913EAA3-4738-4382-A252-F94126183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00050"/>
            <a:ext cx="8191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EE905C0-C54D-4144-8375-1DC4B2B72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52450"/>
            <a:ext cx="3238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9806ADC-A78A-4BCC-8A5A-37663C2CCD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657225"/>
            <a:ext cx="2667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5EA6EF1-032E-47DE-889B-8E1EAAEFEE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742950"/>
            <a:ext cx="8572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Growth Roadmap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3AD1DB1-69B5-4CCB-AF87-EE40ADE43F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429000"/>
            <a:ext cx="9525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F95F7D3-EFE1-45B0-8F5A-BA1864132B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3048000"/>
            <a:ext cx="12382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E8E8"/>
          </a:solidFill>
          <a:ln xmlns:a="http://schemas.openxmlformats.org/drawingml/2006/main" w="13335">
            <a:solidFill>
              <a:srgbClr val="4D556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F0CBC8C-198B-4CB2-A30F-CC26ADA6B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3190875"/>
            <a:ext cx="10858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IDEA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24D3C7F-24EA-4EAB-A049-3D61553A4A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3829050"/>
            <a:ext cx="1428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forecast + avatars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85C0666-1345-4691-BD0F-C4D896D292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3048000"/>
            <a:ext cx="12382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E8E8"/>
          </a:solidFill>
          <a:ln xmlns:a="http://schemas.openxmlformats.org/drawingml/2006/main" w="13335">
            <a:solidFill>
              <a:srgbClr val="4D5563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92C2F4D-3BBB-4373-A877-B392F3C81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3190875"/>
            <a:ext cx="10858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MVP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1337EBE-86B1-4326-8B08-1C94B03280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3829050"/>
            <a:ext cx="1428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week season + Canvas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AD53DBA-09AE-435F-A4DD-62C539FD72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48125" y="3048000"/>
            <a:ext cx="12382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CEFD4"/>
          </a:solidFill>
          <a:ln xmlns:a="http://schemas.openxmlformats.org/drawingml/2006/main" w="13335">
            <a:solidFill>
              <a:srgbClr val="4D5563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341F6A6-D851-469B-953E-0D5C530B8C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24325" y="3190875"/>
            <a:ext cx="10858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PAID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7DCFDC5-1670-4416-899F-4E0276FCBE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3829050"/>
            <a:ext cx="1428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Plus + first token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669C8F6-416C-4CBD-A718-344FF69333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3048000"/>
            <a:ext cx="12382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13335">
            <a:solidFill>
              <a:srgbClr val="4D5563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7681636-29D3-4DD6-9A1A-117CFCAA85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6450" y="3190875"/>
            <a:ext cx="10858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RETENTION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C548D38-5EF5-4653-B3A7-4C4D9AB4E8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3829050"/>
            <a:ext cx="1428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D7 / season recaps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F92E72F-D600-4CC5-A0FB-A7C62EA94A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375" y="3048000"/>
            <a:ext cx="12382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E8E8"/>
          </a:solidFill>
          <a:ln xmlns:a="http://schemas.openxmlformats.org/drawingml/2006/main" w="13335">
            <a:solidFill>
              <a:srgbClr val="4D5563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DD92945-336D-4AAF-B4FA-5B66E1879B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48575" y="3190875"/>
            <a:ext cx="10858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SCALE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53EE686-0ABA-4A53-B6BE-0AE7E56A96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7125" y="3829050"/>
            <a:ext cx="1428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creators + paid tests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0BF017D-9021-4F25-852A-E2BA4C6232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3048000"/>
            <a:ext cx="12382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CEFD4"/>
          </a:solidFill>
          <a:ln xmlns:a="http://schemas.openxmlformats.org/drawingml/2006/main" w="13335">
            <a:solidFill>
              <a:srgbClr val="4D5563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41BB63A-97A0-468D-AD2B-B5131423CB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3190875"/>
            <a:ext cx="10858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$1M ARR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508F62F-67FD-4A43-9F76-4494A6438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3829050"/>
            <a:ext cx="1428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visual engine + annual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BB28952-2076-4222-9062-797A7FF5E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4953000"/>
            <a:ext cx="7810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The roadmap stays narrow until the loop is proven: first causality, then retention, then paid scale.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2F29DA6-FE6E-4AA0-86D3-F0502E52E5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27</a:t>
            </a:r>
          </a:p>
        </p:txBody>
      </p:sp>
    </p:spTree>
    <p:extLst>
      <p:ext uri="{BB962C8B-B14F-4D97-AF65-F5344CB8AC3E}">
        <p14:creationId xmlns:p14="http://schemas.microsoft.com/office/powerpoint/2010/main" val="1047183663"/>
      </p:ext>
    </p:extLst>
  </p:cSld>
</p:sld>
</file>

<file path=ppt/slides/slide2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6630054-F6BA-41BD-B98A-81C0233E2F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96BE8C0-CC07-48FA-BE74-B5E8123F4E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00050"/>
            <a:ext cx="8191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1335C5C-3A2A-4668-A13C-B8BFD5E6E1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52450"/>
            <a:ext cx="3238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B7BA3D5-BE19-4468-8349-2206DB63E5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657225"/>
            <a:ext cx="2667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E410756-5290-4D59-81BD-509108B9BC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742950"/>
            <a:ext cx="8572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What We Should Build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74AC76C-2FC6-4D62-ACB2-64BB81CE3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733550"/>
            <a:ext cx="176212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Product —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1E03A69-37D1-46C0-BE0C-A6E37D932A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47925" y="1733550"/>
            <a:ext cx="82200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A weekly visual self-guidance app where the user enters birth data/context, receives a forecast, completes daily micro-actions, and sees Life Canvas evolve.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716EBF0-ECD1-41C5-8FCE-D4A49CA5FE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409825"/>
            <a:ext cx="176212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MVP —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44215C6-FE76-49D2-802E-FBB22A9B9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47925" y="2409825"/>
            <a:ext cx="82200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Text-first assistant, weekly season, daily episode, action/reset/reflection, image-first Life Canvas, Plus paywall, one premium video token test.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CA89E9C-CB75-4465-A02A-BD95390F82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086100"/>
            <a:ext cx="176212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Pricing —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47E1D83-489A-4F4A-9D28-F3CAE610F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47925" y="3086100"/>
            <a:ext cx="82200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$9.99-$14.99 monthly, $69-$89 annual, $2.99-$9.99 visual/video tokens, no unlimited generation.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8CA8E1B-D8DE-44A5-B73D-8BB54721F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762375"/>
            <a:ext cx="176212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GTM —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DD844CF-6165-442E-B0C1-6B3BDDB3F5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47925" y="3762375"/>
            <a:ext cx="82200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Start with interviews and concierge cohorts, then creator-led proof, then small paid tests around visual week/future-self hooks.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C7FD792-3D46-4B73-BC65-3CDE61A6BA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438650"/>
            <a:ext cx="176212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Kill criteria —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0004244-73A9-4481-AD7E-8C1ACEC2A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47925" y="4438650"/>
            <a:ext cx="82200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Stop or pivot if users cannot explain Canvas causality, D1 is below 20%, paid intent stays below 5%, or video COGS cannot be controlled.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EA54635-7A22-40F8-9074-AA5C5D07AB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114925"/>
            <a:ext cx="176212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Next step —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0DD88FF-6635-4ADF-A3AC-267EEBBF3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47925" y="5114925"/>
            <a:ext cx="82200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Create 3-5 visual examples, clickable prototype, 30-user cohort and one pricing/token experiment.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182F571-BDB1-47C0-A7E3-3DBE356054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28</a:t>
            </a:r>
          </a:p>
        </p:txBody>
      </p:sp>
    </p:spTree>
    <p:extLst>
      <p:ext uri="{BB962C8B-B14F-4D97-AF65-F5344CB8AC3E}">
        <p14:creationId xmlns:p14="http://schemas.microsoft.com/office/powerpoint/2010/main" val="1878513482"/>
      </p:ext>
    </p:extLst>
  </p:cSld>
</p:sld>
</file>

<file path=ppt/slides/slide2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862A186-E5B1-43C4-ACF0-95CB8F227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F650CF5-F91F-4D09-95F7-04E7510DB6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00050"/>
            <a:ext cx="8191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E364EE2-BCEC-4672-942A-AFA690306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52450"/>
            <a:ext cx="3238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0FA7CA9-5FA8-4305-A7C7-E1EF30F65C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657225"/>
            <a:ext cx="2667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2AE80BF-26C1-4B60-93C6-608FA1A3F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742950"/>
            <a:ext cx="8572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Contacts / Next Step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651888A-3E45-4EFC-9254-B9A8FAE037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2238375"/>
            <a:ext cx="34290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420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420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AURA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F35185E-7406-4D49-AAC9-3FE961E01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24125" y="3333750"/>
            <a:ext cx="66675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9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9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Next step: generate visual examples, assemble clickable prototype, test first 30 users, and verify whether Life Canvas causality is understood.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BFAF89F-2DE8-4174-8BAE-2E2A15FD5C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4762500"/>
            <a:ext cx="72390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Prototype → interviews → concierge cohort → paid intent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02B9A68-D132-4C98-BE19-353FA0146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29</a:t>
            </a:r>
          </a:p>
        </p:txBody>
      </p:sp>
    </p:spTree>
    <p:extLst>
      <p:ext uri="{BB962C8B-B14F-4D97-AF65-F5344CB8AC3E}">
        <p14:creationId xmlns:p14="http://schemas.microsoft.com/office/powerpoint/2010/main" val="78818585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2026-06-03T07:06:48.1610000Z</dcterms:created>
  <dcterms:modified xsi:type="dcterms:W3CDTF">2026-06-03T07:06:48.1610000Z</dcterms:modified>
</coreProperties>
</file>