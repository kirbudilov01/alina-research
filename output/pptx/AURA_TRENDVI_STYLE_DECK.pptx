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2898792f383444e" /><Relationship Type="http://schemas.openxmlformats.org/officeDocument/2006/relationships/extended-properties" Target="/docProps/app.xml" Id="R4c4ad2a219a9404b" /><Relationship Type="http://schemas.openxmlformats.org/officeDocument/2006/relationships/officeDocument" Target="/ppt/presentation.xml" Id="R98b30622ce1e445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33b0f49f1344cbc"/>
  </p:sldMasterIdLst>
  <p:notesMasterIdLst>
    <p:notesMasterId xmlns:r="http://schemas.openxmlformats.org/officeDocument/2006/relationships" r:id="Rcdc05d38a1ac4dfd"/>
  </p:notesMasterIdLst>
  <p:sldIdLst>
    <p:sldId xmlns:r="http://schemas.openxmlformats.org/officeDocument/2006/relationships" id="256" r:id="R01f5a381a6484938"/>
    <p:sldId xmlns:r="http://schemas.openxmlformats.org/officeDocument/2006/relationships" id="257" r:id="R07eae5d7f7fe48a5"/>
    <p:sldId xmlns:r="http://schemas.openxmlformats.org/officeDocument/2006/relationships" id="258" r:id="R869193742b3b441e"/>
    <p:sldId xmlns:r="http://schemas.openxmlformats.org/officeDocument/2006/relationships" id="259" r:id="R5902b648c41b4427"/>
    <p:sldId xmlns:r="http://schemas.openxmlformats.org/officeDocument/2006/relationships" id="260" r:id="Rdea15c651f494998"/>
    <p:sldId xmlns:r="http://schemas.openxmlformats.org/officeDocument/2006/relationships" id="261" r:id="Rfb152f5e558a4ceb"/>
    <p:sldId xmlns:r="http://schemas.openxmlformats.org/officeDocument/2006/relationships" id="262" r:id="Rf73e6dbf78b34f9f"/>
    <p:sldId xmlns:r="http://schemas.openxmlformats.org/officeDocument/2006/relationships" id="263" r:id="Rcd5ee34eb38d43f2"/>
    <p:sldId xmlns:r="http://schemas.openxmlformats.org/officeDocument/2006/relationships" id="264" r:id="R583dd34e48de4c88"/>
    <p:sldId xmlns:r="http://schemas.openxmlformats.org/officeDocument/2006/relationships" id="265" r:id="R41979e53bf0849c0"/>
    <p:sldId xmlns:r="http://schemas.openxmlformats.org/officeDocument/2006/relationships" id="266" r:id="R5ff11f81b2ba4a96"/>
    <p:sldId xmlns:r="http://schemas.openxmlformats.org/officeDocument/2006/relationships" id="267" r:id="R03bb676de65d4228"/>
    <p:sldId xmlns:r="http://schemas.openxmlformats.org/officeDocument/2006/relationships" id="268" r:id="Reed01436c1824e45"/>
    <p:sldId xmlns:r="http://schemas.openxmlformats.org/officeDocument/2006/relationships" id="269" r:id="Re53b0d71c48747bf"/>
    <p:sldId xmlns:r="http://schemas.openxmlformats.org/officeDocument/2006/relationships" id="270" r:id="R40ab159e92d54f6c"/>
    <p:sldId xmlns:r="http://schemas.openxmlformats.org/officeDocument/2006/relationships" id="271" r:id="R0e9e13a42aa64e59"/>
    <p:sldId xmlns:r="http://schemas.openxmlformats.org/officeDocument/2006/relationships" id="272" r:id="R59f36db461814195"/>
    <p:sldId xmlns:r="http://schemas.openxmlformats.org/officeDocument/2006/relationships" id="273" r:id="Rbd23694832cc4da0"/>
    <p:sldId xmlns:r="http://schemas.openxmlformats.org/officeDocument/2006/relationships" id="274" r:id="R4406f819390a45e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3b0f49f1344cbc" /><Relationship Type="http://schemas.openxmlformats.org/officeDocument/2006/relationships/theme" Target="/ppt/theme/theme1.xml" Id="R8734839b152d49cf" /><Relationship Type="http://schemas.openxmlformats.org/officeDocument/2006/relationships/notesMaster" Target="/ppt/notesMasters/notesMaster1.xml" Id="Rcdc05d38a1ac4dfd" /><Relationship Type="http://schemas.openxmlformats.org/officeDocument/2006/relationships/presProps" Target="/ppt/presProps.xml" Id="R240b864c6ac14948" /><Relationship Type="http://schemas.openxmlformats.org/officeDocument/2006/relationships/viewProps" Target="/ppt/viewProps.xml" Id="R52f24539dbf847e7" /><Relationship Type="http://schemas.openxmlformats.org/officeDocument/2006/relationships/tableStyles" Target="/ppt/tableStyles.xml" Id="Re8aa48a32cfe4374" /><Relationship Type="http://schemas.openxmlformats.org/officeDocument/2006/relationships/slide" Target="/ppt/slides/slide1.xml" Id="R01f5a381a6484938" /><Relationship Type="http://schemas.openxmlformats.org/officeDocument/2006/relationships/slide" Target="/ppt/slides/slide2.xml" Id="R07eae5d7f7fe48a5" /><Relationship Type="http://schemas.openxmlformats.org/officeDocument/2006/relationships/slide" Target="/ppt/slides/slide3.xml" Id="R869193742b3b441e" /><Relationship Type="http://schemas.openxmlformats.org/officeDocument/2006/relationships/slide" Target="/ppt/slides/slide4.xml" Id="R5902b648c41b4427" /><Relationship Type="http://schemas.openxmlformats.org/officeDocument/2006/relationships/slide" Target="/ppt/slides/slide5.xml" Id="Rdea15c651f494998" /><Relationship Type="http://schemas.openxmlformats.org/officeDocument/2006/relationships/slide" Target="/ppt/slides/slide6.xml" Id="Rfb152f5e558a4ceb" /><Relationship Type="http://schemas.openxmlformats.org/officeDocument/2006/relationships/slide" Target="/ppt/slides/slide7.xml" Id="Rf73e6dbf78b34f9f" /><Relationship Type="http://schemas.openxmlformats.org/officeDocument/2006/relationships/slide" Target="/ppt/slides/slide8.xml" Id="Rcd5ee34eb38d43f2" /><Relationship Type="http://schemas.openxmlformats.org/officeDocument/2006/relationships/slide" Target="/ppt/slides/slide9.xml" Id="R583dd34e48de4c88" /><Relationship Type="http://schemas.openxmlformats.org/officeDocument/2006/relationships/slide" Target="/ppt/slides/slide10.xml" Id="R41979e53bf0849c0" /><Relationship Type="http://schemas.openxmlformats.org/officeDocument/2006/relationships/slide" Target="/ppt/slides/slide11.xml" Id="R5ff11f81b2ba4a96" /><Relationship Type="http://schemas.openxmlformats.org/officeDocument/2006/relationships/slide" Target="/ppt/slides/slide12.xml" Id="R03bb676de65d4228" /><Relationship Type="http://schemas.openxmlformats.org/officeDocument/2006/relationships/slide" Target="/ppt/slides/slide13.xml" Id="Reed01436c1824e45" /><Relationship Type="http://schemas.openxmlformats.org/officeDocument/2006/relationships/slide" Target="/ppt/slides/slide14.xml" Id="Re53b0d71c48747bf" /><Relationship Type="http://schemas.openxmlformats.org/officeDocument/2006/relationships/slide" Target="/ppt/slides/slide15.xml" Id="R40ab159e92d54f6c" /><Relationship Type="http://schemas.openxmlformats.org/officeDocument/2006/relationships/slide" Target="/ppt/slides/slide16.xml" Id="R0e9e13a42aa64e59" /><Relationship Type="http://schemas.openxmlformats.org/officeDocument/2006/relationships/slide" Target="/ppt/slides/slide17.xml" Id="R59f36db461814195" /><Relationship Type="http://schemas.openxmlformats.org/officeDocument/2006/relationships/slide" Target="/ppt/slides/slide18.xml" Id="Rbd23694832cc4da0" /><Relationship Type="http://schemas.openxmlformats.org/officeDocument/2006/relationships/slide" Target="/ppt/slides/slide19.xml" Id="R4406f819390a45e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a42f13d7225442b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ccca59cd60d4468" /><Relationship Type="http://schemas.openxmlformats.org/officeDocument/2006/relationships/notesMaster" Target="/ppt/notesMasters/notesMaster1.xml" Id="R85280f6cb97f496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de5b9ae1c584ea1" /><Relationship Type="http://schemas.openxmlformats.org/officeDocument/2006/relationships/notesMaster" Target="/ppt/notesMasters/notesMaster1.xml" Id="R217b6f0ced50472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54051b5c1054d11" /><Relationship Type="http://schemas.openxmlformats.org/officeDocument/2006/relationships/notesMaster" Target="/ppt/notesMasters/notesMaster1.xml" Id="R0290bd6aeec543d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6c343ef8ce24901" /><Relationship Type="http://schemas.openxmlformats.org/officeDocument/2006/relationships/notesMaster" Target="/ppt/notesMasters/notesMaster1.xml" Id="R4be826af915542f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44d5b34b31446f4" /><Relationship Type="http://schemas.openxmlformats.org/officeDocument/2006/relationships/notesMaster" Target="/ppt/notesMasters/notesMaster1.xml" Id="Rcd9319958c8b467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49d53f924834a2c" /><Relationship Type="http://schemas.openxmlformats.org/officeDocument/2006/relationships/notesMaster" Target="/ppt/notesMasters/notesMaster1.xml" Id="Redf39f6f8429440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bad439aa22c4822" /><Relationship Type="http://schemas.openxmlformats.org/officeDocument/2006/relationships/notesMaster" Target="/ppt/notesMasters/notesMaster1.xml" Id="R7d4cd1ecf8f847d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795e32db4ef45d1" /><Relationship Type="http://schemas.openxmlformats.org/officeDocument/2006/relationships/notesMaster" Target="/ppt/notesMasters/notesMaster1.xml" Id="R809f0f819a564a8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bd9d70770154676" /><Relationship Type="http://schemas.openxmlformats.org/officeDocument/2006/relationships/notesMaster" Target="/ppt/notesMasters/notesMaster1.xml" Id="Rfe2952a0dba84a3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5ae751a67724f6d" /><Relationship Type="http://schemas.openxmlformats.org/officeDocument/2006/relationships/notesMaster" Target="/ppt/notesMasters/notesMaster1.xml" Id="Re742b5b227114ac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9af13d67db24b86" /><Relationship Type="http://schemas.openxmlformats.org/officeDocument/2006/relationships/notesMaster" Target="/ppt/notesMasters/notesMaster1.xml" Id="Rf0d890e931a44fa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4a0e6f592624c7e" /><Relationship Type="http://schemas.openxmlformats.org/officeDocument/2006/relationships/notesMaster" Target="/ppt/notesMasters/notesMaster1.xml" Id="R4c9706895c524d6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0a9823293e44ba8" /><Relationship Type="http://schemas.openxmlformats.org/officeDocument/2006/relationships/notesMaster" Target="/ppt/notesMasters/notesMaster1.xml" Id="R50f282f4b99e457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0e43e8ee4574e4b" /><Relationship Type="http://schemas.openxmlformats.org/officeDocument/2006/relationships/notesMaster" Target="/ppt/notesMasters/notesMaster1.xml" Id="R4c4d9d2a4c94444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368e3eb00124c94" /><Relationship Type="http://schemas.openxmlformats.org/officeDocument/2006/relationships/notesMaster" Target="/ppt/notesMasters/notesMaster1.xml" Id="Re27b6dec845e4d7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de185189a0c4f2d" /><Relationship Type="http://schemas.openxmlformats.org/officeDocument/2006/relationships/notesMaster" Target="/ppt/notesMasters/notesMaster1.xml" Id="R19739d52357448b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19f7aee1c444723" /><Relationship Type="http://schemas.openxmlformats.org/officeDocument/2006/relationships/notesMaster" Target="/ppt/notesMasters/notesMaster1.xml" Id="Rffa7e0458741432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2d814adc0a544cf" /><Relationship Type="http://schemas.openxmlformats.org/officeDocument/2006/relationships/notesMaster" Target="/ppt/notesMasters/notesMaster1.xml" Id="R6a63b9399c9d4a9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7ed9c9a30264eb1" /><Relationship Type="http://schemas.openxmlformats.org/officeDocument/2006/relationships/notesMaster" Target="/ppt/notesMasters/notesMaster1.xml" Id="Rcd8ad6b2707742b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a2f34768c44d24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6598dd673c9a4754" /><Relationship Type="http://schemas.openxmlformats.org/officeDocument/2006/relationships/slideLayout" Target="/ppt/slideLayouts/slideLayout2.xml" Id="R91d8dfee33844b8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1d8dfee33844b8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9cddb3cc13b49d2" /><Relationship Type="http://schemas.openxmlformats.org/officeDocument/2006/relationships/notesSlide" Target="/ppt/notesSlides/notesSlide1.xml" Id="Rb22c2207655a494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e22db66689e4fd8" /><Relationship Type="http://schemas.openxmlformats.org/officeDocument/2006/relationships/notesSlide" Target="/ppt/notesSlides/notesSlide2.xml" Id="R7f7a1a92aaff41e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deaabf04f254f84" /><Relationship Type="http://schemas.openxmlformats.org/officeDocument/2006/relationships/notesSlide" Target="/ppt/notesSlides/notesSlide3.xml" Id="Rf0574012975248d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f86909fc48a44c2" /><Relationship Type="http://schemas.openxmlformats.org/officeDocument/2006/relationships/notesSlide" Target="/ppt/notesSlides/notesSlide4.xml" Id="Ra7fdf8fe4fa94f1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5dfa6c5969a4f75" /><Relationship Type="http://schemas.openxmlformats.org/officeDocument/2006/relationships/notesSlide" Target="/ppt/notesSlides/notesSlide5.xml" Id="Rffd242aa9dc7460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afcb018f5f84264" /><Relationship Type="http://schemas.openxmlformats.org/officeDocument/2006/relationships/notesSlide" Target="/ppt/notesSlides/notesSlide6.xml" Id="R1d6f5ec958b640c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6895312df344f71" /><Relationship Type="http://schemas.openxmlformats.org/officeDocument/2006/relationships/notesSlide" Target="/ppt/notesSlides/notesSlide7.xml" Id="R00bf479cd2f24e1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6d566ebcb6b4c48" /><Relationship Type="http://schemas.openxmlformats.org/officeDocument/2006/relationships/notesSlide" Target="/ppt/notesSlides/notesSlide8.xml" Id="R63bc8e3e48c146f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833d745f843442f" /><Relationship Type="http://schemas.openxmlformats.org/officeDocument/2006/relationships/notesSlide" Target="/ppt/notesSlides/notesSlide9.xml" Id="R1b562097239643f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5eb3d4107944e77" /><Relationship Type="http://schemas.openxmlformats.org/officeDocument/2006/relationships/notesSlide" Target="/ppt/notesSlides/notesSlide10.xml" Id="Rb2e2bd438cd64ed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85648533d2b4064" /><Relationship Type="http://schemas.openxmlformats.org/officeDocument/2006/relationships/notesSlide" Target="/ppt/notesSlides/notesSlide11.xml" Id="Ra0194d8fc6fb461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3486a41c31647e5" /><Relationship Type="http://schemas.openxmlformats.org/officeDocument/2006/relationships/notesSlide" Target="/ppt/notesSlides/notesSlide12.xml" Id="Rff7d26e436b54e6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24ec9e6d7164846" /><Relationship Type="http://schemas.openxmlformats.org/officeDocument/2006/relationships/notesSlide" Target="/ppt/notesSlides/notesSlide13.xml" Id="Rf384324b1ff645f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04e8b8792b44b14" /><Relationship Type="http://schemas.openxmlformats.org/officeDocument/2006/relationships/notesSlide" Target="/ppt/notesSlides/notesSlide14.xml" Id="R44976605760a407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a1dde7ba79f469a" /><Relationship Type="http://schemas.openxmlformats.org/officeDocument/2006/relationships/notesSlide" Target="/ppt/notesSlides/notesSlide15.xml" Id="R2758ab59f5e0436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ba546f6fe7c424d" /><Relationship Type="http://schemas.openxmlformats.org/officeDocument/2006/relationships/notesSlide" Target="/ppt/notesSlides/notesSlide16.xml" Id="R06fef23eb713461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2c0fa7a589740c6" /><Relationship Type="http://schemas.openxmlformats.org/officeDocument/2006/relationships/notesSlide" Target="/ppt/notesSlides/notesSlide17.xml" Id="R2ad16ddcb6e34e6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22721066f324496" /><Relationship Type="http://schemas.openxmlformats.org/officeDocument/2006/relationships/notesSlide" Target="/ppt/notesSlides/notesSlide18.xml" Id="Rc5d5b940e35f47e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4de39b00b244739" /><Relationship Type="http://schemas.openxmlformats.org/officeDocument/2006/relationships/notesSlide" Target="/ppt/notesSlides/notesSlide19.xml" Id="R1dc84c7433944c3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AE8B484-39FF-48D8-9F9B-A533993F8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843FFF-01D4-4678-9CFD-A9EE7E27F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333625"/>
            <a:ext cx="1238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65A7F4-E2F7-4723-AC94-F06262691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55270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57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5670C8-8D45-45DF-B130-34BD07E53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86050"/>
            <a:ext cx="3048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6A0CD2-5B2F-4A36-967E-9CD9686B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638550"/>
            <a:ext cx="476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Product / Investor Deck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21988D-5E9D-42A9-99EE-A38EDB073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8741067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ADCCC7-7616-4854-B430-04A3550CE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943A0E-54A7-4BB8-945A-8090AEC79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82D4F7-2E8D-4E34-BD36-FB7864BE9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BA81D3-BB52-4C12-8F55-02D00E2E2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5B38AD-51CD-4735-9E3C-57DC3D9F6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Project Overview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A4A41D-7FFF-4838-ABBC-34CE714C9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Target audience 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6EC9B9-CBFF-4F60-B2C5-452FF6942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17335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люди, которые уже потребляют astrology/self-care/AI-companion контент, хотят персональный недельный прогноз и видимый образ своей траектории.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F923FC-3592-4DB4-A267-69033B275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098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Current alternatives 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D2F1AE-8A62-4FEC-95D5-3BABE6A8E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24098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Nebula/Co-Star, Calm/Headspace, Finch, Replika/Character.AI, habit trackers, дневники, Telegram-каналы, ручные консультации и AI image/video tools.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E44C42-FC05-4E21-9137-88C6BE1D1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8610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Problem 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698BBC-C385-4DBE-8F4A-73DA05946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08610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рынок дает фрагменты: смысл без действия, действие без личного смысла, avatar без причинности, прогноз без памяти и продолжения.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504AAA-2777-47DB-B17F-100FB8800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6237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Solution 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730504-3FD8-429C-B115-EFA3224B2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76237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собирает weekly life-series: дата рождения и запрос → прогноз недели → daily episode → действие/reset → avatar/Life Canvas → продолжение завтра.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64B73B-6338-4291-921C-272FDEB0B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386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How it works 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DB3628-988D-4BFB-B2EE-E43781E0E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44386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пользователь выбирает контекст и помощника, получает недельный сценарий, каждый день проходит короткий loop, а дорогие AI-video moments открываются как premium.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192696-FE65-435A-8C45-244447B14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149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Key differentiation —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F30E25-D915-4D10-B793-C0645450E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51149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это не horoscope app и не avatar generator, а карманный прогнозист и визуальный сериал о собственной жизни.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3E2E5F-403D-4FFF-A1FD-35848C87F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80674712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BF6CFC8-4BF0-4F80-9A27-B3BE731DD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283D7A-8477-4B76-988E-1AD9A837B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CB8D98-7012-4AC1-8F41-B4D2AF82E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B6737E-7417-48F1-8ABE-68564B815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08400A-A994-425D-B8CB-9110103BB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Product Solution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531399-6C68-49A7-9646-38D889CA2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428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человек уже пытается получить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4D27E7-B9B3-4E49-9050-96B55141B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D12AA2-BD7E-4739-B0FF-B2A4D320E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8600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Личный смысл: “что со мной сейчас происходит?”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EF7EC0-C7D5-4B89-A945-EBBEA8FA9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194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06C172-8172-4CF4-BFDD-0EA623121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3845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Прогноз на неделю без жесткого фатализма.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4CB285-40AB-4D90-B476-47458143D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B718B4-191E-4910-B295-A7DB39755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9090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Красивую future-self / avatar визуализацию.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C53D37-F07A-4DA8-930B-831BC300D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243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31670E-68F9-4D96-995A-EE0A7F5EC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4335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Мягкое действие, а не сухой productivity checklist.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40E7E5-2380-4A7C-9BDC-0F0C311A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4095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Как это становится AURA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D9E77F-C9E6-4C9D-A58F-41A0C5F86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DC8CCD-9B44-4533-BC58-2A9088593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860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forecast становится season arc.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BC45A1-5A69-427C-93F2-DF809CCA1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241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8FDB8B-77EB-4AD4-B5D1-8A8DB3E7D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7432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episode переводит прогноз в сегодняшний фокус.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E90F7B-4515-42B2-8327-09D287323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813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772F02-A9F4-4B3F-A84D-0DAE06B61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004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AI-помощник говорит с пользователем в выбранном тоне.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609BAF-3A43-4068-92B8-C6A65505D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385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8B081F-2E22-4AD3-ADA8-3CEC884E7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6576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показывает, что именно изменилось.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9D77C0-62E5-41B2-9211-FB0C6F61D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8444FB-CDB4-4B9B-9DE6-0AFCE88F7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148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 video продается как special episode, trailer или token moment.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B3394A-EFFC-46D2-8742-43ECDB7A0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1666875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DD1178-35E7-41E4-A2E5-8F1ADE90C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5699895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074BB7A-AC1A-47B6-85BE-24A8D41FC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849BD9-BC0E-40BA-A698-423F5F43C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B16A30-4DE5-4210-AB78-601DF309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099D9D-5433-4612-B4D9-8C3521A70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BA9382-3E34-46A6-B0F7-8AD5DDAA6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Market Size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C2C546-38D1-4E4F-A22A-8FC07A25E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62125"/>
            <a:ext cx="1000125" cy="1000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B00A6C-B1E8-4DE6-96EB-8BEC4A4C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28838"/>
            <a:ext cx="847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1C8AF-D3AB-45A1-9595-127237A2C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8859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mobile consumer apps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22D307-876C-4C74-B55E-77373086E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9075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конкурирует за привычку открыть приложение, пройти короткую сессию и вернуться завтра.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EAAD39-606C-4841-8737-136314BB2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0"/>
            <a:ext cx="1000125" cy="1000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B4953F-2C0F-4E21-9055-73BE02872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14713"/>
            <a:ext cx="847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TAM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EB1675-9A53-442D-9DD8-147C58474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171825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5 adjacent markets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A49DBA-1759-4AFF-86CB-5060D5E7E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76625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mindfulness/reset, astrology/self-discovery, AI companion, avatar/identity, coaching/habits + progression.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3DC8EE-2A69-43FE-86C4-D5D20D405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333875"/>
            <a:ext cx="1000125" cy="1000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777C69-0615-4499-AABE-DCB089E6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00588"/>
            <a:ext cx="847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CB4998-3FA3-43E7-B83C-E0BB3A58F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577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68,085 objects reviewed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9526FB-CD1E-44E4-A438-185540BD6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 исследовании собран широкий competitor universe across app stores, web, desktop and adjacent sources.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4949B6-F5D5-4B6D-AEC0-5BACA9AC5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05000"/>
            <a:ext cx="11430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B7C5E5-8031-4D51-B636-2B936B432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47900"/>
            <a:ext cx="990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SOM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2459E1-4D30-4E92-9540-1809C6FD0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98120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100k-300k users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2BCD78-6814-4ED3-91C8-45F961B41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305050"/>
            <a:ext cx="2762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реалистичный reachable base на 3 года при creator-led GTM, подписке и premium visual layer.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34AAEA-9A59-4E7B-86CF-9BD1C2A67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33750"/>
            <a:ext cx="11430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E9152E-5096-4E7B-8734-5015E36E9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676650"/>
            <a:ext cx="990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4956C0-CBCB-4B36-AEF3-824CBF492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4099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$30-80M ARR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022DA9-4A09-4BC1-AB82-D42A9A7B1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733800"/>
            <a:ext cx="2762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upside через подписку, premium video/avatar tokens, creator seasons и годовые планы.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957A28-8F5D-4425-B796-2788B321B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04825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Вывод: рынок не один. AURA должна считаться как пересечение платных привычек, а не как узкий horoscope TAM.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6CD0797-BAF6-46F9-A30F-EB90861B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07175844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EC6C06F-FD49-4609-902C-455B64DC1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6A71E6-8EA7-4277-9566-D65DD6D9A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C83F84-A845-4A5E-B023-1F11EE06D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6503F6-097B-4176-8AE3-0E1942E40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ABC9F7-BBC5-4F5C-BDE6-A2B7CD0A6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Market Size ($)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34C147-E69C-42EE-93EB-C3F413646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0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6E2599-DB7E-44B1-A407-F4ED2ECC0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847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59F8B7-3592-438E-8A8E-5B523BC49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676400"/>
            <a:ext cx="2143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3EBBC8-721A-4690-816E-34A052DD9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743075"/>
            <a:ext cx="1990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$300M revenue / 2023 proxy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A574F7-734A-43A4-B35C-DE3AC8CF4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676400"/>
            <a:ext cx="219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EEF781-1937-4084-8435-A26938AC9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1743075"/>
            <a:ext cx="2038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$70/year, 4M+ paying subscribers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B51362-CAAD-49DE-8992-0023DD6D4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167640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191D2C-87E5-45A6-BF69-D870CAB64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1743075"/>
            <a:ext cx="3848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wellness subscription can be a very large consumer business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55BB94-4D5F-46A9-A1EC-9B648E1E1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28850"/>
            <a:ext cx="200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C034B8-1DB8-4BB8-99FF-575A17989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95525"/>
            <a:ext cx="1847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Character.AI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8DB9EA-9E1D-4057-ABEF-28184562F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228850"/>
            <a:ext cx="2143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E1C74C-E2DF-443F-B45B-A48A5AA66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295525"/>
            <a:ext cx="1990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$30M ARR run-rate / 2025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229767-D6D3-46F3-85F0-DDBD98B0C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28850"/>
            <a:ext cx="219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4EB32F-093B-420E-9810-EA8A99A96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295525"/>
            <a:ext cx="2038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$9.99/month c.ai+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419986-20ED-4491-8051-274616D3B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2288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97E9DA-B21F-469C-BFE0-4E5402D41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295525"/>
            <a:ext cx="3848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 monetizes engagement, but compute cost remains key risk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B5582A-87E0-4458-812C-DBDB3C92A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81300"/>
            <a:ext cx="200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6479C0-B24C-408B-ADA3-B6EC108B8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47975"/>
            <a:ext cx="1847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Replika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C82D22-8326-49F2-9733-9CC59CCB3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781300"/>
            <a:ext cx="2143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8FCF5B-8F97-4B3E-B10A-587046508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847975"/>
            <a:ext cx="1990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$2.36M/month Android est.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9DF921-1132-409A-B00A-057294D62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81300"/>
            <a:ext cx="219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84CE08-7FE1-4F75-AE44-9D0E2C51A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847975"/>
            <a:ext cx="2038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~$17/month subscription proxy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C557CD0-A245-43AB-A3D5-E9D43845B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78130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5036D26-2EF6-40E0-A5EB-885958704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847975"/>
            <a:ext cx="3848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 + avatar + memory can create paid intent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AA14C4C-4341-4F67-B02E-CEB795531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200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F76A65A-E784-48CF-915E-F4E7411B4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00425"/>
            <a:ext cx="1847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Finch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DAF902A-1018-4D09-8825-1534EC583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333750"/>
            <a:ext cx="2143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B171745-FFBF-4556-B796-03B00C378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400425"/>
            <a:ext cx="1990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$1.5M/month iOS est.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978B8D6-2112-4C6E-AE5E-98767AFD4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333750"/>
            <a:ext cx="219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FCAF3DE-DB9D-4756-8DA0-96ED7907E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3400425"/>
            <a:ext cx="2038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self-care pet + paid expansion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793D38E-721F-4384-B55F-5BDCCC016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33337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9B4AD79-02F5-4D4C-9045-C49454AE3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3400425"/>
            <a:ext cx="3848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soft companion + daily loop can monetize without “hard productivity”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FBFC0B4-7EAD-42C9-8909-FC492E442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86200"/>
            <a:ext cx="200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EDBA360-CA3B-4AEB-B642-94F1A1507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52875"/>
            <a:ext cx="1847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887429C-482D-46CA-995B-93EFC8599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886200"/>
            <a:ext cx="2143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36BB542-BB03-49EB-BA16-830B0545D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952875"/>
            <a:ext cx="1990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$300k/month est.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4F4D961-09DF-4ED7-B028-1B7E3B4BE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886200"/>
            <a:ext cx="219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25BF633-299E-4588-95D2-30BAC97E7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3952875"/>
            <a:ext cx="2038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readings / IAPs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198162A-09C4-4CEC-85AC-43326D1D2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388620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7F90531-47AB-4294-BAE9-063D7725A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3952875"/>
            <a:ext cx="3848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astrology monetizes personal depth, but needs careful positioning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2162026-105B-4594-B8DA-725602492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095875"/>
            <a:ext cx="4762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Деньги есть не в одной нише, а вокруг связки: personal meaning + companion + visual progress + subscription habit.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58B6698-1C59-4AA8-A0AE-1DE0A2F37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Sources: Sacra, Adapty, Rev.now public estimates. Figures are directional public proxies, not private company P&amp;L.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1768C19-A46F-4099-A873-BB733B20F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68542257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C20169-D2A8-4712-82F2-3C4011BC4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2BD1E7-0E5A-4C3A-8235-84966DAAE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BDBAAC-BB2E-4C0F-8F6F-5C0400BD1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E4E2DF-9476-4BFA-841B-A16498BB3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11C7AD-B5E5-4362-B542-C6F76832E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Customer Segments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77C197-825B-4E44-9B97-D6A18D4E0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95450"/>
            <a:ext cx="2714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7508C7-18EA-420B-83BD-B0CCCBBA8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62125"/>
            <a:ext cx="25622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Spiritual self-improvers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9AFB43-CB8D-42A2-846B-470F2EB8E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695450"/>
            <a:ext cx="4286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4C34E6-19EF-4B98-B1A0-14B2091F5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1762125"/>
            <a:ext cx="41338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уже смотрят astrology/tarot/self-care контент, но хотят меньше фатализма и больше применимости.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9D94A3-46B0-4E29-B6D4-F2565C028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69545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9818AA-F1B8-406C-8A5C-7692F7CC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1762125"/>
            <a:ext cx="27051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forecast + daily episode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F08843-29F1-4735-A2DB-9294D46C3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47950"/>
            <a:ext cx="2714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F47A22-5E9A-4467-AFF3-8C52997ED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14625"/>
            <a:ext cx="25622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/ future-self users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EBF17E-D136-4B16-89E2-236A041BB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647950"/>
            <a:ext cx="4286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087AE8-544E-41BF-B451-DD3AA5BE7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714625"/>
            <a:ext cx="41338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хотят увидеть “другую версию себя”, визуальный стиль периода и красивый share artifact.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0C28B5-1C9E-433E-90BB-87CF3EE70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64795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6A6C6F-1FF9-483E-9FE0-181E0EBF3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2714625"/>
            <a:ext cx="27051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+ avatar evolution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FCBD8B-819F-4B6C-9D29-09FBC66A6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00450"/>
            <a:ext cx="2714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056920-D6FE-4146-A6AA-6BFA342C2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67125"/>
            <a:ext cx="25622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Habit &amp; reset users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5357D7-8BA6-4203-8465-62C6B45F8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600450"/>
            <a:ext cx="4286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AD97E7-4F67-40B3-8AEB-51A6E0789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3667125"/>
            <a:ext cx="41338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пытаются действовать, но устают от сухих streak и задач без эмоционального смысла.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33A783-43BC-4BFD-AE14-E8FA9DCD8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60045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2423C6-7F06-441C-A10E-9CAF54B12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3667125"/>
            <a:ext cx="27051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2-minute action + reset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7B8982-B531-427A-82C9-F6FB50875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52950"/>
            <a:ext cx="2714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8639F74-657A-4E3D-A1BC-C354B5608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19625"/>
            <a:ext cx="25622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 users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9B0B84-8E1F-4409-AF65-AA6C92205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552950"/>
            <a:ext cx="4286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06A701-1326-4D27-8563-39DFA445F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4619625"/>
            <a:ext cx="41338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готовы к персональному AI, но нуждаются в безопасной рамке, памяти и понятной роли помощника.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E733713-D5A3-405F-9F17-ED3ABD008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55295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0F910A8-22D7-4663-953A-D16D20256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4619625"/>
            <a:ext cx="27051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карманный прогнозист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D657FB9-602A-4F6F-BA5D-6C63E35A0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57022888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4C6192-9A9C-45AA-B7CC-C8B706B0A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6D1C7F-C521-4ED5-BC72-7E66F2444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2389E3-1CD0-493E-9794-45631B3B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AE1F2D-3E76-47C1-ABA6-26E441714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4CA82D-1038-4EE3-98A4-A1BD0C6E8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Why AURA Is Needed by the Market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228FA3-7355-437A-9848-17A703036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907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7F8236-481E-43E1-8FA5-0894C356D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809750"/>
            <a:ext cx="59245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 review clusters видно: 415 сигналов про ежедневный якорь, 371 про структурирование саморазвития, 308 про видимый прогресс.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78C3D5-9008-4FF9-B5A1-3C3D4A0F7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765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6C027D-A6A2-4BA6-A7CF-CE4790C43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95550"/>
            <a:ext cx="59245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Главные причины ухода: 612 сигналов “не хватает глубины/кастомизации”, 367 сигналов “подписка не кажется ценной”.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7EE602-434F-445C-9C2D-AC31419AF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623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328F91-0EC5-4616-884B-23BE2334F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81350"/>
            <a:ext cx="59245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должна доказать ценность до paywall: личный прогноз, действие, reset и объяснимое изменение avatar / Life Canvas.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FDE10F-EFEA-449E-9095-9C912609F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00250"/>
            <a:ext cx="238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Conclusion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F49B8B-60A9-4F57-940C-B57FD3EBD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28875"/>
            <a:ext cx="3143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нужна рынку не как еще одна astrology app, а как продукт, который делает личный смысл регулярным, действенным и видимым.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E68554-D56B-40D1-BCCE-A87212F2D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183832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0DF780D-9B0C-4E88-BECE-2F3DE82F2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98CED7-3440-4690-ADA8-945E3A09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74CA41-9E6C-4472-98D3-0EED3DEC8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A38B16-3A72-4D9B-9C64-AC9E72FE2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793C1A-EE4C-494E-9EB7-8C04B7C7D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Competitors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2A5BBD-88B7-4814-B1F7-36F5EC8B0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285875"/>
            <a:ext cx="1905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556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F224A8-0E64-4C55-AEB0-25499B543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762375"/>
            <a:ext cx="7810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556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5B656A-4325-4C02-B10F-ADFCBE7D8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381375"/>
            <a:ext cx="1238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Depth of personal meaning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B8B811-198D-4B09-BFA9-174FAE697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8102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/ companion experience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93576B-A636-4B87-9E8E-B3E4EFBA3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3624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183819-B6B1-46FC-A455-B94A9678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5624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15E799-E731-4EC9-890A-7D184BBA6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333875"/>
            <a:ext cx="152400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A96E22-D626-466D-9A82-084CD99EE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533900"/>
            <a:ext cx="1371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A6F54C-21E6-4AA5-974B-358AE6FB0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381250"/>
            <a:ext cx="16192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42816D-6D87-4700-96B3-65225AA07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2581275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Replika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A581F1-8A05-4E0B-B177-33A30C844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952750"/>
            <a:ext cx="1381125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6B6692-BA7F-4532-85EB-D5CF3B368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152775"/>
            <a:ext cx="1228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Finch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9511D9-F5BA-480F-8616-CEA7D93BB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333625"/>
            <a:ext cx="2476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3F33B0-F06A-43A0-94FC-8E6F7F16D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2400300"/>
            <a:ext cx="23241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401651-56F7-4E72-B84D-C32A4298E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000375"/>
            <a:ext cx="2228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forecast + assistant + Life Canvas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37BF8F-FF9B-4235-81EF-E39B172EC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762000"/>
            <a:ext cx="2714625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4EC9BD-A20C-45AC-BE0C-F6E840A4A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952500"/>
            <a:ext cx="2381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AURA отвечает на вопрос “что со мной происходит, каким будет мой следующий шаг и как это меняет мой образ?” — не “что говорит знак” и не “какую картинку сгенерировал AI”.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61EC1D-17C4-4BE6-BAA2-944CE6819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79382886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B6031DF-FD19-4DA9-93E3-ABED0DF44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253BA1-3BAE-4B8E-A7EF-0C77A0DD5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43C31D-C79B-4200-8AC5-D034236C8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BD95D5-6951-49FE-8EDA-4793B55C2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5A15A2-A3CC-4D16-A3CC-E47B57D1E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Competitive Analysis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88E35D-C65C-479A-9DEA-413F784FD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66C8B0-7531-4F51-9576-46F263E15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 / Headspace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16D225-CCDF-4341-93E7-ED07A5BD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3FF017-9FF3-457B-9332-5F869A9E2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mindfulness, sleep, reset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63C4E9-58EF-4BEE-9808-17D3B4C55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75C389-0E41-40D1-B708-B46C1219F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доверие, ритуал, контентная библиотека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554E57-A98B-4C74-97BA-3209AFEBC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D72B30-A21F-44C9-8EA8-0B8C817C2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нет личного weekly forecast и avatar trajectory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63C4CD-53EA-40D5-8738-6DCD6F4BA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C69107-FC0A-4BED-88C0-DB87728C9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 / Nebula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AB55FC-EA14-452C-9065-1DAB0EFB0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39B54C-CC4A-4959-8D65-5FD73D81E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astrology / spiritual guidance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4D61B9-CEC3-46F7-8ADE-A09AD141A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24431E-346F-4D69-A4E8-AFFE87A30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персональный смысл, paid depth, регулярные прогнозы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7FBBEA-73C3-459F-910E-D135E5F66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6759BB-73F1-477C-B66D-E0A793F8A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риск generic readings, мало действия и visible progress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052C64-DA07-45A9-9B15-23F9A8158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9AC56E-1407-4AE0-880F-829F18920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Replika / Character.AI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3D0685-EA49-4A2C-A76C-F1C53F90E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5D062BC-8387-476C-9D9F-AF88BFB2C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 / roleplay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BABE16-FD9A-4423-A0C7-11E6D1C05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7537C20-F948-4F03-8E01-53BD913BA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диалог, память, эмоциональная связь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2F67F29-6ACE-43DE-A22A-8C27BFA76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DBA1A9-BBA1-4715-8251-2A505E577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нет life-series вокруг реальной недели пользователя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3E2880E-C21E-4B99-AE1F-88C2D7474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8D093D3-1C03-4257-AF7E-AAD923A05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Finch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7DA2CAD-1D52-4A24-96DD-3F278F63C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B673794-B71A-472B-B3B4-6D591BEB1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self-care pet + tasks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D272980-F08B-4886-A730-CA11B5841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EB75B1B-BB76-467D-AA71-A8B0D028C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мягкий habit loop, companion, забота без стыда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6923233-9D4A-49C1-BE01-E45745A8D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009A6E8-6067-4FA6-AB31-6AE658906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части аудитории слишком детско; avatar не про adult future-self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E59B866-9509-4D7E-AA52-8729E27EB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49EB8FD-2B16-4639-B3DC-949A7BDE5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5213083-2F55-42D5-9E92-F78E72375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7677497-18A3-47EF-B24B-01DFDB059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forecast + assistant + Life Canvas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5987C73-85E6-4636-B8C4-06CACB3F6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B8162C5-ED5C-48D0-BBB1-745EB1D77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личный смысл → действие → avatar evolution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7C1E300-CDBF-4319-9AA3-58F1989F4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E472149-2586-4B9E-8F38-6B177DAB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главный риск: доказать causality и удержать video cost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A7D6759-46A3-4611-B5D5-CA6E9A178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96798327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5BEFC12-93F6-43F1-8B07-A4572CEBC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0428B0-E99C-4D06-82AB-FBB0FE503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EB177E-4F2F-443D-800C-B3054A72E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91A618-18B1-4DE9-B18B-D79106036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D8CEF5-ED96-410C-A511-518767D38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Pricing Analysis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96DBE5-6C4A-428E-A4BD-8C8B78B79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752DAC-E0BD-4A4C-97BA-7570BE720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FB2D43-C8AF-4CCA-B6A7-B270B95F4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542F88-94B9-46CE-8A98-0702C747A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$14.99/mo or ~$70/yr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563434-2121-499D-A836-00C2B3FB9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020D5C-E511-473F-BCDB-50CFC654F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sleep, meditation, content library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EF83E1-B510-487D-A92F-C457B45E4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F78CC3-D36B-456B-9542-6F038AC8E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годовой план как anchor доверия и привычки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AC1146-70B8-4334-ACFF-D0DD72C96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579F6E-F5FC-46A3-82ED-B3EC8356E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Character.AI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25990F-8CC9-4ABD-9684-56454B885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305152-A6E2-499B-8FF4-3D28099AA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$9.99/mo or $94.99/yr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2B4D3D-523F-45A0-9CF0-C0F0EB929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968021-BBF4-4D1A-84D6-5319EC645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priority, memory/voice/premium access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5E1398-742E-42E2-BD90-36AFB874B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FA4A50-4FDC-40D1-B030-50C384FF0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 ceiling around $10/mo mass-market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8C5AEC-D5DE-44B1-8D92-B6AB34DC6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49B0F6-25EC-45D1-ACC1-E0F8D7373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C28AD4-FEBE-40A7-B972-2D82B2085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B03AF6-0386-4AE0-8209-F6B47F430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$7.99/wk, $24.99/mo, $29.99/3mo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49D12D-A32E-4D1D-A925-AFE9E4D73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66AE55-8A0E-41B7-B4C1-8DA16F5B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spiritual guidance, compatibility, deep readings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E798DFC-F948-4B7E-9552-F1491CE57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9539A72-C4E9-4062-B098-FFB6B8601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высокая цена возможна, но paywall вызывает риск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27DB049-BAD2-4FC8-B2CF-BE8D23682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FA2063E-5D9F-4616-B7F6-8F6CA470C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Replika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9EBF4CA-DA9D-4CA2-9167-AFE5B980E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66D8248-844E-46CB-AF36-DADD0CCAB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~$17/mo proxy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BF5B14F-C736-4F4E-83B1-D65022EBB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69D7491-DFCF-411B-963C-1667E7029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companion, avatar, voice, memory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583E47C-59B0-4B89-8F58-BE21A0533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D9F5449-5F19-4A23-9821-394985B79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intent сильный, но trust/safety важны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7177C4D-2EDB-4FD5-B89F-6F3CC5E9A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0A1A485-1687-4DC7-9120-D96DCF946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6BA6904-2BB2-4588-A1D8-D0A5A8631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3E2FB34-D842-45FC-B047-B0C67E7DA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$9.99-14.99/mo + tokens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B9E72F5-13A9-4CC2-8435-93C67A500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55F14A9-3820-4B7E-AE8D-E6D96D901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season, memory, Life Canvas, premium video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68DE18B-5300-4CC4-ADC9-0C0C2FC3C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F6AB25C-536B-414E-8566-D28646ED9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подписка ниже high-friction apps, video отдельно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6FC8C02-C617-4553-B7AE-DBF143B1C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00184544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C8C158F-0C90-4C00-ACC4-DD0A1E272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C5304B-1919-4FFB-B3DF-12609ABE6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5D7763-C27A-4FF5-B5BB-CC889D9D4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5EBA80-EBAB-42D5-92EA-C7F602DC8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CC34C6-0B07-4167-9855-75EA5FCF5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Pricing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149CB8-D443-48F8-A2A2-635DC29F8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52600"/>
            <a:ext cx="6096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is not sold before the first value moment.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D760DE-A368-4B45-AC49-7B3355405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9475E-2817-4E4B-A29C-6D8843944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381250"/>
            <a:ext cx="6115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Free: первый прогноз, Day 1 episode, одно действие/reset и первый avatar / Life Canvas moment.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A2598F-4D00-49F2-915E-B3FA1136E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C67746-9459-49A4-AE23-E15AAEF93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67050"/>
            <a:ext cx="6115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Plus: продолжение сезона, memory, weekly recap, assistant continuity, style presets и больше visual depth.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A55979-9D0A-4733-9C75-252BC3C99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338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8B0347-6319-436C-9705-6413355D5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52850"/>
            <a:ext cx="6115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 / tokens: video-avatar, cinematic future-self, trailer недели, creator season, редкие special episodes.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51AB64-44DE-4521-A882-333D2E089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196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8DAB2C-3047-4A24-BA2E-CAE6267EB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38650"/>
            <a:ext cx="6115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Правило экономики: daily loop дешевый, video только как paid event или milestone.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EDB7CD-49D0-4200-BA86-692540945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000250"/>
            <a:ext cx="23812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C3C801-23E7-43CA-A783-4062C2613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219325"/>
            <a:ext cx="2228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first loop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67B11F-063A-4B0F-AECE-60B49947F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48000"/>
            <a:ext cx="28575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B7D8CE-1B31-4EED-A8E1-3F09390CB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295650"/>
            <a:ext cx="2705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subscription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8AAFAA-8631-4951-9AD3-A15F0AE0C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238625"/>
            <a:ext cx="31432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3FCB39-26D3-455C-8E13-9B473CAA7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514850"/>
            <a:ext cx="2990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 video / tokens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200A5A-56D0-4138-A1D9-7C77730F0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56864124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6CDB691-DD63-4070-961D-66F29AFC5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81A2A6-6C61-4674-A3A8-AADE2E48A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E8066D-3940-4B22-94F9-47320BAF6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A03B1D-776D-4736-8328-735D8F4F7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24634D-8849-465C-A091-906084F3D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Financial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88DC58-7AA0-47F5-A9D4-0A9139297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D270F3-38C8-4574-A166-8F1E065A2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81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Scenario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D900AE-5F4D-4967-BAA4-C2C427A9B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8DD96D-6A0B-48D1-86E4-822A2EB51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Conservative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EC3F07-B5F8-40A4-B3C7-73317098D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E4215D-1E59-4AA3-849D-98CAE9A6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BAC385-FD96-4C76-A907-B5CE66AAE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9AA98B-FDAD-4ABF-8D65-E0994B67A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Optimistic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7DA933-D892-4F11-9E09-F546F237F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C9536A-1705-4A0B-AEBC-5A4E22B11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57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Scale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FBC235-6A5A-4771-8352-2E179EADB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B549C9-1970-4DA8-9332-2DA376F43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10k MAU / 84 payers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4E1672-BEB3-497F-8E86-ABD02A0F6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93BD10-736D-4C3A-B938-75AE70AC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50k MAU / 1,650 payers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3F86F6-9A69-4205-B772-9604396AA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387E4A-652C-40D2-BE2F-3A7206DAE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150k MAU / 8,370 payers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F91AF1-569E-4367-8BA2-2CF6CB91B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25DA8A-E059-4163-A498-18A5E8951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33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Net revenue / month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FFC31A-346F-4F49-BDA4-A18174652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7F5A65-C285-442E-A1FA-6C347FD09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$413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0C737A-FAC7-4F66-B194-455737FE3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13531C2-FA0C-4EEB-9A14-DD0918AEC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$13.1k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C769EC-CB98-4AC7-8D7E-748DCE297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79FB6F6-06A6-4905-9B69-15DFD91AB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$97.0k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EAEEA59-AEA7-4181-B207-F9D606B52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65ED574-9800-47F6-8263-4691C968E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99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Product gross margin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0473E68-E53F-4FFD-AFBE-8C550F2E9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64EA658-8D75-437E-9ADB-B0BB91AD3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29.2%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EF4497D-3007-452F-A8A9-DE88DA267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8A48CBF-8CDE-43B3-8137-D414A8E25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68.8%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377E6CE-3831-4BAF-AFC4-C0149C415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FF21056-7AE6-45D8-9C6F-87DCE1D82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70.6%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2F5EB86-1A98-457E-82DE-8DB8F9F9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9AB79E5-559A-4592-9549-3C86D4C03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86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Payback period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89ECCC8-8CA4-4A84-A3DF-AA7C7BC2A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48BCE5A-898C-47EE-AFDD-CE4E2080F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23.2 months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B6C9EF6-FB5E-4C4B-A995-B5FA17E74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3402618-283E-498A-BE6A-80FDF7119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5.5 months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9BDBB58-8EF8-492B-AB51-1E51C1370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8F7BC3B-A677-4D11-8457-A0BE22A03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4.8 months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23621F0-E8F0-406B-B747-8B2E0D82E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B38EF65-16A5-4A5A-A0F6-939ACE487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62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Verdict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9BC96B8-5A46-41DB-B49E-9F2F83D3B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F5285CA-4561-4E29-8593-DB81FEFAE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does not pass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7E32527-1079-4B08-B289-C97C7D8F4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03B758C-2804-471F-871A-8B226831E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works if video gated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90C5961-C4C9-4381-9074-305CED69F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83926C2-88D8-450F-8805-85D18239D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 but needs retention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2A415DC-5744-4938-8E9C-874C26BE9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86375"/>
            <a:ext cx="895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Main financial conclusion: AURA must feel premium outside, but keep the daily loop cheap inside.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88D7A13-8BC5-4F16-803C-FD9B91607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Assumptions: $10-14 ARPPU, image-first cost control, premium video gated. Needs recalculation after prototype telemetry.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3FABB9E-A442-49A6-B997-F554FB368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234141095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1E05338-8A45-4BB0-A62C-5694E6254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199AA5-7B4D-42DF-9FFF-AE44B877B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636E83-A734-4DD5-B214-C32BA44E7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38B221-32EA-4D99-B55F-1BAECFAE4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254476-07FD-4951-BC18-A6B4FAF89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Go-to-Market Strategy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AA6B3C-58C6-43FF-9356-242203D4F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1450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1. First 100 are not bought by ads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8E5C10-5B01-4BBD-A25E-F3568ED85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71450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теплые пользователи, interviews, ручные weekly forecasts и concierge cohort — задача не installs, а понимание петли.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678535-FAA0-446A-9242-B1D71C954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2. Creator-led proof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B44468-0BA4-4F9F-8D89-1B69C5907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4795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micro creators in astrology/self-growth/visual AI проходят “7-дневный сезон” и показывают не рекламу, а опыт.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36A501-7DBF-4FD4-80A4-25EC2C753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8140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3. TikTok / Reels / Shorts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BAE324-5CE7-47DA-9F4D-C2B7089EF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58140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future-self, weekly forecast, avatar transformation, “not horoscope”, before/after Life Canvas и paid-intent CTA.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E277B2-1FA5-463D-BD2D-A55AFC417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4. Shareable artifacts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863808-76C5-48C1-A368-73DB589B7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51485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card, season recap, future-self poster и trailer недели как viral layer после value moment.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29D84A-527E-4FD1-9CB9-D63DE7C42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43953369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CB1CE13-6807-4F1A-9B05-98897F0B3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0A425A-90E7-4D4A-8207-2D1B30D9A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4605BA-A8E2-45C4-AE2F-BDB3A5A8D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D23767-F241-403B-88E6-3152566C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55B497-62CF-4C56-AFE0-449794336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Growth Roadmap (Post-MVP)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1EE5BE-4922-44D1-93A4-48671BE78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33375" y="4762500"/>
            <a:ext cx="12192000" cy="4762500"/>
          </a:xfrm>
          <a:prstGeom xmlns:a="http://schemas.openxmlformats.org/drawingml/2006/main" prst="arc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47625">
            <a:solidFill>
              <a:srgbClr val="9B85E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7F333F-F94E-46B6-82D1-9AB0217E0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146187"/>
            <a:ext cx="1381125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431898-F990-40B0-9C98-A012360D7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46212"/>
            <a:ext cx="1228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IDEA</a:t>
            </a:r>
          </a:p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astrology + avatars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5DA4D8-2E8B-4C41-8BF1-FD40ACB4F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078702"/>
            <a:ext cx="1381125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AEC838-2B07-4D9D-8DEF-BC7800B41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3278727"/>
            <a:ext cx="1228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MVP</a:t>
            </a:r>
          </a:p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forecast + assistant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71D4EA-1E60-4BB2-BB89-86C5FA2AE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462389"/>
            <a:ext cx="1381125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576E6B-9393-4D8D-94ED-97E670502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662414"/>
            <a:ext cx="1228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First sales</a:t>
            </a:r>
          </a:p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season / Plus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093AD9-44AA-4310-A918-C0B26E047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462389"/>
            <a:ext cx="1381125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E954F1-AFC0-4343-B9F7-E97137B8E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2662414"/>
            <a:ext cx="1228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Optimization</a:t>
            </a:r>
          </a:p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retention + paywall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08D995-86A7-4C77-88FC-CD0697D44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078702"/>
            <a:ext cx="1381125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FF694D-4828-4554-96E3-D05D19C40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78727"/>
            <a:ext cx="1228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Scaling</a:t>
            </a:r>
          </a:p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creators + AI pipeline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D0A23A-5394-4C43-93E3-F274031A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146187"/>
            <a:ext cx="1619250" cy="809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4E4595-3EDD-486E-A225-17F33C554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44176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$1M ARR</a:t>
            </a:r>
          </a:p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 visual engine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C9FCC9-D531-4B2A-BC85-892EF5A09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6672771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A7AADB0-0934-4926-9418-FB05D8E32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05E565-0055-4B8F-B6A0-2ADD67AD6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DBB407-C5D9-4A8D-BEE0-D0DDA504C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6B3E41-756B-47CA-9751-E18122178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F4B37D-250B-497E-B382-BB0120E65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Product Background &amp; Evolution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00F640-3B40-4D9D-BDF5-2E3586958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907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A57B06-C096-40DA-A47F-37E182CF7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809750"/>
            <a:ext cx="5067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День 0: пользователь ищет прогноз, смысл, образ себя или мягкую опору на неделю.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E33013-16B7-40AA-A82D-DA44D9B2A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B95FE0-0FED-466F-B49D-7627684ED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5067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День 1: вводит дату рождения/контекст, выбирает помощника, получает прогноз недели и первый episode.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11F827-CB4B-409B-B54C-A2389D771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021B7F-266E-4E22-9E28-6FFF92E3A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371850"/>
            <a:ext cx="5067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День 2-7: помощник продолжает season, avatar/Canvas меняется после действий, неделя заканчивается recap или video moment.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E83974-62ED-4D7F-97AC-5FA89CC51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095500"/>
            <a:ext cx="342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Product Evolution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CCFBEA-B544-4EA7-9F08-79823B7CF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670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9C9236-B4B0-4EAF-BE3F-7237157E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686050"/>
            <a:ext cx="3067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birth data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FAB845-CD4A-4A80-B866-BA2096F9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0861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B37137-71E4-48BA-B69D-6F29D9096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105150"/>
            <a:ext cx="3067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forecast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E8A13C-C721-4CF8-8496-48633A953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5052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7E6763-A5DD-42C6-9120-AB3B636D8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524250"/>
            <a:ext cx="3067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episode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C53297-E805-44DA-AAD2-98DE6A95D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243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BAB65B-7E72-4916-ABA2-068CB511C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943350"/>
            <a:ext cx="3067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action/reset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E9F142-16BA-44E3-8006-91EA67B3E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3434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B3EB70-52CD-45AF-AC62-8EBDCA80C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362450"/>
            <a:ext cx="3067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shift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BC39BB-9539-4BE1-BEC7-01E777403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7625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6939E1-823C-4F43-AF09-CA9086CD7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781550"/>
            <a:ext cx="3067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recap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CD39035-6144-4A21-A70B-46634E7B5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657878385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66E720-3542-431F-9A60-0D0CEB2B4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CF2706-30EE-4269-891B-10B856359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2E91DD-9817-4927-A31F-EF8CB2392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C8B517-D1A6-4971-AE90-88678FC7D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4B2E48-F03C-4F8A-AEC6-E2B844D06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AI Avatar &amp; Video Pipeline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20406-C8D8-49BF-8BE9-4D7C535D3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FF6116-E79D-4DAE-8536-A6A316B0E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Birth data + request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0CD3C6-67DF-45A4-AD92-DBAF1F940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personal context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2278FA-B821-4498-BE04-CD07C685D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799D70-2F35-424F-95BD-385E03BE9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forecast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42F473-45A9-48A0-BCEB-0E61745D5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season logic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5C706A-F454-495A-B3E1-D595AF06C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E559D3-87CB-447D-9564-E61E01FC6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assistant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74984B-5410-463B-96F4-A32B45DC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text / voice dialog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280A93-D32B-45C7-B41A-5589529BF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71DF9A-F079-43DF-894B-5DC99AEC5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/ Canvas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10AF16-673D-48A0-B029-78D25F9C9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image-first evolution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E933C0-8718-4DF7-96CA-094E3847D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35B642-DDD7-4761-B3C8-23C98BC9A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 video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733E29-2306-4A59-95CD-6069ABEDD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Veo / video model as paid wow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1170FA-FAB6-40BB-BBF9-AB76F4290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7200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is a wow layer, not the core loop: official Vertex AI Veo 2 pricing is around $0.50/sec, so video should be gated.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101792-A8B9-4456-871C-47D2D0BD6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Source: Google Vertex AI pricing page for Veo 2; exact video model pricing must be rechecked before build.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C9F7C5-2C86-4719-8891-78AE11EA2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535531405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8A744A-2A6E-4AE5-89D7-0D6EEEE34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DF5861-A23B-4D93-A603-C3DCE3E56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E4A144-0771-4C52-A9CD-2A3F9754C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BEB8F9-00EC-4DB9-B5B5-4D7CCF2D6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8347E4-1CC7-4E1A-8B0B-8AE540585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Risks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B10E32-182E-424B-8D25-92D8EA941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349F7E-7F34-44C9-8CC9-09FE09DA4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811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Looks like horoscope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2E56B8-A5F7-41C2-897B-5241DB427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7145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90C77F-B9B1-4C69-8859-C45447ED7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17811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 thinks it is generic astrology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B35079-6F40-41AD-BDD0-4C2855BF8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7145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68AE82-D333-4640-884B-51FBF07CD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17811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position as life-series and action, not fate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F1BCA8-1F36-4F1E-89C9-F1A7A4011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72A98C-7829-49E6-9BA9-F20B903D4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669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feels random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568808-039A-43E6-9769-663432E9F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4003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F0A299-4DA5-4689-B9AA-494BC3411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24669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 cannot explain visual change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B371A4-B54D-4183-9BBE-44CA2C61F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4003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72BE0F-7BB6-4031-B699-EF7076C8C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4669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show cause next to Canvas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6738DC-EB91-4A2F-B651-9CD7782F3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3628A3-4AA8-4432-A17A-5DD22FCC6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527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cost kills margin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08BD0D-DD5C-4005-8437-4B7C70952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0861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79C0C4-75AC-486C-94DC-27E294809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1527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users generate expensive clips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57FF90-DCFE-4B48-B987-60588CF79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0861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F0517B-82F5-45A0-8C8F-338620B93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1527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premium/token video only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BEB4CA-CE86-4D26-B3DB-E77C69025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719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4DF164-3F12-4D59-891E-EC72F1C62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385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AI sounds generic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EC00D5-DBAF-4C6B-B7DD-36987DCF7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7719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ECB68D7-69C7-42CF-8803-D7BB6BB8C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8385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low trust and no return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615A9CF-5916-479F-9B33-3F07A8B2C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7719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539CC62-7906-4571-8740-7B3D4DD0B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8385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prompt QA + feedback loop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A75506-CD4B-498E-835A-8F295A3DC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426067-DABD-4DDE-84B8-A5E6AFDA9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243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No paid intent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95356ED-6620-4381-B680-AC49768F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4577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45B0934-1ADD-49D2-A3D9-7AAEF9AC8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5243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users like it but do not pay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13D9A74-C996-4049-A2A7-7FBA92EC8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4577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B4D1200-3443-4CA1-BF28-538AFBD7F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5243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paywall after first completed loop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1C517B9-BDC0-40FD-9A5A-99E9A4541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81458449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C259131-361A-4FB0-9AC3-8E521FC8C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FAA8FD-FFC2-4FFF-BAE7-FC004858C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847C30-CFDD-411D-84D2-B2E8B3E45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4B31B3-0569-469C-A39E-EFB71699F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D9A625-41A2-4A0F-9EF9-973A9615D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30-Day Validation Plan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B61F3D-E4BB-44E6-906E-394339E0E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FAE442-378C-4459-90B8-465191349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557019-DDA6-45D2-B2A8-0207A9E65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20-30 interviews + manual competitor review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F61D66-3270-4D60-951F-0B6FE1568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DF8CBC-882F-4FD7-ACFC-35FEA68C1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8F4BF7-8A60-4292-B625-AB7C74E6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10-screen prototype + 2 Life Canvas styles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B4503B-8E48-4416-B981-441A9C032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6A8B1E-85F4-4D52-BDE3-F005507FE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9FA91-B122-4103-8B62-3C343F16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landing + price test $7.99/$9.99/$14.99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DB0359-460C-4405-AA97-6A2C4F92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0671B8-E98E-478F-B484-92575CB54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137B9E-2F1F-470B-97B5-CE5E9D2EF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30-50 concierge users through 3-7 days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2A051E-0CFB-43E7-B5B1-C7C26A5B2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228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Success metrics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C2C5B9-CE8F-45B8-A913-AE56B86A5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972050"/>
            <a:ext cx="895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&gt;70% understand category  /  &gt;50% explain avatar change  /  D1 &gt;20%  /  paid intent &gt;5%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D7CC04-5698-4D1C-A98F-F84095261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56079585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D8AF50B-11EC-4028-A3D0-F86C23D10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95E60C-0565-4C19-9C73-B44FEB0C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CA0607-8BF2-46EE-AA5E-76804CCD4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9741CD-C4AC-4039-BA4B-E84EAF91F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5193E1-8FE1-48C4-903C-2A3448481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Contacts / Next Step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7A4910-AD9D-4760-B7E5-FB66CE428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38375"/>
            <a:ext cx="3429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20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DE87FC-7A0A-44AB-8D20-029F414FE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333750"/>
            <a:ext cx="666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Next step: generate 3-5 avatar/video examples, assemble clickable prototype, and validate the first weekly season with real users.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93C13C-4277-4986-AAD1-79AF9668B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762500"/>
            <a:ext cx="723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Prototype → interviews → concierge cohort → paid intent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32AEF3-8AD7-4DB8-9114-AC44F9BBB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50682441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2026-06-02T16:54:53.0260000Z</dcterms:created>
  <dcterms:modified xsi:type="dcterms:W3CDTF">2026-06-02T16:54:53.0260000Z</dcterms:modified>
</coreProperties>
</file>