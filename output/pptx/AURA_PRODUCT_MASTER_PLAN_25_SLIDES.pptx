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7fd6193c44948e0" /><Relationship Type="http://schemas.openxmlformats.org/officeDocument/2006/relationships/extended-properties" Target="/docProps/app.xml" Id="R84704ae7ef8f4862" /><Relationship Type="http://schemas.openxmlformats.org/officeDocument/2006/relationships/officeDocument" Target="/ppt/presentation.xml" Id="Rbc188c78ac00484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5656048fe974a48"/>
  </p:sldMasterIdLst>
  <p:notesMasterIdLst>
    <p:notesMasterId xmlns:r="http://schemas.openxmlformats.org/officeDocument/2006/relationships" r:id="R0f867bd382fb4302"/>
  </p:notesMasterIdLst>
  <p:sldIdLst>
    <p:sldId xmlns:r="http://schemas.openxmlformats.org/officeDocument/2006/relationships" id="256" r:id="Ra8fef56216a541a4"/>
    <p:sldId xmlns:r="http://schemas.openxmlformats.org/officeDocument/2006/relationships" id="257" r:id="R2ea8055ccf64445a"/>
    <p:sldId xmlns:r="http://schemas.openxmlformats.org/officeDocument/2006/relationships" id="258" r:id="R1b87a85e099745c4"/>
    <p:sldId xmlns:r="http://schemas.openxmlformats.org/officeDocument/2006/relationships" id="259" r:id="R2fee276ba79944ac"/>
    <p:sldId xmlns:r="http://schemas.openxmlformats.org/officeDocument/2006/relationships" id="260" r:id="R65c0dd41eaef4331"/>
    <p:sldId xmlns:r="http://schemas.openxmlformats.org/officeDocument/2006/relationships" id="261" r:id="R5227a50132c44c9a"/>
    <p:sldId xmlns:r="http://schemas.openxmlformats.org/officeDocument/2006/relationships" id="262" r:id="R753b1c7eac4946a3"/>
    <p:sldId xmlns:r="http://schemas.openxmlformats.org/officeDocument/2006/relationships" id="263" r:id="R217b99f674144e2b"/>
    <p:sldId xmlns:r="http://schemas.openxmlformats.org/officeDocument/2006/relationships" id="264" r:id="Rceaddcfa28ab4117"/>
    <p:sldId xmlns:r="http://schemas.openxmlformats.org/officeDocument/2006/relationships" id="265" r:id="Rd1b8024be1b64bab"/>
    <p:sldId xmlns:r="http://schemas.openxmlformats.org/officeDocument/2006/relationships" id="266" r:id="R3c2a07367b10499b"/>
    <p:sldId xmlns:r="http://schemas.openxmlformats.org/officeDocument/2006/relationships" id="267" r:id="R6f2b6409b5ec4f27"/>
    <p:sldId xmlns:r="http://schemas.openxmlformats.org/officeDocument/2006/relationships" id="268" r:id="R2a5330e64c0f44a8"/>
    <p:sldId xmlns:r="http://schemas.openxmlformats.org/officeDocument/2006/relationships" id="269" r:id="Rb89572a82fab4709"/>
    <p:sldId xmlns:r="http://schemas.openxmlformats.org/officeDocument/2006/relationships" id="270" r:id="R6a1294cb416b4b76"/>
    <p:sldId xmlns:r="http://schemas.openxmlformats.org/officeDocument/2006/relationships" id="271" r:id="R685747022fc042cb"/>
    <p:sldId xmlns:r="http://schemas.openxmlformats.org/officeDocument/2006/relationships" id="272" r:id="Rb644251a72ae41bd"/>
    <p:sldId xmlns:r="http://schemas.openxmlformats.org/officeDocument/2006/relationships" id="273" r:id="Re01d6465accd416f"/>
    <p:sldId xmlns:r="http://schemas.openxmlformats.org/officeDocument/2006/relationships" id="274" r:id="R47448b8bcd7b460e"/>
    <p:sldId xmlns:r="http://schemas.openxmlformats.org/officeDocument/2006/relationships" id="275" r:id="R7adceeb613634f57"/>
    <p:sldId xmlns:r="http://schemas.openxmlformats.org/officeDocument/2006/relationships" id="276" r:id="R4ff1aec4a4184ae4"/>
    <p:sldId xmlns:r="http://schemas.openxmlformats.org/officeDocument/2006/relationships" id="277" r:id="R17f33eaa4d6941cf"/>
    <p:sldId xmlns:r="http://schemas.openxmlformats.org/officeDocument/2006/relationships" id="278" r:id="R1220e3a31f714d49"/>
    <p:sldId xmlns:r="http://schemas.openxmlformats.org/officeDocument/2006/relationships" id="279" r:id="R11edea55fa1644ba"/>
    <p:sldId xmlns:r="http://schemas.openxmlformats.org/officeDocument/2006/relationships" id="280" r:id="R3b9220c4ff0f4d9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656048fe974a48" /><Relationship Type="http://schemas.openxmlformats.org/officeDocument/2006/relationships/theme" Target="/ppt/theme/theme1.xml" Id="R302d03ef9faf4809" /><Relationship Type="http://schemas.openxmlformats.org/officeDocument/2006/relationships/notesMaster" Target="/ppt/notesMasters/notesMaster1.xml" Id="R0f867bd382fb4302" /><Relationship Type="http://schemas.openxmlformats.org/officeDocument/2006/relationships/presProps" Target="/ppt/presProps.xml" Id="Ra8579d94184c4ad4" /><Relationship Type="http://schemas.openxmlformats.org/officeDocument/2006/relationships/viewProps" Target="/ppt/viewProps.xml" Id="R4f462a0124ef48e7" /><Relationship Type="http://schemas.openxmlformats.org/officeDocument/2006/relationships/tableStyles" Target="/ppt/tableStyles.xml" Id="Re73f2eb0c2984178" /><Relationship Type="http://schemas.openxmlformats.org/officeDocument/2006/relationships/slide" Target="/ppt/slides/slide1.xml" Id="Ra8fef56216a541a4" /><Relationship Type="http://schemas.openxmlformats.org/officeDocument/2006/relationships/slide" Target="/ppt/slides/slide2.xml" Id="R2ea8055ccf64445a" /><Relationship Type="http://schemas.openxmlformats.org/officeDocument/2006/relationships/slide" Target="/ppt/slides/slide3.xml" Id="R1b87a85e099745c4" /><Relationship Type="http://schemas.openxmlformats.org/officeDocument/2006/relationships/slide" Target="/ppt/slides/slide4.xml" Id="R2fee276ba79944ac" /><Relationship Type="http://schemas.openxmlformats.org/officeDocument/2006/relationships/slide" Target="/ppt/slides/slide5.xml" Id="R65c0dd41eaef4331" /><Relationship Type="http://schemas.openxmlformats.org/officeDocument/2006/relationships/slide" Target="/ppt/slides/slide6.xml" Id="R5227a50132c44c9a" /><Relationship Type="http://schemas.openxmlformats.org/officeDocument/2006/relationships/slide" Target="/ppt/slides/slide7.xml" Id="R753b1c7eac4946a3" /><Relationship Type="http://schemas.openxmlformats.org/officeDocument/2006/relationships/slide" Target="/ppt/slides/slide8.xml" Id="R217b99f674144e2b" /><Relationship Type="http://schemas.openxmlformats.org/officeDocument/2006/relationships/slide" Target="/ppt/slides/slide9.xml" Id="Rceaddcfa28ab4117" /><Relationship Type="http://schemas.openxmlformats.org/officeDocument/2006/relationships/slide" Target="/ppt/slides/slide10.xml" Id="Rd1b8024be1b64bab" /><Relationship Type="http://schemas.openxmlformats.org/officeDocument/2006/relationships/slide" Target="/ppt/slides/slide11.xml" Id="R3c2a07367b10499b" /><Relationship Type="http://schemas.openxmlformats.org/officeDocument/2006/relationships/slide" Target="/ppt/slides/slide12.xml" Id="R6f2b6409b5ec4f27" /><Relationship Type="http://schemas.openxmlformats.org/officeDocument/2006/relationships/slide" Target="/ppt/slides/slide13.xml" Id="R2a5330e64c0f44a8" /><Relationship Type="http://schemas.openxmlformats.org/officeDocument/2006/relationships/slide" Target="/ppt/slides/slide14.xml" Id="Rb89572a82fab4709" /><Relationship Type="http://schemas.openxmlformats.org/officeDocument/2006/relationships/slide" Target="/ppt/slides/slide15.xml" Id="R6a1294cb416b4b76" /><Relationship Type="http://schemas.openxmlformats.org/officeDocument/2006/relationships/slide" Target="/ppt/slides/slide16.xml" Id="R685747022fc042cb" /><Relationship Type="http://schemas.openxmlformats.org/officeDocument/2006/relationships/slide" Target="/ppt/slides/slide17.xml" Id="Rb644251a72ae41bd" /><Relationship Type="http://schemas.openxmlformats.org/officeDocument/2006/relationships/slide" Target="/ppt/slides/slide18.xml" Id="Re01d6465accd416f" /><Relationship Type="http://schemas.openxmlformats.org/officeDocument/2006/relationships/slide" Target="/ppt/slides/slide19.xml" Id="R47448b8bcd7b460e" /><Relationship Type="http://schemas.openxmlformats.org/officeDocument/2006/relationships/slide" Target="/ppt/slides/slide20.xml" Id="R7adceeb613634f57" /><Relationship Type="http://schemas.openxmlformats.org/officeDocument/2006/relationships/slide" Target="/ppt/slides/slide21.xml" Id="R4ff1aec4a4184ae4" /><Relationship Type="http://schemas.openxmlformats.org/officeDocument/2006/relationships/slide" Target="/ppt/slides/slide22.xml" Id="R17f33eaa4d6941cf" /><Relationship Type="http://schemas.openxmlformats.org/officeDocument/2006/relationships/slide" Target="/ppt/slides/slide23.xml" Id="R1220e3a31f714d49" /><Relationship Type="http://schemas.openxmlformats.org/officeDocument/2006/relationships/slide" Target="/ppt/slides/slide24.xml" Id="R11edea55fa1644ba" /><Relationship Type="http://schemas.openxmlformats.org/officeDocument/2006/relationships/slide" Target="/ppt/slides/slide25.xml" Id="R3b9220c4ff0f4d9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b370e8be16cf407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08d3d9459c745b4" /><Relationship Type="http://schemas.openxmlformats.org/officeDocument/2006/relationships/notesMaster" Target="/ppt/notesMasters/notesMaster1.xml" Id="R056774babdba485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05de27cd06b4220" /><Relationship Type="http://schemas.openxmlformats.org/officeDocument/2006/relationships/notesMaster" Target="/ppt/notesMasters/notesMaster1.xml" Id="R13f5c682d053435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726644e4b2a4bb1" /><Relationship Type="http://schemas.openxmlformats.org/officeDocument/2006/relationships/notesMaster" Target="/ppt/notesMasters/notesMaster1.xml" Id="Rede564b3a08d498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bbea90e9f334384" /><Relationship Type="http://schemas.openxmlformats.org/officeDocument/2006/relationships/notesMaster" Target="/ppt/notesMasters/notesMaster1.xml" Id="Rea17e766eaa7407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fa213981c814512" /><Relationship Type="http://schemas.openxmlformats.org/officeDocument/2006/relationships/notesMaster" Target="/ppt/notesMasters/notesMaster1.xml" Id="R03ace62ae26f46c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65af5636f744fa3" /><Relationship Type="http://schemas.openxmlformats.org/officeDocument/2006/relationships/notesMaster" Target="/ppt/notesMasters/notesMaster1.xml" Id="R79959d2eec2f4ba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80a56657032485b" /><Relationship Type="http://schemas.openxmlformats.org/officeDocument/2006/relationships/notesMaster" Target="/ppt/notesMasters/notesMaster1.xml" Id="R0987c65da0644fe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0673f188736478d" /><Relationship Type="http://schemas.openxmlformats.org/officeDocument/2006/relationships/notesMaster" Target="/ppt/notesMasters/notesMaster1.xml" Id="R8bc0aecee458490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9329a2714244104" /><Relationship Type="http://schemas.openxmlformats.org/officeDocument/2006/relationships/notesMaster" Target="/ppt/notesMasters/notesMaster1.xml" Id="R3a4d373d2f3e4e1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5ae97dc87954b8e" /><Relationship Type="http://schemas.openxmlformats.org/officeDocument/2006/relationships/notesMaster" Target="/ppt/notesMasters/notesMaster1.xml" Id="Ra18a34faff124d9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6417446eb224e9d" /><Relationship Type="http://schemas.openxmlformats.org/officeDocument/2006/relationships/notesMaster" Target="/ppt/notesMasters/notesMaster1.xml" Id="Rc3477a48d511498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2d71ae63eb9481d" /><Relationship Type="http://schemas.openxmlformats.org/officeDocument/2006/relationships/notesMaster" Target="/ppt/notesMasters/notesMaster1.xml" Id="R143f42a65b05464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8202219f6b547c9" /><Relationship Type="http://schemas.openxmlformats.org/officeDocument/2006/relationships/notesMaster" Target="/ppt/notesMasters/notesMaster1.xml" Id="Rf49d3b2617cd4e7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ff0a8222ecf4486" /><Relationship Type="http://schemas.openxmlformats.org/officeDocument/2006/relationships/notesMaster" Target="/ppt/notesMasters/notesMaster1.xml" Id="Re6d7261854cb465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c04798d5501431b" /><Relationship Type="http://schemas.openxmlformats.org/officeDocument/2006/relationships/notesMaster" Target="/ppt/notesMasters/notesMaster1.xml" Id="R4f85b1e95cea428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6abb064b93d49a6" /><Relationship Type="http://schemas.openxmlformats.org/officeDocument/2006/relationships/notesMaster" Target="/ppt/notesMasters/notesMaster1.xml" Id="R009141b9908740f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a8ef47e512b4011" /><Relationship Type="http://schemas.openxmlformats.org/officeDocument/2006/relationships/notesMaster" Target="/ppt/notesMasters/notesMaster1.xml" Id="Ra4a265db5e0a43f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b98e440244c4159" /><Relationship Type="http://schemas.openxmlformats.org/officeDocument/2006/relationships/notesMaster" Target="/ppt/notesMasters/notesMaster1.xml" Id="R1faae613659e4b34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abf9507677741c7" /><Relationship Type="http://schemas.openxmlformats.org/officeDocument/2006/relationships/notesMaster" Target="/ppt/notesMasters/notesMaster1.xml" Id="Rbd5e19aafc3f4522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29577839af643ca" /><Relationship Type="http://schemas.openxmlformats.org/officeDocument/2006/relationships/notesMaster" Target="/ppt/notesMasters/notesMaster1.xml" Id="R9162fea41b264a46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6480ee85fd5a481b" /><Relationship Type="http://schemas.openxmlformats.org/officeDocument/2006/relationships/notesMaster" Target="/ppt/notesMasters/notesMaster1.xml" Id="Ra3fcac43da4344cd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234241ce8f0b4f41" /><Relationship Type="http://schemas.openxmlformats.org/officeDocument/2006/relationships/notesMaster" Target="/ppt/notesMasters/notesMaster1.xml" Id="R00c99023919940fe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938af6f593774c61" /><Relationship Type="http://schemas.openxmlformats.org/officeDocument/2006/relationships/notesMaster" Target="/ppt/notesMasters/notesMaster1.xml" Id="R74b71d8a9648419b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a9a14ce991074a58" /><Relationship Type="http://schemas.openxmlformats.org/officeDocument/2006/relationships/notesMaster" Target="/ppt/notesMasters/notesMaster1.xml" Id="R47b9b95094074201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eb0eccf755384a4e" /><Relationship Type="http://schemas.openxmlformats.org/officeDocument/2006/relationships/notesMaster" Target="/ppt/notesMasters/notesMaster1.xml" Id="Ra5d811dd2f0541f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e151c4b5db4426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945a464c4f7d40b4" /><Relationship Type="http://schemas.openxmlformats.org/officeDocument/2006/relationships/slideLayout" Target="/ppt/slideLayouts/slideLayout2.xml" Id="R031b71814389431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31b71814389431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e62527bea5541c9" /><Relationship Type="http://schemas.openxmlformats.org/officeDocument/2006/relationships/notesSlide" Target="/ppt/notesSlides/notesSlide1.xml" Id="R6e909eda43ef481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1885b9175cc47a7" /><Relationship Type="http://schemas.openxmlformats.org/officeDocument/2006/relationships/notesSlide" Target="/ppt/notesSlides/notesSlide2.xml" Id="R30591d0c821d40b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9b50577138c4bc3" /><Relationship Type="http://schemas.openxmlformats.org/officeDocument/2006/relationships/notesSlide" Target="/ppt/notesSlides/notesSlide3.xml" Id="R3706e82e07f640b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161a94122f0455e" /><Relationship Type="http://schemas.openxmlformats.org/officeDocument/2006/relationships/notesSlide" Target="/ppt/notesSlides/notesSlide4.xml" Id="R73860a971d8e4c2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eec2075e94a4150" /><Relationship Type="http://schemas.openxmlformats.org/officeDocument/2006/relationships/notesSlide" Target="/ppt/notesSlides/notesSlide5.xml" Id="Rfcb81b0f60a8478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a0d2cc40f9a4f65" /><Relationship Type="http://schemas.openxmlformats.org/officeDocument/2006/relationships/notesSlide" Target="/ppt/notesSlides/notesSlide6.xml" Id="R228cb44be33d435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a0ac7db2b6349ef" /><Relationship Type="http://schemas.openxmlformats.org/officeDocument/2006/relationships/notesSlide" Target="/ppt/notesSlides/notesSlide7.xml" Id="R583b303fc35349b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98ff061ea87419a" /><Relationship Type="http://schemas.openxmlformats.org/officeDocument/2006/relationships/notesSlide" Target="/ppt/notesSlides/notesSlide8.xml" Id="R0fc1aa2ac3da422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30eb63aafcf453b" /><Relationship Type="http://schemas.openxmlformats.org/officeDocument/2006/relationships/notesSlide" Target="/ppt/notesSlides/notesSlide9.xml" Id="R66e93dffced845c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915b686faba4886" /><Relationship Type="http://schemas.openxmlformats.org/officeDocument/2006/relationships/notesSlide" Target="/ppt/notesSlides/notesSlide10.xml" Id="Rea0737b54a7645b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f5889ebca8748b2" /><Relationship Type="http://schemas.openxmlformats.org/officeDocument/2006/relationships/notesSlide" Target="/ppt/notesSlides/notesSlide11.xml" Id="Rc3e908ef5d41491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bd5a01e01094d57" /><Relationship Type="http://schemas.openxmlformats.org/officeDocument/2006/relationships/notesSlide" Target="/ppt/notesSlides/notesSlide12.xml" Id="Rf2bb3880d3604b4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02f5b1a6c094100" /><Relationship Type="http://schemas.openxmlformats.org/officeDocument/2006/relationships/notesSlide" Target="/ppt/notesSlides/notesSlide13.xml" Id="R19422646529a4a3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85808cee9de4333" /><Relationship Type="http://schemas.openxmlformats.org/officeDocument/2006/relationships/notesSlide" Target="/ppt/notesSlides/notesSlide14.xml" Id="Rc0f04ceaeda04e1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fe81e633f014c39" /><Relationship Type="http://schemas.openxmlformats.org/officeDocument/2006/relationships/notesSlide" Target="/ppt/notesSlides/notesSlide15.xml" Id="R281f53703f8245b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0ea855635424663" /><Relationship Type="http://schemas.openxmlformats.org/officeDocument/2006/relationships/notesSlide" Target="/ppt/notesSlides/notesSlide16.xml" Id="Rc6b439c315474c7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b6480d86e204ea7" /><Relationship Type="http://schemas.openxmlformats.org/officeDocument/2006/relationships/notesSlide" Target="/ppt/notesSlides/notesSlide17.xml" Id="R11c51b673fb2438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e26dba2484b47a1" /><Relationship Type="http://schemas.openxmlformats.org/officeDocument/2006/relationships/notesSlide" Target="/ppt/notesSlides/notesSlide18.xml" Id="Rdf0c016c968b4d40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2f2f62cace5474f" /><Relationship Type="http://schemas.openxmlformats.org/officeDocument/2006/relationships/notesSlide" Target="/ppt/notesSlides/notesSlide19.xml" Id="R2a26a43317954d1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02ccd37d54942ee" /><Relationship Type="http://schemas.openxmlformats.org/officeDocument/2006/relationships/notesSlide" Target="/ppt/notesSlides/notesSlide20.xml" Id="Rca15f07d28b4450f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d7e446deead408c" /><Relationship Type="http://schemas.openxmlformats.org/officeDocument/2006/relationships/notesSlide" Target="/ppt/notesSlides/notesSlide21.xml" Id="Ra2f785ef3c534e1b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6d68872d8aa497f" /><Relationship Type="http://schemas.openxmlformats.org/officeDocument/2006/relationships/notesSlide" Target="/ppt/notesSlides/notesSlide22.xml" Id="R2a60bd899bc64ac8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b731572f3804dae" /><Relationship Type="http://schemas.openxmlformats.org/officeDocument/2006/relationships/notesSlide" Target="/ppt/notesSlides/notesSlide23.xml" Id="Ra027d4cce21c4a46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45d5cf5a5e64026" /><Relationship Type="http://schemas.openxmlformats.org/officeDocument/2006/relationships/notesSlide" Target="/ppt/notesSlides/notesSlide24.xml" Id="Ra69cf416d1b34fa8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842b9a24e0746e1" /><Relationship Type="http://schemas.openxmlformats.org/officeDocument/2006/relationships/notesSlide" Target="/ppt/notesSlides/notesSlide25.xml" Id="R239b8f64651742d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163C576-476B-4EB9-A63A-04354779C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3A40BF-F305-4A0D-9AA6-ADD70D852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AURA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F0228B-70D4-49FA-85FE-29199E5D3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28575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7D8D60-3A96-4191-9DF9-DE3914E3C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5905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AURA: продуктовая система, а не AI-картинка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190167-11E6-4370-812E-D965AEEE1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0"/>
            <a:ext cx="11163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998078-C57C-436A-9F05-8EAD96504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72200"/>
            <a:ext cx="2095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Что должен понять человек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258CDB-67F3-4D3F-9013-7579A928F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24600"/>
            <a:ext cx="10782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AURA держится на причинной петле Episode → Action → Reset → Reflection → Life Canvas → Tomorrow Hook.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7B72C2-F806-46EE-9634-3031A1EBD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A2E833-90BA-4914-AB20-F5D354CC4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95450"/>
            <a:ext cx="4524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AURA превращает личный контекст в ежедневный эпизод, действие и видимый след.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6EE780-2CAC-48C7-9C45-1540F933D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153D5E-990E-40D4-B6DE-E3891A9E2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09800"/>
            <a:ext cx="4524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Центральная проверка: пользователь должен понять, почему изменился Life Canvas.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696361-91BB-42C4-9B98-E5A91D035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8E05AD-1C3F-4FA0-9B7F-166361F08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24150"/>
            <a:ext cx="4524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Если картинка кажется случайной, продукт теряет смысл.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D165CD-DC10-41F6-97F8-8907FE605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956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2AF63F-151F-4B11-A72F-F7F57A49C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38500"/>
            <a:ext cx="4524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Если картинка считывается как след действия, появляется новая категория.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1F97B0-C364-4B67-9B99-013BEE163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19250"/>
            <a:ext cx="5334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05C626-83E1-44F0-8D78-0C24A7EB0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962150"/>
            <a:ext cx="200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BBD5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31C2AB-30E8-41AC-B162-C52F622AE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0574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Episode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2F86BC-B284-44B0-A434-0026B0448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29552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39D4E3-762B-4EBE-8093-288E37B93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419350"/>
            <a:ext cx="200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BBD5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27AF32-A7FD-4A97-830A-2D62A286C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5146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Action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5BEB79-0842-4A69-8172-E5BA7CA34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75272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D1D25A-4E9E-440A-AEBC-8A04B46AC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876550"/>
            <a:ext cx="200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BBD5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FACEA1C-C238-47C3-B90C-F35A24E8D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9718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Reset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1A959F9-72FE-4D60-B8C4-93B2A8398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20992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792A2D8-506B-4042-8994-CFF205765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333750"/>
            <a:ext cx="200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BBD5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DCF4F13-635F-4F0F-A325-C72227018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4290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Reflection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97D4FC2-3A85-4F4A-A070-B09FD3129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66712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11B47A0-B60F-47B3-B51A-3A089236D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790950"/>
            <a:ext cx="200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BBD5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936EDA0-5FC1-41D9-BC63-D6574F4D8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8862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Life Canvas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5512AFD-FC6B-41A7-B45F-C4C2A5EBA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12432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63E0AD1-AF17-493A-A637-091639A5F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248150"/>
            <a:ext cx="200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BBD5F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3BFE119-38E4-44A4-AE9A-437409FCE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3434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Tomorrow Hook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58337AA-D44A-4C9A-8624-91D76936C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162550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Core loop diagram</a:t>
            </a:r>
          </a:p>
        </p:txBody>
      </p:sp>
    </p:spTree>
    <p:extLst>
      <p:ext uri="{BB962C8B-B14F-4D97-AF65-F5344CB8AC3E}">
        <p14:creationId xmlns:p14="http://schemas.microsoft.com/office/powerpoint/2010/main" val="61002795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2B4B9B7-2475-4075-873D-835455E42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7E505C-8634-40FA-9285-7FF279F6D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AURA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802979-B59D-4109-837B-C4C8B19D5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28575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D102BB-DDB3-4A9E-A033-1206B2F7C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5905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Почему проект существует сейчас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E0F90B-16DF-46E8-8413-5AC26676C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0"/>
            <a:ext cx="11163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6A64DE-C88C-4EFC-9C07-C5588EABD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72200"/>
            <a:ext cx="2095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Что должен понять человек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05C10B-9B0E-4236-B956-A2A17227C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24600"/>
            <a:ext cx="10782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AURA не нужно создавать спрос с нуля; нужно соединить существующие спросы в новую форму.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F0D73A-9250-42A6-9D2D-8EFD22FCC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AC082D-6D1B-4FB8-8576-8E3529460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95450"/>
            <a:ext cx="4524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Рынок уже платит за self-care, смысл, progress, coaching и AI-визуализацию.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32E6F5-C875-4AD4-9D9C-181E75856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C122FA-26D8-4D14-95E8-35CF6C5AB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09800"/>
            <a:ext cx="4524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Но эти категории часто живут отдельно.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219184-DE6D-4106-9A1A-D1DD31C91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341E9A-EF76-4D7C-8829-D7B1B062D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24150"/>
            <a:ext cx="4524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Пользователь получает либо смысл без действия, либо действие без образа, либо образ без причинности.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74AEE7-C912-458F-A0E1-08741BEDF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956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CB988F-A016-4D7B-B369-9AB614B98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38500"/>
            <a:ext cx="4524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AURA собирает эти фрагменты в один ежедневный ритуал.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9E2F20-960F-4FF9-A10E-5C6843517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19250"/>
            <a:ext cx="5334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0A5B31-E127-4250-97D4-AE288D325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86000"/>
            <a:ext cx="123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BBD5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2A8CB3-FC55-4F99-A9EE-E0E67612A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38125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Mindfulness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B47494-D563-4BB9-B7D6-42FFA50A7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81200"/>
            <a:ext cx="123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BBD5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05FDD7-6DBF-4DD8-8A23-696714A8F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7645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Astrology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0500DC-B62A-4C8A-B3D0-7BED4E222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286000"/>
            <a:ext cx="123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BBD5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2DE4EA-4072-48D8-991F-2FA8C21C0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38125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Avatar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0864235-B207-4728-ACF4-8BBFEE253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619500"/>
            <a:ext cx="123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BD5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46768B0-0797-42AE-B87A-93CDAAD49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71475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Coaching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2CE5477-7EFA-4547-A5C5-DD3D267E0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19500"/>
            <a:ext cx="123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BD5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187FF0E-8792-4153-B53A-305ED553E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71475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Progression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9A45C8B-29CC-4771-961C-B3A4902F3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905125"/>
            <a:ext cx="1333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10182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188E8FA-E3CD-4D77-B114-10C21761D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086100"/>
            <a:ext cx="1333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AURA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12903E5-34EF-4244-A8B8-F2955473B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162550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Category intersection</a:t>
            </a:r>
          </a:p>
        </p:txBody>
      </p:sp>
    </p:spTree>
    <p:extLst>
      <p:ext uri="{BB962C8B-B14F-4D97-AF65-F5344CB8AC3E}">
        <p14:creationId xmlns:p14="http://schemas.microsoft.com/office/powerpoint/2010/main" val="213186641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7614420-1687-4BA5-ABAF-50DA4E78B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D79006-F92E-45BF-B425-D911B5115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AURA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D44C15-0AC9-4B56-ABA1-52BF1ADB2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28575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B66C7D-3B41-43A4-B851-3963C4B42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5905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Пять категорий дают пять слоев продукта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D72CE4-5FBA-49DD-80BB-B1923830D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0"/>
            <a:ext cx="11163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151727-8A64-4553-8FFC-C6CF0EBF1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72200"/>
            <a:ext cx="2095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Что должен понять человек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0C124F-844B-4448-A164-72F0CF7CC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24600"/>
            <a:ext cx="10782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Рынки важны не как цифры сами по себе, а как источники функций AURA.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DC10AD-49D7-42EE-A170-48B9899C9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13250C-F167-4909-B099-A99A59F1A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95450"/>
            <a:ext cx="4524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Mindfulness дает reset и эмоциональный вход.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EE8926-835F-479B-8FA0-52F462ADF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EA60A1-356B-4940-90E1-50E51BA5D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09800"/>
            <a:ext cx="4524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Astrology/self-discovery дает язык личного смысла.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13C1B4-1968-4814-B697-B5F4AEF37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855B62-A7B1-4461-8CD5-DECDD4EF5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24150"/>
            <a:ext cx="4524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Coaching и habits дают действие и accountability.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602894-BE33-4883-BAEB-7FC45F455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956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FFADB9-0808-42EF-9EBA-A8EE71EF0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38500"/>
            <a:ext cx="4524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Avatar/identity дает видимый образ изменения.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E94BB3-41DA-4A7B-B48A-886FD660D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B0DB50-19EF-47B9-A9D0-21F2B17D7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52850"/>
            <a:ext cx="4524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Gaming/progression дает возврат и накопление.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4707B7-AC15-4BE1-85D8-4D54346D5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19250"/>
            <a:ext cx="5334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204ADF-8B7F-433E-8C3C-A3CADA429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962150"/>
            <a:ext cx="200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BBD5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50EE4B-D26E-46F9-9798-A28A1CE61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0574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Episode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F0B53A-3081-41FA-A588-54511EC9D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29552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B3B02D-9530-425C-AB8F-BE4BCCE47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419350"/>
            <a:ext cx="200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BBD5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2766E2-5362-4963-BF2F-384D8BA67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5146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Action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CA8427D-695B-403B-AF2E-F2F78228D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75272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FD34D95-90D1-4309-BFA1-AA9DCCF14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876550"/>
            <a:ext cx="200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BBD5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B59EC14-21DC-4F24-A582-5EF59156E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9718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Reset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46A72F6-F8E8-4A5A-BA07-58CB02387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20992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7343C40-F056-44E2-98AA-D7EE8F0E4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333750"/>
            <a:ext cx="200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BBD5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777F643-D1ED-45E4-AE9D-D4D9A759D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4290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Reflection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6C6F5E0-4C2A-419D-B697-C27BC4DCC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66712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B36764D-EF14-4B62-8175-C45682DD1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790950"/>
            <a:ext cx="200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BBD5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82EE674-148E-4767-BC43-3218DE2DA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8862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Life Canvas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035C8A9-F37F-4592-B4F8-46B1C63C1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12432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5C56729-9630-40A1-89E9-574A28814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248150"/>
            <a:ext cx="200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BBD5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27D0B7C-1467-4674-85FD-2FCDE60FD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3434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Tomorrow Hook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4E40CD2-8669-49B3-8BB7-937D5BA16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162550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Category → product-layer map</a:t>
            </a:r>
          </a:p>
        </p:txBody>
      </p:sp>
    </p:spTree>
    <p:extLst>
      <p:ext uri="{BB962C8B-B14F-4D97-AF65-F5344CB8AC3E}">
        <p14:creationId xmlns:p14="http://schemas.microsoft.com/office/powerpoint/2010/main" val="199424469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75813CA-3DA4-4C93-A8E5-67B947A33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7FC889-CC85-43D5-8CB8-817CA4088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AURA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0658C3-2EE3-4025-807D-A48D26CA6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28575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EA583B-D263-44FF-B190-65471E5C4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5905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Белое пятно не в отсутствии конкурентов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506D25-BDBD-499F-84E8-1EB1DE73A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0"/>
            <a:ext cx="11163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AAD8A4-1F53-4D0E-B7A5-4B12DF9FE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72200"/>
            <a:ext cx="2095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Что должен понять человек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9DEF20-5FBF-4C34-A165-9FE452D33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24600"/>
            <a:ext cx="10782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AURA конкурирует не шириной функций, а связью между смыслом, действием и видимым следом.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819B52-F033-4CE1-B607-8ABEBA539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64578B-B052-4B07-86DE-56DF24D03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95450"/>
            <a:ext cx="4524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Конкурентов много, и это хороший сигнал спроса.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28A5C3-2E9D-49AB-88AC-59930C2B0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2BA9FC-869D-4FA5-9312-098AB2902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09800"/>
            <a:ext cx="4524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Проблема не в том, что никто не делает self-care или avatars.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0CED25-5C4B-48DB-8F47-15AB1B7B8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0BB2FA-CCEB-4AD5-AD04-9BCC8850E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24150"/>
            <a:ext cx="4524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Проблема в разрыве петли: у одних есть meaning, у других action, у третьих avatar.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2264EA-627A-4524-81C5-14918511E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956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CC4EDF-041E-4C6A-8235-DB088FA90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38500"/>
            <a:ext cx="4524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AURA должна выиграть не функцией, а причинной сборкой.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E35C82-5350-4CE5-B785-BF7A972CE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19250"/>
            <a:ext cx="5334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556D0A-E140-4EDC-8BA0-EA558CC5F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86000"/>
            <a:ext cx="37147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CFB256-3C35-4723-BDAA-B94A169C1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286000"/>
            <a:ext cx="952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1900CE-5EAF-4767-9F60-92D3B890C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381375"/>
            <a:ext cx="3714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0A3557-1D0B-4541-9CB5-3F7B8D3B1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905250"/>
            <a:ext cx="857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BBD5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734D70-878C-437E-930C-46FAA3B23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0050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Calm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2A0418-8786-49FB-9FB7-5DB2DB7E5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14750"/>
            <a:ext cx="857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BBD5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0DA21A9-235B-4AE3-B93E-6242B5B30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81000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Finch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603DAEE-32F1-4E91-A5CB-797FC14F6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857500"/>
            <a:ext cx="857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BBD5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BD35F42-E93B-4D32-8428-247D125EF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95275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Replika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548C581-F0B1-4BFC-A188-42264C5F3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62250"/>
            <a:ext cx="857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BBD5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B97BCA5-DD13-492F-B474-A0255A87A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85750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Avatar apps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99515A2-E731-42B5-BE88-F0D1CDD3A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048000"/>
            <a:ext cx="952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BBD5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AA27C01-2B03-4391-B227-0AC5F9095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14325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AURA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55001AA-BA78-465D-829E-BA208321E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57200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meaning → 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0716A1E-7724-4684-A3F3-5A4E26DA4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162550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Competitor white-space matrix</a:t>
            </a:r>
          </a:p>
        </p:txBody>
      </p:sp>
    </p:spTree>
    <p:extLst>
      <p:ext uri="{BB962C8B-B14F-4D97-AF65-F5344CB8AC3E}">
        <p14:creationId xmlns:p14="http://schemas.microsoft.com/office/powerpoint/2010/main" val="71706682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ED6C0E3-F8F4-40BE-BEC0-60DA696DE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BD8E03-8350-49B9-8E96-554830FC5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AURA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C1FD67-659B-44CB-BB25-794CC6048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28575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6E9525-E69A-42F8-9F63-946A9476D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5905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AURA не должна стать astrology app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AB3229-DF09-447F-8514-E157C413F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0"/>
            <a:ext cx="11163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6D52E7-C7D6-46A2-B41A-346726068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72200"/>
            <a:ext cx="2095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Что должен понять человек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A637B0-1908-4CEE-BC69-B9A37A988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24600"/>
            <a:ext cx="10782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AURA берет из astrology персональный смысл, но не становится гороскопом.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2FD1F8-8194-41FF-9AEE-39ED9C190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A5660D-AAD1-498E-863A-C08D4A476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95450"/>
            <a:ext cx="4524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Дата рождения может быть символическим входом, но не обещанием судьбы.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60EE52-79C6-4F6E-ADFD-9AA9F151A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A4EA53-924D-49BE-9FF3-203B685F8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09800"/>
            <a:ext cx="4524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Опасность astrology-позиционирования — скепсис и узкая категория.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637520-46CD-4D6B-9A75-00E04C9B0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EA2155-9A83-4E98-8784-96C603D56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24150"/>
            <a:ext cx="4524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AURA использует личный смысл как начало действия, а не как финальный прогноз.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1616BB-DF5D-48B3-B886-5EC9E0924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956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C9908C-0257-48CE-AEF0-6D5D3A9D8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38500"/>
            <a:ext cx="4524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Тон должен быть взрослым: без эзотерического пафоса и абсолютных обещаний.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651278-254E-47DE-B361-E4E4C73DA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19250"/>
            <a:ext cx="5334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1F5118-6CE5-41BD-984F-6C6C09244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962150"/>
            <a:ext cx="200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BBD5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69339B-490F-48B3-BEF4-97D9345F9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0574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Episode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C9D204-42B0-433F-9D55-79C3125B4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29552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239F27-A9B6-4858-A9D6-A8E1CF498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419350"/>
            <a:ext cx="200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BBD5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323FD1-7111-40BF-AB22-90924211A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5146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Action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85C8C5-A166-4BFB-8E3A-912010519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75272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CD99FF-5C2B-4586-A64A-EA2C0326E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876550"/>
            <a:ext cx="200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BBD5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346B20E-9A90-4303-ABAA-F617397DE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9718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Reset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D5CC478-6AD8-431C-8030-FD5C8BE5F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20992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09D8941-E6ED-4B52-8AC9-4EA85A2B0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333750"/>
            <a:ext cx="200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BBD5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B5D6E8C-BF0E-43D6-A94C-0F250D6C4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4290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Reflection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147BB18-CA70-4368-854E-67E53820A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66712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6FABFBC-263D-48D7-AAC0-5B44311FF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790950"/>
            <a:ext cx="200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BBD5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2AC692C-90E4-4779-AAAF-BBEDA485C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8862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Life Canvas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597651A-A711-4386-ACAE-E2797E008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12432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0C7B303-B7E9-4FB2-96C4-066F74118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248150"/>
            <a:ext cx="200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BBD5F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3BEA1B6-AA8C-4247-A9E6-E3B8F6EB9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3434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Tomorrow Hook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35EFA1C-9CA0-46B2-83A7-BEB801CE8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162550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Do / Don’t positioning frame</a:t>
            </a:r>
          </a:p>
        </p:txBody>
      </p:sp>
    </p:spTree>
    <p:extLst>
      <p:ext uri="{BB962C8B-B14F-4D97-AF65-F5344CB8AC3E}">
        <p14:creationId xmlns:p14="http://schemas.microsoft.com/office/powerpoint/2010/main" val="152313626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7B8F97C-3913-4FCB-8593-E5A235292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3E91C4-8E74-41BF-A6D6-E3655313C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AURA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256B9B-5BA5-4ACD-881E-31AEDF646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28575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95C070-FF65-4611-9BA6-9DFC796A0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5905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AURA не должна стать avatar app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014E8D-83E1-4EA1-93E8-7659DAC94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0"/>
            <a:ext cx="11163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394CA0-C28C-4907-8E9D-5BB140232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72200"/>
            <a:ext cx="2095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Что должен понять человек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6375D7-2228-41D5-AC88-4843789CA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24600"/>
            <a:ext cx="10782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Главная ценность образа — причинность, а не красота генерации.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80E231-4E6A-4EE5-B943-CD3CC1F36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CDD69D-865F-47F0-8E68-FE80E923C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95450"/>
            <a:ext cx="4524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AI-картинка сама по себе быстро становится декоративной.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0C5059-DCEC-4B6B-9537-D19D0F0B8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A7F089-7CF9-4647-A523-E1D513CF4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09800"/>
            <a:ext cx="4524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Life Canvas должен отвечать на вопрос: что изменилось из-за действия?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BBB588-C328-409D-8F65-011A42511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41CDC9-A1B6-4ABA-8C69-826995AC3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24150"/>
            <a:ext cx="4524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Визуал работает только как доказательство внутреннего движения.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E1B947-AE43-4F00-AEFE-ABDCF3EA9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956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8FBFE8-2100-4782-9656-0BD93F051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38500"/>
            <a:ext cx="4524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Поэтому image-first можно, video-first нельзя до проверки экономики и retention.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8AAA22-6A9D-49F3-A557-8C2484B5B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19250"/>
            <a:ext cx="5334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C34E93-E24B-4D91-BC92-2DE6B3B51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048000"/>
            <a:ext cx="1000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BBD5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848604-8CB9-45FA-AE76-9429583F0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143250"/>
            <a:ext cx="8096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Action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CE751A-8E6B-4954-86D0-53B47B9AC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3219450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E36E14-4737-4B0D-8C96-518723158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09562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30418B-D88D-4F4C-B7A6-FBB012E3E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3048000"/>
            <a:ext cx="1000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BBD5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AFEC0F-1D1A-4D5E-A4EA-B3FEB5F52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3143250"/>
            <a:ext cx="8096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ED2493-D19C-407A-9C9A-0DE74302D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219450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CFE0E5B-06B1-4D34-94C3-F4BE51D77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309562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3F6FAA4-9E0D-43BD-9694-ABCD98FD2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048000"/>
            <a:ext cx="1000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BBD5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4AC97FD-2394-4A23-93A8-313A8E74B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143250"/>
            <a:ext cx="8096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Visual trait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36E472F-717E-4FD4-9203-60EE0DC56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3219450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858067A-DE57-427C-91B3-2E4C5C5E2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09562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F043820-0B22-40CD-9D18-43DBB3F4D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3048000"/>
            <a:ext cx="1000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BBD5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EE89C82-19DA-494B-9BB4-EF3C14DC9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3143250"/>
            <a:ext cx="8096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Life Canvas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8DEC2A5-0046-42A9-8729-6FF01E4BF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162550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Random image vs causal Life Canvas</a:t>
            </a:r>
          </a:p>
        </p:txBody>
      </p:sp>
    </p:spTree>
    <p:extLst>
      <p:ext uri="{BB962C8B-B14F-4D97-AF65-F5344CB8AC3E}">
        <p14:creationId xmlns:p14="http://schemas.microsoft.com/office/powerpoint/2010/main" val="71751595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EC5E436-DA82-47E7-8E19-D9E33E55B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134A9C-EE40-4A86-993B-314C72443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AURA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59BBEC-8C5B-41A2-8511-43F868056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28575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CA74A8-8BDB-469B-A9B8-DE0F0C33B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5905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AURA не должна стать habit tracker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34D30B-E514-44A3-8896-EAB830AD7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0"/>
            <a:ext cx="11163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81AF40-42AE-4041-B747-7F8FE1102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72200"/>
            <a:ext cx="2095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Что должен понять человек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9FAC59-FB7A-4C6E-AA79-18654AD25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24600"/>
            <a:ext cx="10782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AURA берет action-discipline, но превращает ее в эмоциональный story loop.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295415-7B56-4B36-82FD-ED8B34220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E22826-C821-40B1-9B7D-891AACD06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95450"/>
            <a:ext cx="4524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Habit trackers сильны в действии, но часто сухие эмоционально.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C22431-DF64-4166-B658-1FEC7D9FF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E1ECFF-6773-4F15-A250-64A0DE7AD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09800"/>
            <a:ext cx="4524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AURA не продает streak как самоцель.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4AC691-0B37-4073-9D7B-A8FF1455C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C0234A-940A-464C-83CA-03600C681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24150"/>
            <a:ext cx="4524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Маленькое действие должно быть продолжением эпизода, а не задачей из списка.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88BD8C-FAB7-4CDA-849B-04545ACE2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956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5707B7-70C0-4FDF-B10C-2C16BB692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38500"/>
            <a:ext cx="4524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Progress должен ощущаться как история, а не как галочка.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0D6633-5EB0-4A54-9D6F-88BD4DB85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19250"/>
            <a:ext cx="5334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9020B2-505F-48C4-86DF-612B2EBB2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962150"/>
            <a:ext cx="200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BBD5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679BA8-BC9C-457B-814E-6101AD49A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0574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Episode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A4D6DC-8EF0-4A53-A35E-3E1AC8C95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29552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118A1D-3DD2-46EB-A7AE-8DFC4A13C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419350"/>
            <a:ext cx="200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BBD5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EBC0E2-9BEB-4134-B606-CBEEE712D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5146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Action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B2CC521-31C1-4211-9947-FF7598402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75272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2CDC7E-8C76-4733-A67A-A1803B7F4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876550"/>
            <a:ext cx="200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BBD5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6986AD6-BCC5-43A7-BAF1-AD82EA119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9718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Reset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0C1532C-B1E2-4551-B5B4-849D0CBF5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20992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E287AD0-7393-47D8-9896-3EC6122CE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333750"/>
            <a:ext cx="200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BBD5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041277C-05CC-4B19-9828-AE0DA3885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4290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Reflection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8EE1F07-8C17-491C-8170-4103A3DDE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66712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9FD8886-A9AA-4820-AC54-B5A87C652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790950"/>
            <a:ext cx="200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BBD5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54564AF-6845-4E4E-9D34-41F549D92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8862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Life Canvas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42D4B2B-6163-4938-B209-9D427D1BD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12432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241B197-0B35-406B-9EAA-7A1FDAD24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248150"/>
            <a:ext cx="200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BBD5F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C84FCB4-3A39-4C0A-B971-5F2E1BA4C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3434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Tomorrow Hook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F04DBFC-F093-4020-9670-346221BE6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162550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Habit tracker vs personal life series</a:t>
            </a:r>
          </a:p>
        </p:txBody>
      </p:sp>
    </p:spTree>
    <p:extLst>
      <p:ext uri="{BB962C8B-B14F-4D97-AF65-F5344CB8AC3E}">
        <p14:creationId xmlns:p14="http://schemas.microsoft.com/office/powerpoint/2010/main" val="45522018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52DFC5A-FE25-4352-B46B-F7A403202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948C89-B48B-435F-A57F-9319B0183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AURA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D6A3A4-BFE6-4228-9B20-847D49D4E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28575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316716-45C8-461C-B814-AB8336393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5905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Первые аудитории: где искать pull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725679-3CC6-45D4-8F0C-F875217FC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0"/>
            <a:ext cx="11163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F68C28-BF75-4720-B7F6-6B81DEC47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72200"/>
            <a:ext cx="2095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Что должен понять человек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2ADF4C-713B-4C9F-ADEC-1BA6F15DB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24600"/>
            <a:ext cx="10782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Первые сегменты выбираются не по демографии, а по близости к центральной петле.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B63B4A-BFF7-427C-92F5-2F009248B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90FE53-7731-4CD4-9855-46D539D8A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95450"/>
            <a:ext cx="4524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Spiritual self-improvers дают спрос на смысл.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53B0C9-FDA9-4B2F-8FAA-8741F86E1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F14FAD-C83E-41E5-ADF9-29B4C487C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09800"/>
            <a:ext cx="4524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Habit/progress users дают спрос на действие и видимый результат.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298AF9-DB19-4D3B-8637-E7A5CCAFE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6655A2-976B-405D-8A5C-E6D17382C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24150"/>
            <a:ext cx="4524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Reset users дают вход через состояние и короткий ритуал.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92DE0F-0FB1-4468-B139-3988A8DBE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956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40CE57-DF5B-43D7-9254-2ABBB546E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38500"/>
            <a:ext cx="4524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Avatar/future-self users проверяют визуальную мотивацию.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FE163D-CC5C-482D-A21F-78E460E1A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19250"/>
            <a:ext cx="5334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2C7135-A2FC-497E-B0BF-23F9E5F35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962150"/>
            <a:ext cx="200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BBD5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A6C97E-BF5A-4415-BC2E-4D9872781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0574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Episode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EEBB31-8AD9-44AA-9369-77C811AB3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29552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626734-78B0-4D97-8CDA-63D2AF50B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419350"/>
            <a:ext cx="200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BBD5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8AFE39-1CC6-44CC-BD38-C876D09F0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5146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Action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D2DA6F-253E-47AB-9B6C-F7091E47E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75272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934301-A694-4263-A7F1-700495A50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876550"/>
            <a:ext cx="200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BBD5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0736DFF-544E-492D-8B25-8628FD80F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9718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Reset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13E7CC-3125-4C92-9D65-01FCB170D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20992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E71BA06-1B13-4AD7-AA03-ED9C438B7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333750"/>
            <a:ext cx="200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BBD5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03E25AA-CD37-4300-A5A3-256630180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4290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Reflection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D3347CF-A150-4598-9D4A-33A629397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66712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4C13EC9-B9D4-4E22-9EEF-6BB96017A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790950"/>
            <a:ext cx="200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BBD5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91C76B9-F35A-428D-8289-766A22629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8862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Life Canvas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6B0F6BE-B21A-4A9E-B5F4-2BA031D2A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12432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B56450F-A7D0-4DE7-9C52-FD2EACA29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248150"/>
            <a:ext cx="200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BBD5F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AA0E339-1D3B-45E9-B9A7-E00C9D308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3434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Tomorrow Hook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4D924F2-6B4C-4774-9CD5-DF4EBB5EF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162550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Segment map</a:t>
            </a:r>
          </a:p>
        </p:txBody>
      </p:sp>
    </p:spTree>
    <p:extLst>
      <p:ext uri="{BB962C8B-B14F-4D97-AF65-F5344CB8AC3E}">
        <p14:creationId xmlns:p14="http://schemas.microsoft.com/office/powerpoint/2010/main" val="120434711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280E2D2-A2AD-4A4A-92A6-947709927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62B227-E7C6-4D5D-82B9-4B600D6F2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AURA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6799E3-E1CE-4A19-87A1-318473664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28575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4505C4-80CB-48E1-8D54-938B75F5E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5905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Day 1: момент, где идея становится продуктом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FAC376-2E34-4003-9B73-0E9DC2431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0"/>
            <a:ext cx="11163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F5F4DB-3616-42E6-9DB3-59D14BD75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72200"/>
            <a:ext cx="2095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Что должен понять человек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47354A-915D-48D0-9892-4B55D4EE5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24600"/>
            <a:ext cx="10782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Первый день должен довести пользователя до причинного visual moment.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807974-538B-4769-98C5-CA710E3EE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040486-6F8B-430C-96B2-74F6921A7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95450"/>
            <a:ext cx="4524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Welcome объясняет категорию.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EFC225-E533-4EBE-AADC-6FF199B53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986BB7-9EF4-4593-B7A4-BB392F6D9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09800"/>
            <a:ext cx="4524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Consent создает доверие к личным данным.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BC274B-9274-4ABB-9080-7EA1570DE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18B857-8B14-47D5-A5D4-383774839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24150"/>
            <a:ext cx="4524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Profile дает контекст.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59C511-87EB-42DA-AB98-DD187A58C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956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1AD0F5-3130-4F0C-B3FA-AB10F9D16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38500"/>
            <a:ext cx="4524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Episode и Action ведут к первому шагу.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DF8A26-DB14-4BB4-85DE-CBC06796E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B022FB-06B5-430A-A382-4D8ACB7D6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52850"/>
            <a:ext cx="4524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Life Canvas показывает след и открывает Tomorrow Hook.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EBBDE6-F09E-4B96-BA44-385C6E771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19250"/>
            <a:ext cx="5334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FCAB6E-ECDB-40DD-BB35-44C3BCA1E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000250"/>
            <a:ext cx="123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BBD5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D1E489-F28D-49AF-BD06-34D8D134D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9550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Welcome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1E47E1-BB83-4ED0-A2B2-8E9D026F8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2000250"/>
            <a:ext cx="123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BBD5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C71E9E-53CF-4343-9846-EC0831700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209550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Consent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FFEC01-DFB5-44C3-A667-5069245D5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000250"/>
            <a:ext cx="123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BBD5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E964D2F-A769-4F16-BAED-8F37B678E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09550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Profile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2E2AE42-80A9-428A-9BBF-A0BC52D64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819400"/>
            <a:ext cx="123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BBD5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E6E7ADC-E81B-4779-9A82-C985055E7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91465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Season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28D1E61-6EF3-49F8-BCA7-80CD8E366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2819400"/>
            <a:ext cx="123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BBD5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DA9091E-7F0D-4104-8D41-CF53045C0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291465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Episode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AC7AF3A-ABDB-47F0-A0A8-A9F43B4BF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819400"/>
            <a:ext cx="123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BBD5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67EAA5A-9A52-4E25-88C0-81047D8CD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91465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910D8B0-7B9A-4C5F-869A-0AE2A1B69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638550"/>
            <a:ext cx="123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BBD5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563998A-10CB-4057-89B4-59114B731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73380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Reset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E7BB064-E266-4EF4-B2A0-0AC03C764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3638550"/>
            <a:ext cx="123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BBD5F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A5C19D8-6768-4ADB-B6BE-F8DD60AE1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373380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Canvas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F463660-7FB9-4DED-A2D2-FF27DF08F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638550"/>
            <a:ext cx="123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BBD5F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F6889FB-CBD2-4777-80DA-EE1F331F7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73380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Hook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21DCBC6-4029-4D53-A07C-347860D7C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162550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Day 1 journey map</a:t>
            </a:r>
          </a:p>
        </p:txBody>
      </p:sp>
    </p:spTree>
    <p:extLst>
      <p:ext uri="{BB962C8B-B14F-4D97-AF65-F5344CB8AC3E}">
        <p14:creationId xmlns:p14="http://schemas.microsoft.com/office/powerpoint/2010/main" val="57812838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CB33A89-13D8-4F14-9C2E-8CCE3944E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2B75B8-77A5-4A73-A595-7BACC7C90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AURA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C442C8-F201-4F2C-9235-0EA102436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28575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90377D-01F2-4E80-AFE5-C098A80F6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5905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Ценность должна накапливаться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079C41-FCA2-4DF8-8EE2-6846BB221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0"/>
            <a:ext cx="11163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EF7E73-12DF-49F9-9103-76388BEBF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72200"/>
            <a:ext cx="2095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Что должен понять человек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21FED1-C1C7-45C9-84B0-42CE60FB6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24600"/>
            <a:ext cx="10782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AURA становится продуктом, только если память усиливает ценность со временем.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8831D5-3766-4561-82D9-6B5D504E4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99B3C4-2994-4BBA-A02A-CA6818284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95450"/>
            <a:ext cx="4524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Day 1 доказывает первый loop.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D9332F-768C-4238-937A-DE8A8882E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76703F-FFE7-4342-B99F-FF16918FF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09800"/>
            <a:ext cx="4524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Day 2 должен помнить Day 1.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737A61-9ED2-41A3-8930-E083BEFEF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097B2A-468B-4892-B47A-92D618B92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24150"/>
            <a:ext cx="4524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Day 7 превращает действия в season recap.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C5AD4D-C3B9-4C1A-AF01-B50B0398B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956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A191B5-5580-48C1-9116-F536D97FD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38500"/>
            <a:ext cx="4524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Day 30 показывает траекторию, а не набор случайных карточек.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0A8809-4870-4A62-83A4-339D9A3E5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19250"/>
            <a:ext cx="5334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38E6EC-E810-4EF9-B882-8DF1C80EC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48000"/>
            <a:ext cx="857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BBD5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A81688-5CD0-4255-BDDC-A154F43F4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4325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Day 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677972-CF95-49FC-9939-F688CC0A9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21945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37F2E0-B1B5-4D44-BD85-45DAFA329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09562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9DA9B8-B842-4F52-AC5E-53FCBE671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048000"/>
            <a:ext cx="857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BBD5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830470-F77E-401B-AD97-8F7D76DAE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14325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Day 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67DF240-E9A3-4C0B-BBBC-8F4E8D1BB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21945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714BD44-D4C5-4488-8822-6F7A3D484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09562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2F03394-C2A8-4CAD-846D-D098D9CE9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048000"/>
            <a:ext cx="857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BBD5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EC0ED8C-506F-4414-85C9-82EDBCC0F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14325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Day 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D333480-A473-4A85-AFBB-C8F071DFF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21945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1BA78EA-8315-48D1-A0AA-B1520F98A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309562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148E562-2EF6-44E5-ADE4-9D669D7C8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048000"/>
            <a:ext cx="857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BBD5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65CA900-B8EA-4E9F-931A-4345233A9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14325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Day 30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4222102-541A-4733-BACD-E25682C91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162550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Day 1 / Day 2 / Day 7 / Day 30 timeline</a:t>
            </a:r>
          </a:p>
        </p:txBody>
      </p:sp>
    </p:spTree>
    <p:extLst>
      <p:ext uri="{BB962C8B-B14F-4D97-AF65-F5344CB8AC3E}">
        <p14:creationId xmlns:p14="http://schemas.microsoft.com/office/powerpoint/2010/main" val="524265716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0F46E56-58FB-48F3-B819-841A69366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30BB49-2B56-49C4-847F-C3823142D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AURA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99D059-A377-430F-A242-F2AE97B55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28575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E896DA-405C-4445-A98C-A05B76E6A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5905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Life Canvas: anatomy of causality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86EBA7-A1D3-466E-954A-592E3CBF1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0"/>
            <a:ext cx="11163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D34883-1A80-4504-B2B0-AF67CD464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72200"/>
            <a:ext cx="2095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Что должен понять человек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B9C117-B09F-4796-AAA2-8C5F36B2F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24600"/>
            <a:ext cx="10782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Life Canvas — это система причинности, а не reward-картинка.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818821-5A71-4872-932E-6ACE46B54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C4CF74-EBCB-48F7-B91A-E5C7BA51F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95450"/>
            <a:ext cx="4524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Action создает evidence.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B9A615-03A2-4625-A69E-643C850B8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14B520-0344-4ABC-8565-A98083428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09800"/>
            <a:ext cx="4524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Reflection добавляет эмоциональный контекст.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3A299E-502B-4B71-9648-603FB3DE2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8EA8EB-C890-4286-8E61-8B0944791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24150"/>
            <a:ext cx="4524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AI/image layer переводит evidence в visual trait.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0B9D42-D7A0-4E08-B363-3F713E812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956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A8239D-9FFD-4543-9B22-D5A3B7922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38500"/>
            <a:ext cx="4524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Canvas должен объяснять изменение рядом с образом.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04E28D-3BFC-4792-87FE-FFF0516CF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F109E0-1651-4A97-BB29-643F508E6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52850"/>
            <a:ext cx="4524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Без explanation визуал рискует стать random image.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99BA8C-5165-407A-9A91-D4C4B67A8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19250"/>
            <a:ext cx="5334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56F9DC-E445-439B-99A7-637F78973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048000"/>
            <a:ext cx="1000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BBD5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CA0058-697A-411C-B1FE-77225FBD3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143250"/>
            <a:ext cx="8096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Action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F46F05-9F0C-4BB3-914B-2315554A6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3219450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B30BEA-6822-4111-9E65-417C9C47B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09562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D5F9B5A-116B-41DE-90E1-7ADEBF65C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3048000"/>
            <a:ext cx="1000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BBD5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3354CD1-0EBF-4B5B-9C98-D0247516F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3143250"/>
            <a:ext cx="8096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B8DD757-4DFB-4B88-B3EF-B86230D43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219450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BFBB161-89E9-420B-A6BB-2D85CD44E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309562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B5514CD-AA54-42AC-BDAB-0F6B243E8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048000"/>
            <a:ext cx="1000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BBD5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F090B61-DE9B-4740-A94F-F7DD70F7B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143250"/>
            <a:ext cx="8096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Visual trait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24D9B11-8C1F-4310-B59D-00A88372E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3219450"/>
            <a:ext cx="161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C179C3E-B724-4598-A9DA-37088CB29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09562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D98577A-6559-4F9E-B8D7-395F731EF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3048000"/>
            <a:ext cx="1000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BBD5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C4CEA2C-3A59-4331-8FE3-01F867F8A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3143250"/>
            <a:ext cx="8096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Life Canvas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04008DC-59F1-4130-8809-D85687812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162550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Action → Evidence → Visual trait → Life Canvas</a:t>
            </a:r>
          </a:p>
        </p:txBody>
      </p:sp>
    </p:spTree>
    <p:extLst>
      <p:ext uri="{BB962C8B-B14F-4D97-AF65-F5344CB8AC3E}">
        <p14:creationId xmlns:p14="http://schemas.microsoft.com/office/powerpoint/2010/main" val="1929007006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145C2EF-D60E-4F20-866F-6A8E2592F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E7FA12-C13A-45A9-9D09-1185278A9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AURA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2917F0-FC5A-4B4C-A074-E17AE60E4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28575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B94A89-3589-4ECA-A387-959D72E5D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5905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Что входит в первый продукт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B959CE-C73F-4CD0-A69D-3CFC2E72E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0"/>
            <a:ext cx="11163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E08567-415B-4F63-9D38-C071E9ED8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72200"/>
            <a:ext cx="2095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Что должен понять человек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14A611-462F-4740-BD08-4DBF2CE48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24600"/>
            <a:ext cx="10782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Первый продукт защищен от расползания scope.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BAE153-A703-46D5-B4D7-B09C35AC4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BE15F0-A246-4056-9B6A-9FF59AC78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95450"/>
            <a:ext cx="4524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Must have: onboarding, season, episode, action, reset, reflection, Life Canvas, tomorrow hook.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80575D-CC11-4B2F-831F-789E81D36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278D67-4066-4739-AAEA-A67D7EE8B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09800"/>
            <a:ext cx="4524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Should have: memory, recap, notifications, paywall after value.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052D52-CDA5-41F9-AC51-6C723EFF9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DFA9A9-8A54-4916-A6AB-751223DCB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24150"/>
            <a:ext cx="4524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Could have: share card, style presets, voice reset.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570422-6C96-495C-892B-09168F851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956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1DF71F-1796-4E52-9822-D8D483693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38500"/>
            <a:ext cx="4524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Not first: video every day, marketplace, community, social network, AR.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C0EFBC-2998-4321-96BF-4CBEC6870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19250"/>
            <a:ext cx="5334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E4310B-0FD8-4989-ACC3-3F70595FC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857625"/>
            <a:ext cx="952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BBD5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CFF789-AAFC-48B6-B2E1-4ACF3B04F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952875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Free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17022F-651A-4631-B200-A7AE85B9B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381375"/>
            <a:ext cx="1181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BBD5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A83DBC-F0BD-44B5-A5D3-62C814033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476625"/>
            <a:ext cx="990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Plus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5E6052-24C8-4645-8685-251BED38C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905125"/>
            <a:ext cx="1409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BBD5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55A243-4134-4728-B89F-14EF48469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000375"/>
            <a:ext cx="1219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Premium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4B9E69-96B2-4E6E-AF22-AD313DDA5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428875"/>
            <a:ext cx="1638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BBD5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B29EBF3-F4D0-4B9F-87FD-44E02DDEA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524125"/>
            <a:ext cx="1447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Tokens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22FE102-45F1-4D85-B966-300DD19D8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162550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Must / Should / Could / Not scope map</a:t>
            </a:r>
          </a:p>
        </p:txBody>
      </p:sp>
    </p:spTree>
    <p:extLst>
      <p:ext uri="{BB962C8B-B14F-4D97-AF65-F5344CB8AC3E}">
        <p14:creationId xmlns:p14="http://schemas.microsoft.com/office/powerpoint/2010/main" val="1538211436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DA1ACE9-B6A5-4BFB-A1FB-6C51DBFDE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9136BF-F7CF-430F-B33E-574C1FDEF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AURA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97429C-E691-46F8-BD30-74AB67BCA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28575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1D5E16-A45A-41B8-B36F-0D4E49F98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5905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Главные экраны AURA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24F1F3-6413-4540-8154-FC79FD68F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0"/>
            <a:ext cx="11163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A840B9-68E3-4173-9949-2700CA308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72200"/>
            <a:ext cx="2095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Что должен понять человек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22C439-A220-41DB-975E-BDC01FC67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24600"/>
            <a:ext cx="10782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Дизайнеру нужно рисовать не приложение целиком, а проверку центральной петли.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919F6A-425E-4D30-A301-F510849DA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0584B3-41A8-4009-9C9D-878F4CF04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95450"/>
            <a:ext cx="4524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10 ключевых экранов достаточно, чтобы проверить гипотезу.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884865-30C7-4824-AAED-D44044A9F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0B84A9-B374-4E5B-BA43-943A3D141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09800"/>
            <a:ext cx="4524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Каждый экран отвечает за один переход в петле.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7B5851-D81B-4FA2-B2D4-8F4EF6012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670CD5-BF07-49E6-BE88-DA980824B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24150"/>
            <a:ext cx="4524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Paywall появляется только после value moment.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A80585-205A-417B-A3B6-DA144E4CB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956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E7729B-0A6C-420A-AF09-1B13AE648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38500"/>
            <a:ext cx="4524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Settings и privacy нужны для доверия из-за персонального контекста.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E99B6C-FB43-4949-8402-B6064EFDF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19250"/>
            <a:ext cx="5334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7A3A3F-4964-4645-B59D-D7E80BDC3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000250"/>
            <a:ext cx="123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BBD5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66E69D-802E-406B-BB34-11C0AA42A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9550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Welcome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A734A8-D19D-4E67-BE5C-052A8352F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2000250"/>
            <a:ext cx="123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BBD5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8462AD-AE3B-465B-BD1E-93598CE7F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209550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Consent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AF8CD9-A03E-48BD-93A2-D29C936FF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000250"/>
            <a:ext cx="123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BBD5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FF38CC-09D3-4D53-A6AA-5EE1BD1AF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09550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Profile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8E5B130-5277-4239-A431-BB6D2A0BA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819400"/>
            <a:ext cx="123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BBD5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2B4778-D88E-4784-9BF9-EF0405B3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91465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Season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229F9B4-CBDB-4584-80B5-C2C34DE04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2819400"/>
            <a:ext cx="123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BBD5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5D35F41-5F3C-4268-ABFF-9091D9268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291465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Episode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D81319E-CF02-4B68-A6A5-01BF55A28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819400"/>
            <a:ext cx="123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BBD5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B04DD0F-4721-4CF4-89FA-D4C1CD857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91465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Action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E4E9DBA-CC70-418F-B2E1-28BA7AA92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638550"/>
            <a:ext cx="123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BBD5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516D87D-0758-4ED9-9302-4AC2E087B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73380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Reset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22AA0F3-CD17-4F5D-8ED4-4E2B01C8D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3638550"/>
            <a:ext cx="123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BBD5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8EA5657-614B-48B4-85D1-C09BACCEF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373380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Canvas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D622E38-83D2-43B4-8503-01E9C2344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638550"/>
            <a:ext cx="123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BBD5F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9CD9BB5-BB99-439D-AD78-E3DBCC1BF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73380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Hook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50A4CE6-3DB3-48E9-8C21-6D86DAB48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162550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Screen map</a:t>
            </a:r>
          </a:p>
        </p:txBody>
      </p:sp>
    </p:spTree>
    <p:extLst>
      <p:ext uri="{BB962C8B-B14F-4D97-AF65-F5344CB8AC3E}">
        <p14:creationId xmlns:p14="http://schemas.microsoft.com/office/powerpoint/2010/main" val="1934782131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9797C80-DAA7-4A5B-8560-9A33DC2DB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B523E5-06B6-4EA9-91D9-D2C97EC34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AURA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563867-B7ED-4E38-BBB4-F40A112DA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28575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1DA247-CB4F-42D0-9CD6-0D39C0A65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5905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Архитектура должна сохранять причинную цепочку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B3F2FD-0258-4484-A41D-1A3B8D541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0"/>
            <a:ext cx="11163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B4EBEC-095A-4852-A6E7-40C4D00F1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72200"/>
            <a:ext cx="2095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Что должен понять человек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1AE8E2-23AD-4AF3-AF04-51B7E429D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24600"/>
            <a:ext cx="10782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Техника обслуживает продуктовую причинность, а не просто генерирует контент.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67B958-EFE7-4F9D-8C2A-F4BCAB205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49B412-25C1-4A63-BD83-84E9E1F1F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95450"/>
            <a:ext cx="4524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Mobile app показывает flow и собирает действия.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717917-13A5-4219-B53E-E478D05CB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EDCDD5-9687-4372-A937-E16648A33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09800"/>
            <a:ext cx="4524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Backend хранит state transitions.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81C3F5-7914-43EA-8ADC-7D86EC155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5860EF-2E05-496F-8842-609CEC3DE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24150"/>
            <a:ext cx="4524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AI layer генерирует episode/action/reset safely.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20E94A-1C69-4CB2-866B-3C4167E48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956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45DFCA-0852-4857-88A3-3E4943B18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38500"/>
            <a:ext cx="4524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Image layer создает Life Canvas.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E00171-AAC6-4CA3-A5ED-A5A925C3F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88629A-D2CD-4ADF-B725-7E52A6AF3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52850"/>
            <a:ext cx="4524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Analytics доказывает loop, cost и return.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BB8463-7E66-4B16-86F4-392819C15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19250"/>
            <a:ext cx="5334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67E18E-A77C-4270-9784-1D55FA8A8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076450"/>
            <a:ext cx="2762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BBD5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59F55E-08B6-4021-ADF5-834C5F64B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171700"/>
            <a:ext cx="2571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Mobile App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93E870-7C8B-4CB5-81F3-F015D2A03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590800"/>
            <a:ext cx="2762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BBD5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280A38-D95F-4C2E-BB99-CA3AEFC05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686050"/>
            <a:ext cx="2571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Backend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1EEA5E-5B4D-4442-ABDF-42B87E74B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105150"/>
            <a:ext cx="2762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BBD5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0AD2B3-BF0A-43DC-BA05-702FEA6F6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200400"/>
            <a:ext cx="2571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AI + Image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B768EFB-4632-4BCA-98DB-CAFDF2A1F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619500"/>
            <a:ext cx="2762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BBD5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0277A8E-B59F-4762-A8AA-1488BC8EB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714750"/>
            <a:ext cx="2571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Postgres + Storage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BA34B97-A6E3-43B2-B103-39D082613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133850"/>
            <a:ext cx="2762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BBD5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C25E899-06BF-402D-B916-A0B672315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229100"/>
            <a:ext cx="2571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Analytics + Admin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866E2FB-5842-462D-9F11-031A7C7B4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162550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System architecture stack</a:t>
            </a:r>
          </a:p>
        </p:txBody>
      </p:sp>
    </p:spTree>
    <p:extLst>
      <p:ext uri="{BB962C8B-B14F-4D97-AF65-F5344CB8AC3E}">
        <p14:creationId xmlns:p14="http://schemas.microsoft.com/office/powerpoint/2010/main" val="1254654915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33E2A5C-DFBA-4F25-A944-DDA2A1736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213F13-D788-4B2D-A869-15AE7040A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AURA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D84D85-D135-47BF-B8A8-297B2949C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28575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4DDF5F-318E-4C7C-93AC-342E2C87A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5905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Data model: каждое действие должно иметь след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36B1D5-A2D7-45C5-B772-8FB609D06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0"/>
            <a:ext cx="11163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D81DE9-CEF6-4EF4-8DEA-84B9D293A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72200"/>
            <a:ext cx="2095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Что должен понять человек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C5D219-90A6-42CB-BC07-0A1304C12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24600"/>
            <a:ext cx="10782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Если сущности не связаны, AURA распадается на несвязанные AI-выдачи.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85B5B7-416F-41C8-9C66-F40E38A17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393A40-1C38-47F9-A958-79B6D5147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95450"/>
            <a:ext cx="4524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UserProfile задает контекст.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FF4797-0890-4BC0-BC8F-E3402A847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985F79-5745-47D3-BB5E-04A6650F9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09800"/>
            <a:ext cx="4524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Season держит траекторию.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775F21-D9CF-4230-B526-34E70CD2E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7407C8-84B9-4D20-B8E9-C244BEC19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24150"/>
            <a:ext cx="4524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Episode создает смысл.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9D2269-0D56-4EDA-9F04-3C90941DF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956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3C7A50-9EA8-42F6-9BDB-FB5159A0F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38500"/>
            <a:ext cx="4524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Action и Reflection создают evidence.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727F7D-52F5-40AE-A5F4-4626E2B3C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605007-91D7-4B94-B1B2-912E74624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52850"/>
            <a:ext cx="4524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AvatarState связывает visual change с действием.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9AA586-44D8-4AD6-91CF-CF730A44D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19250"/>
            <a:ext cx="5334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ECEE26-3A33-47F8-9C20-8F26D8193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076450"/>
            <a:ext cx="2762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BBD5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256606-3A1F-4AD4-96D8-624AFC3C1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171700"/>
            <a:ext cx="2571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Mobile App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11C3F5-6663-4A25-B48B-3C5A194DC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590800"/>
            <a:ext cx="2762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BBD5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844F2D-E4C7-457D-B015-FCBE4EC37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686050"/>
            <a:ext cx="2571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Backend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3698479-F0DC-4EA0-A76D-F8FB6FC2B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105150"/>
            <a:ext cx="2762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BBD5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26B0AE3-48AA-48C6-B288-9D8D98CAF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200400"/>
            <a:ext cx="2571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AI + Image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FF8198-DD74-449D-A018-B7805EC7F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619500"/>
            <a:ext cx="2762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BBD5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231F8A7-5FFF-47E7-B9FE-7FDCCA20C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714750"/>
            <a:ext cx="2571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Postgres + Storage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3126374-7571-4745-AB6D-2698A81A3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133850"/>
            <a:ext cx="2762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BBD5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863626E-E985-452B-8C5E-A9FB37E8B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229100"/>
            <a:ext cx="2571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Analytics + Admin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72B84ED-EFBF-451E-99B6-08EB07B94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162550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Entity relationship / data flow</a:t>
            </a:r>
          </a:p>
        </p:txBody>
      </p:sp>
    </p:spTree>
    <p:extLst>
      <p:ext uri="{BB962C8B-B14F-4D97-AF65-F5344CB8AC3E}">
        <p14:creationId xmlns:p14="http://schemas.microsoft.com/office/powerpoint/2010/main" val="1702119097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FF5145A-EE36-4589-8F5A-D89BB8431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0C9230-4115-4DD6-870C-C2F05730E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AURA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5E7C24-1E03-4A56-BDD6-742250301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28575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80CB5B-AA88-4903-A894-D4B03FF3D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5905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No free daily video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FADFC5-65D0-40A4-A41C-FADD54597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0"/>
            <a:ext cx="11163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99CA63-D9E0-445A-9F5D-A590DADE5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72200"/>
            <a:ext cx="2095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Что должен понять человек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E00FD7-CE9E-4AE0-8C44-7EEE645B0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24600"/>
            <a:ext cx="10782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Самое важное техническое решение — не дать красивому видео разрушить маржинальность.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AA71D7-6E76-4A6F-9747-8A7234B4A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6F58AF-9D97-4F7A-8A95-C06370FF0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95450"/>
            <a:ext cx="4524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Видео выглядит эффектно, но может убить экономику.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92D4CB-93BB-42AD-B0C0-111657358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4A8E55-CA97-46EB-834D-840892AAA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09800"/>
            <a:ext cx="4524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Image-first Life Canvas достаточно для проверки причинности.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66FBAD-3C9F-4E97-A074-871BE4282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784266-3455-47C2-8F64-FE9576607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24150"/>
            <a:ext cx="4524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Видео нужно тестировать позже как premium/token moment.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A66C26-8089-4E1D-BA76-C393DBEC7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956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FA657B-DB14-4EED-9EB0-E1175B043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38500"/>
            <a:ext cx="4524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Cost logging обязателен с первого дня.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CAC006-BEAD-4CE4-9210-14CAD3810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19250"/>
            <a:ext cx="5334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C6AF3C-695F-4502-818A-2EC946687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429000"/>
            <a:ext cx="5334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BA400A-E0E1-44CF-9B33-31A6C3BBC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400550"/>
            <a:ext cx="685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AI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0735D8-8B7C-45FB-BBF1-7AB4F7044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286000"/>
            <a:ext cx="5334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6643FE-4D97-468B-93C2-53CF6DDF1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4400550"/>
            <a:ext cx="685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Images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E5E8FC-9D86-4C2D-B124-5CA626394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143250"/>
            <a:ext cx="5334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6683170-80A9-4E52-84DD-CB875FBB4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400550"/>
            <a:ext cx="685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Infra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9A2148-8A17-4950-B8A4-7E7BA64E6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3667125"/>
            <a:ext cx="5334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2370A7-BE2B-4934-A939-F1CC29A8F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4400550"/>
            <a:ext cx="685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Support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1109625-10C1-4C08-A9EE-01751CB41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162550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Cost stack with video warning</a:t>
            </a:r>
          </a:p>
        </p:txBody>
      </p:sp>
    </p:spTree>
    <p:extLst>
      <p:ext uri="{BB962C8B-B14F-4D97-AF65-F5344CB8AC3E}">
        <p14:creationId xmlns:p14="http://schemas.microsoft.com/office/powerpoint/2010/main" val="1902001006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DA70892-5BA3-4B5E-9572-7894F1535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CB862B-A54F-434B-8910-86BA669FA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AURA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6E1CC0-28F9-42EC-B5A3-9754D1A52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28575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A6F825-E42F-4D94-9521-EA9ACA4DD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5905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Unit economics: считать нужно completed loop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3C0690-60EB-450A-B177-F8B0B1689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0"/>
            <a:ext cx="11163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6D752A-B200-46DF-B752-D98CC4A72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72200"/>
            <a:ext cx="2095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Что должен понять человек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3AB1F8-9649-4BBF-9802-F8DBF837A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24600"/>
            <a:ext cx="10782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Экономика AURA должна считаться вокруг поведения, а не вокруг абстрактного MAU.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7C533B-95A1-4A44-BA1E-041A9686D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DC1F17-539B-4FCD-987C-E9948589A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95450"/>
            <a:ext cx="4524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AI text, images, storage, analytics, support и infra формируют COGS.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D47DA9-96D3-4B64-8ACD-CAC37CF10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800845-1B10-48BF-BC09-D9F524923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09800"/>
            <a:ext cx="4524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Images быстро становятся ключевой переменной статьей.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6D6C86-6FC3-486D-A123-DA5D1E8A0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4B7B01-87F3-4D51-BDA4-3B1F64B80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24150"/>
            <a:ext cx="4524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Free users должны иметь ограниченный image budget.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E8A4E4-6117-4E0D-9C11-02CF3E5B4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956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0A6ECD-5524-46B3-B007-A711CDB27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38500"/>
            <a:ext cx="4524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Главная метрика — cost per completed loop and returned user.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21F3A4-9447-42FD-BB14-4EC3582A1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19250"/>
            <a:ext cx="5334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871008-A1AF-4F4D-B7AE-506306489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429000"/>
            <a:ext cx="5334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68BFF7-E892-4C6C-B608-EC4017A1E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400550"/>
            <a:ext cx="685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AI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97DA50-3BFD-4D6F-A3B5-A654AB6B7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286000"/>
            <a:ext cx="5334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785862-DAC6-41AD-81EC-F9E72E84D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4400550"/>
            <a:ext cx="685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Images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4B1874-53D8-4116-B008-389037A09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143250"/>
            <a:ext cx="5334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79468C-B2D2-42BF-B50F-706DB087B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400550"/>
            <a:ext cx="685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Infra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C54A10-C43B-4516-866F-6A26A29A2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3667125"/>
            <a:ext cx="5334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E4432E-C67B-4B4A-8AE4-6336CF45B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4400550"/>
            <a:ext cx="685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Support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0ADFA3B-EA2B-4449-A62D-39BD60413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162550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Unit economics scale chart</a:t>
            </a:r>
          </a:p>
        </p:txBody>
      </p:sp>
    </p:spTree>
    <p:extLst>
      <p:ext uri="{BB962C8B-B14F-4D97-AF65-F5344CB8AC3E}">
        <p14:creationId xmlns:p14="http://schemas.microsoft.com/office/powerpoint/2010/main" val="62986952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A705386-E0BF-4CAC-ABD4-B45E0889A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22D4CE-5116-4106-A576-401599C3D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AURA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F0EFF3-EB24-4E06-9165-BD5A61BFF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28575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76A6C3-E150-457C-8422-32D851F1F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5905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Монетизация появляется после ценности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E8EEAA-C857-41EE-B6BC-35C4B2C85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0"/>
            <a:ext cx="11163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BBFEF4-78AA-4876-9657-E3C74FD87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72200"/>
            <a:ext cx="2095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Что должен понять человек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0942F2-6F7E-4BEE-83C5-0DE70D7A1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24600"/>
            <a:ext cx="10782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Платность должна усиливать уже понятную ценность, а не блокировать первый опыт.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65FE03-D284-48D5-991A-1D89D7A62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B35F19-C6BF-4F56-9C17-4CF1E6C6B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95450"/>
            <a:ext cx="4524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Нельзя продавать понимание себя до первого инсайта.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AC840B-9B17-4F97-BB6B-9D378E6AD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18C8D0-F869-485F-BF9C-6505F37C9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09800"/>
            <a:ext cx="4524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Paywall должен появляться после completed loop.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7A4C55-440B-457E-8ABB-2730C5463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BD19EB-B04C-4965-89B4-3756CEABA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24150"/>
            <a:ext cx="4524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Aura Plus продает season continuation, memory, recap и styles.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82053C-AD40-4F3C-B6E8-61F779156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956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5D185B-B8C0-43F6-94D5-EEA0DFA48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38500"/>
            <a:ext cx="4524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Premium/video moments тестируются отдельно.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54E38E-0BE9-4020-99FB-3E04D99CA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19250"/>
            <a:ext cx="5334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8667C2-A775-422B-AE7E-928D9CB7D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857625"/>
            <a:ext cx="952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BBD5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C0C729-47F8-4A9F-8B72-08CDD2C3F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952875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Free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DD51B0-D630-460E-9AEA-9858425D5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381375"/>
            <a:ext cx="1181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BBD5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C3BEC3-EAF7-4840-BEA0-094B72ECB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476625"/>
            <a:ext cx="990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Plus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1563B8-4F80-46B4-9616-0DF3A38F4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905125"/>
            <a:ext cx="1409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BBD5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BAD434-76F7-4F6F-A0F4-687F2E98D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000375"/>
            <a:ext cx="1219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Premium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BAF0586-9165-42D9-86F6-880DD64C4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428875"/>
            <a:ext cx="1638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BBD5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6CD6B58-C132-4D4D-AEDE-6ED4CB177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524125"/>
            <a:ext cx="1447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Tokens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8128E3C-C9AA-4ADE-B737-0FC4D2F06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162550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Free → Plus → Premium → Tokens ladder</a:t>
            </a:r>
          </a:p>
        </p:txBody>
      </p:sp>
    </p:spTree>
    <p:extLst>
      <p:ext uri="{BB962C8B-B14F-4D97-AF65-F5344CB8AC3E}">
        <p14:creationId xmlns:p14="http://schemas.microsoft.com/office/powerpoint/2010/main" val="1155888492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B5FC8CC-A399-4114-BC19-C1F2F901C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8F172A-9746-4259-A4FC-C10C82A14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AURA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399CA0-7363-4411-8A15-BADF0B58D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28575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064B39-32F2-41A8-9FD4-7D21083F7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5905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Первые 100 пользователей не покупаются рекламой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8AB11C-7D9F-48CA-9F8B-717D225BB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0"/>
            <a:ext cx="11163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35882A-E5B6-4591-BD78-6308C8F4A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72200"/>
            <a:ext cx="2095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Что должен понять человек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A4CE53-8F4B-47F0-A1AB-DE63D33CE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24600"/>
            <a:ext cx="10782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GTM начинается как исследование поведения, а не как performance marketing.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38D38F-D9F4-4ED5-957F-712B2D9CB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E06752-91F3-43CF-9380-EB6CBB003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95450"/>
            <a:ext cx="4524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Сначала нужны warm contacts и интервью.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698822-1287-40C4-A71B-8A5A04C3F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6C5E45-B132-4562-9182-01737C8CD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09800"/>
            <a:ext cx="4524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Задача — не registration, а прохождение loop.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B90D2E-73C5-4BF0-B8AD-54E6163D2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EAF7CF-0D0C-499A-811A-33AD0766E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24150"/>
            <a:ext cx="4524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Concierge cohort дает язык, objections и реальные friction points.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C0F66A-3A6B-467B-8700-810BD9995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956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B3EC0D-16B8-4678-9286-B0BD863F9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38500"/>
            <a:ext cx="4524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Только после этого можно тестировать публичные каналы.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9D13DE-644C-4579-90B0-2CFB52161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19250"/>
            <a:ext cx="5334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0F563F-6249-4BAF-822D-7854F9BB2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57400"/>
            <a:ext cx="4000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BBD5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64A907-8134-4CE6-9827-B2B607AFE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5265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150 warm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CFEC1A-704E-4E3E-93F2-FC3BF0763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571750"/>
            <a:ext cx="3143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BBD5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D080CD-A902-4B77-BDD5-68E6500D9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667000"/>
            <a:ext cx="2952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60 replies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4DF333-A4CC-4C17-B1A5-10F9EEE0B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086100"/>
            <a:ext cx="2381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BBD5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F079FC-ED90-4683-AC46-3EA75E9BC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181350"/>
            <a:ext cx="2190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20 interviews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BC3387-02E9-49C0-81CB-BD555F01D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600450"/>
            <a:ext cx="171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BBD5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683494-F6C7-4CCE-8EE9-05376FA81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9570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30 users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3E25827-6AA4-4984-A3ED-98E549629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114800"/>
            <a:ext cx="1047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BBD5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D13FDEB-6F3D-4E33-B027-788121584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210050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1000 users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9382DD2-0FBA-4C51-9CE0-F26EF61CF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162550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First 100 funnel</a:t>
            </a:r>
          </a:p>
        </p:txBody>
      </p:sp>
    </p:spTree>
    <p:extLst>
      <p:ext uri="{BB962C8B-B14F-4D97-AF65-F5344CB8AC3E}">
        <p14:creationId xmlns:p14="http://schemas.microsoft.com/office/powerpoint/2010/main" val="928502752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D0356F4-86F5-4DB3-B9F1-B82EB9D55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C7DB62-A1A8-42F0-9675-0258D84B1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AURA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5CF9AE-F5AE-4B08-890A-D70DBB08C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28575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A2AC82-B47F-42F0-A70E-22F58C87F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5905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Первые 1000: каналы играют разные роли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337627-6FB8-4B21-BE35-58141F178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0"/>
            <a:ext cx="11163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90A91D-B043-42A2-9A58-D29E8CB32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72200"/>
            <a:ext cx="2095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Что должен понять человек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3206B0-5133-49E2-A033-AA868D746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24600"/>
            <a:ext cx="10782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Каналы нужны для разных доказательств, а не для одного общего “охвата”.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405C12-3711-4199-B172-67F6AC4E7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5E21B7-844D-4921-AA91-8205A8181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95450"/>
            <a:ext cx="4524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TikTok/Reels/Shorts дают discovery.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E89EFE-C488-4EC3-A96C-253F9F085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445C75-89B7-44DD-9858-26095C2C9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09800"/>
            <a:ext cx="4524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Creators дают доверие и демонстрацию опыта.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BD8006-4302-45F1-85C9-BA8100048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54236C-EB68-4BFB-8006-ED84D15D3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24150"/>
            <a:ext cx="4524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Reddit дает жесткую обратную связь.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EDC5B8-BEFC-4D68-B7AB-E757D2C33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956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904CB0-5218-483A-85C2-E1FC8DB29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38500"/>
            <a:ext cx="4524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Referral проверяет shareability Life Canvas.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AD1C70-0547-4FCB-9F67-59345EA6F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441F48-1188-4559-92CA-0C9F9C18C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52850"/>
            <a:ext cx="4524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Landing variants проверяют positioning.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570831-FDC2-4823-A1A6-75B1B452C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19250"/>
            <a:ext cx="5334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774E0B-2877-447F-A5F9-C15C5D2D9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86000"/>
            <a:ext cx="1190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BBD5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07E4D5-C6BC-455E-9A9D-9FC661B53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81250"/>
            <a:ext cx="10001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TikTok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980FCB-3DB4-47DD-A52A-0F0E3D9FC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286000"/>
            <a:ext cx="1190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BBD5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E4B8F9-3E79-40B5-9531-8B21646BF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81250"/>
            <a:ext cx="10001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Creators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260180-41D1-4855-B195-F5F8BFDA3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286000"/>
            <a:ext cx="1190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BBD5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4C7098-80F2-47D1-930E-F24F88BF4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381250"/>
            <a:ext cx="10001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Reddit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C188317-7100-4B2F-8458-2F2B0CBEC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81375"/>
            <a:ext cx="1190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BBD5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DEA31FD-E126-4E8C-BA60-5204BB155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76625"/>
            <a:ext cx="10001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Referral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D2C1E82-6EDD-4B40-BCAD-6BFE654D7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381375"/>
            <a:ext cx="1190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BBD5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DE4420B-61E8-42F9-A968-A14CA19AD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476625"/>
            <a:ext cx="10001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Landing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08E1884-8D19-4B86-9B74-736569FE8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162550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Channel role map</a:t>
            </a:r>
          </a:p>
        </p:txBody>
      </p:sp>
    </p:spTree>
    <p:extLst>
      <p:ext uri="{BB962C8B-B14F-4D97-AF65-F5344CB8AC3E}">
        <p14:creationId xmlns:p14="http://schemas.microsoft.com/office/powerpoint/2010/main" val="1359741252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0A9327E-0D3B-4FCF-B365-0613D8914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D5FA08-F760-4F5F-91C0-4EDDC6CA8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AURA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95E7CE-BC7B-47DD-82AD-771250B5D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28575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015752-8D32-4422-824E-6CADB881B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5905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Контент должен повторять одну идею разными углами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FA760A-66E4-473A-9859-3FC581C11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0"/>
            <a:ext cx="11163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4F0A60-EE25-4331-A1AF-D54E4943B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72200"/>
            <a:ext cx="2095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Что должен понять человек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35357D-5614-47A5-933B-4F44A3F7E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24600"/>
            <a:ext cx="10782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Контент AURA должен продавать причинную петлю, а не набор фич.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F857FD-651D-46FF-906C-3DB1B124C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4303ED-FECF-473A-A61B-992442986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95450"/>
            <a:ext cx="4524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Life series объясняет категорию.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0D1AAC-A6E7-4B0B-BECD-70D21537C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4E2BB2-97E5-49D0-9E0C-B6269D3CA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09800"/>
            <a:ext cx="4524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Future self дает эмоциональный pull.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FDFEB7-FA3F-4F9C-9D24-60CE0A697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9EB58F-1539-4928-AC99-EDD747773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24150"/>
            <a:ext cx="4524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Avatar causality объясняет отличие от image apps.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746BF2-87EA-4142-9C1E-69887A5F0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956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9CA669-2129-4D6A-B661-2EF4E4387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38500"/>
            <a:ext cx="4524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Reset/action показывает практичность.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C0311B-198B-46AC-A293-10ECE0458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CCEF06-E0DA-462C-A75F-659C199B4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52850"/>
            <a:ext cx="4524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Build in public привлекает первых пользователей.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B114CF-1022-44D1-9884-158499F56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19250"/>
            <a:ext cx="5334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20D186-B99A-482D-B3EC-874D38474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86000"/>
            <a:ext cx="1190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BBD5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7FF361-119A-475C-8383-C3879219C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81250"/>
            <a:ext cx="10001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TikTok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ECD6CC-0BE9-4729-987C-5D5EB4D4D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286000"/>
            <a:ext cx="1190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BBD5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4BB8E1-B118-423F-9F2C-3490421AE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81250"/>
            <a:ext cx="10001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Creators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C14896-D68B-44CC-AC00-F1EBEC454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286000"/>
            <a:ext cx="1190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BBD5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F73D18-0BC2-499E-B09A-2A7C0B55D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381250"/>
            <a:ext cx="10001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Reddit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F73146F-AA40-4042-A75F-6C24B39E7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81375"/>
            <a:ext cx="1190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BBD5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CFA380F-8C8E-4B0F-B87B-333F79DC5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76625"/>
            <a:ext cx="10001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Referral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194B864-9246-4F1A-B0C7-C5908E7EE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381375"/>
            <a:ext cx="1190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BBD5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9577817-E832-40BF-A6DD-382E2D4CE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476625"/>
            <a:ext cx="10001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Landing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DC3C93A-E1ED-4FAF-BD40-1B0D65E68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162550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Content pillar wheel</a:t>
            </a:r>
          </a:p>
        </p:txBody>
      </p:sp>
    </p:spTree>
    <p:extLst>
      <p:ext uri="{BB962C8B-B14F-4D97-AF65-F5344CB8AC3E}">
        <p14:creationId xmlns:p14="http://schemas.microsoft.com/office/powerpoint/2010/main" val="1409582948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D371584-5666-43EB-B7D4-70250F383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F899F5-9B2F-47D9-91D6-F6452EE6D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AURA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BA6417-CDE2-4192-95D1-3ABAE14A3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28575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FD3AAC-B9D9-43B1-BBE5-D71A28A5A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5905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30 дней до первого решения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6D8D7E-4E75-4A43-960D-8B61F9FFD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0"/>
            <a:ext cx="11163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6B5B90-DA01-4B13-8785-951FD9D0D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72200"/>
            <a:ext cx="2095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Что должен понять человек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438CC9-06B2-4E7E-938B-CEC98EE76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24600"/>
            <a:ext cx="10782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Запуск должен быстро привести к решению, а не к бесконечной активности.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08D8ED-7D4B-4965-87BB-8F6183020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9F4F19-B3D5-4FE4-B6C1-1478D7F61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95450"/>
            <a:ext cx="4524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Week 1: interviews and prototype.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4226D7-2868-437F-BC5C-BD030D5C0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D011CE-C03C-45D1-B599-9C4C34BA9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09800"/>
            <a:ext cx="4524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Week 2: concierge season.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80A0A9-255F-48E1-8547-6AE82653B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58860E-4DE7-43F8-B81A-70CF063CF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24150"/>
            <a:ext cx="4524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Week 3: content and creators.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F03232-3CCB-455C-9548-C0F8164E8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956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346E6C-8C7D-432C-BA63-AE4A766C7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38500"/>
            <a:ext cx="4524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Week 4: paid intent and cohort readout.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D1CD36-B09E-42F3-8E5E-6BE28394A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F7632D-5A23-4853-B2F5-3F52FFE3D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52850"/>
            <a:ext cx="4524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Цель — понять, строить, менять или остановить.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80C73E-86CB-47D2-9873-A4CFFB974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19250"/>
            <a:ext cx="5334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1442F4-F8A3-474B-954E-7761102C7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48000"/>
            <a:ext cx="857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BBD5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E6F801-BAB5-427C-A92D-9979C5A3E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4325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Day 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DE4321-475B-4538-9C03-3DB7B2B35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21945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D8C576-3294-4DDA-9D6E-DEFD32772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09562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54F6D4-6126-4735-BD49-0FF993C0A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048000"/>
            <a:ext cx="857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BBD5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5BF0509-2E75-4526-BA61-85D21E9DF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14325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Day 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2970D53-9FCB-4E6F-AAC0-E28E0C143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21945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E0A4E4A-D54C-4F11-9F77-5D5905917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09562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7E43B58-D821-406E-B0C3-38194CB8E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048000"/>
            <a:ext cx="857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BBD5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B94760C-93DA-4510-A986-E1BC678BC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14325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Day 7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FDA6B1B-57E8-4022-AD6F-1F4F923B0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21945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712619B-FEB6-4C78-ADC4-51F023391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309562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EE36C59-9AB9-4B11-8731-B2A06F963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048000"/>
            <a:ext cx="857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BBD5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9940489-0F2D-4464-A9BD-50FEF573C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14325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Day 30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36D1C20-3317-46FA-BBA9-C5709954D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162550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30-day validation timeline</a:t>
            </a:r>
          </a:p>
        </p:txBody>
      </p:sp>
    </p:spTree>
    <p:extLst>
      <p:ext uri="{BB962C8B-B14F-4D97-AF65-F5344CB8AC3E}">
        <p14:creationId xmlns:p14="http://schemas.microsoft.com/office/powerpoint/2010/main" val="1235476632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DA9BF38-FFD6-4367-A8ED-6217DEA5E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68609C-C2E9-4B11-8BF3-837965562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AURA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366628-99E1-452A-A5D4-CB1D7C142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28575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23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C7CA64-A7F7-4A85-8B39-34DFD2B78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5905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5 спринтов: как построить первый продукт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C53C2E-8CF8-4D04-B5B0-C32A5D8C2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0"/>
            <a:ext cx="11163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056680-B5B4-4720-9616-8E61BC72C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72200"/>
            <a:ext cx="2095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Что должен понять человек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F640CE-FE45-4590-BB5B-1E3264071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24600"/>
            <a:ext cx="10782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Команда строит доказательство петли, а не весь будущий продукт.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66D590-58C7-4F57-AC21-5908BA96D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5D4FB8-9316-4082-AE2B-8148F105D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95450"/>
            <a:ext cx="4524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Sprint 1: foundation and onboarding.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37B3F4-3200-4C1E-877C-DE1CF3B4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6BA69E-AB58-4308-90C0-70BDAB9C8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09800"/>
            <a:ext cx="4524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Sprint 2: episode, action, reset, reflection.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29B08D-D345-45CB-B513-A4383F998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48905B-594E-4862-A020-BDFCAC167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24150"/>
            <a:ext cx="4524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Sprint 3: Life Canvas and causality.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FD0B4D-0479-4C82-85BA-E6C26B961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956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D85891-AC2C-4A40-A255-151DBA08E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38500"/>
            <a:ext cx="4524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Sprint 4: return, memory, paywall.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3E114E-A297-45F3-8770-264EADC06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3D0E2F-D944-4BBA-BD7B-2613F88D1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52850"/>
            <a:ext cx="4524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Sprint 5: admin, analytics, QA, soft launch.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10532A-40BE-4108-8653-0878657F8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19250"/>
            <a:ext cx="5334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EC6D26-A453-42C3-B455-6D01F4C64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095625"/>
            <a:ext cx="819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BBD5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6F0140-A17C-4789-899D-0E5BB6D6D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190875"/>
            <a:ext cx="628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S1 Foundation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EBB603-54C2-4072-8BEF-E688F47A1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095625"/>
            <a:ext cx="819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BBD5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25B414-C407-4772-B269-8233D42A1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190875"/>
            <a:ext cx="628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S2 Loop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B1E137-B5C8-478F-9913-1BF80E9D7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095625"/>
            <a:ext cx="819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BBD5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F52315E-15B9-4C6B-A354-1B7AC74A8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190875"/>
            <a:ext cx="628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S3 Canvas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D0FD18F-D3A9-4541-8236-1ED231AC1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095625"/>
            <a:ext cx="819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BBD5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EA020B6-E351-440B-944D-032A50938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190875"/>
            <a:ext cx="628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S4 Return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78CF1B5-68DD-47FC-AA7F-D1F1EC6C8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095625"/>
            <a:ext cx="819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BBD5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F9EDE17-3679-45E1-8E0B-2AD93D36C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190875"/>
            <a:ext cx="628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S5 Launch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9CE0C69-4C7B-4295-AEE7-C96CC0CBA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162550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5-sprint roadmap</a:t>
            </a:r>
          </a:p>
        </p:txBody>
      </p:sp>
    </p:spTree>
    <p:extLst>
      <p:ext uri="{BB962C8B-B14F-4D97-AF65-F5344CB8AC3E}">
        <p14:creationId xmlns:p14="http://schemas.microsoft.com/office/powerpoint/2010/main" val="1678047474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BA4469C-83C8-4816-9193-C6017D6C2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E6CCD0-158D-40FC-81E7-D8DA138E0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AURA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84B3ED-A122-4163-B484-6E680BF11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28575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24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65F36E-886E-4C98-9B73-E07490185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5905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Go / No-Go: решение принимает петля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E0D539-4A8E-46E7-8894-2B26A4621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0"/>
            <a:ext cx="11163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1ED2C4-7D2E-4218-BB02-AACD8BA9B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72200"/>
            <a:ext cx="2095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Что должен понять человек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A8656D-5D0A-473C-AC01-D71C61052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24600"/>
            <a:ext cx="10782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AURA нельзя оценивать “по ощущениям”; решение должны принять метрики петли.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97ADBD-4950-4331-91F8-C4A1C4278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2A026E-897D-4FD3-8FF9-AF5AFFEEE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95450"/>
            <a:ext cx="4524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Activation показывает, понятен ли вход.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507526-71EB-4961-80FD-83A722A62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158BD2-3AD0-4B23-8A29-B00E5AC62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09800"/>
            <a:ext cx="4524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Completed loop показывает, работает ли первый опыт.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72896B-E7A1-43AB-8782-E4BE3290A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95FA9B-4D80-4859-8D4E-DF4199BC7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24150"/>
            <a:ext cx="4524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Causality показывает, жив ли Life Canvas.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D7959E-6BFB-4284-BDCB-64D2C6D52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956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13AAFA-C9C3-4695-B24A-185D55585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38500"/>
            <a:ext cx="4524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D1/D7 показывают retention.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10338C-2E85-46C6-87DC-DA6CA6BCC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CAFEEF-C9AA-4A03-B55E-97FF78D7F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52850"/>
            <a:ext cx="4524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Paid intent показывает коммерческий сигнал.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EF411C-A0CE-42FC-B48F-ABD4B042C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19250"/>
            <a:ext cx="5334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F5EF71-DD17-4E4B-ACC7-D0641AE07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52750"/>
            <a:ext cx="7239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BBD5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36E746-84D3-420C-A6B1-2135259E8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048000"/>
            <a:ext cx="53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45%+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EAA0DC-95D4-4C3D-8E66-48EBD931E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429000"/>
            <a:ext cx="1028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Activation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B10857-7754-472A-AEE8-E4D22AAC6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952750"/>
            <a:ext cx="7239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BBD5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BBCE59-C739-40AB-8195-FF458F416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048000"/>
            <a:ext cx="53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25%+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441ECCD-D6BF-400A-8D86-A2D175FED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429000"/>
            <a:ext cx="1028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Loop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6033B00-116E-42B0-A04E-8956CB091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952750"/>
            <a:ext cx="7239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BBD5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905842F-BB13-42DD-9483-6666F7116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048000"/>
            <a:ext cx="53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70%+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610906F-30AF-4A75-9711-9DEF72591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429000"/>
            <a:ext cx="1028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Causality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0606AA7-808D-4F80-8728-E46F6D5E5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952750"/>
            <a:ext cx="7239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BBD5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A4FA7CD-9B71-4670-9774-0502E59FB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048000"/>
            <a:ext cx="53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20%+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D563E1A-0F2E-40A6-8143-F952800BD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429000"/>
            <a:ext cx="1028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D1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EB20014-F943-4EBB-BEE6-434AAFBE9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952750"/>
            <a:ext cx="7239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BBD5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43AFD46-5FB1-4893-A2BC-379735F4F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048000"/>
            <a:ext cx="53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5%+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F152FC1-E65A-47AD-9604-6FE2D6F4E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429000"/>
            <a:ext cx="1028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Paid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9065D8A-CE88-4FDB-9AA2-B0AFF9D09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162550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Go / No-Go dashboard</a:t>
            </a:r>
          </a:p>
        </p:txBody>
      </p:sp>
    </p:spTree>
    <p:extLst>
      <p:ext uri="{BB962C8B-B14F-4D97-AF65-F5344CB8AC3E}">
        <p14:creationId xmlns:p14="http://schemas.microsoft.com/office/powerpoint/2010/main" val="326798461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8470F0C-63FC-473A-8080-706A085AD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9ED82A-CC4E-4410-A54B-BBB421495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AURA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27E1D9-A753-44B2-9A95-322690A16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28575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E90A1F-F9BC-4951-8BE1-8AF6731B1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5905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Следующий шаг: Figma → prototype → interviews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072E0C-5D34-4192-8D3F-CF2E90941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0"/>
            <a:ext cx="11163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F360C8-FAD6-4509-AF78-E10809A77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72200"/>
            <a:ext cx="2095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Что должен понять человек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446F4E-A83C-4D8A-819C-83E21A948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24600"/>
            <a:ext cx="10782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Главный риск AURA теперь находится внутри прототипа.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4CFAE2-9E2D-4E1A-9086-C0335E00B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460F94-1A7B-405E-88E8-A06F7D6DD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95450"/>
            <a:ext cx="4524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Research достаточно, чтобы перестать спорить о рынке.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872BA0-B80F-441C-A4D9-18C5D49F3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2B5CF8-6D3C-4FFC-BC60-A7FE15EE0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09800"/>
            <a:ext cx="4524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Теперь нужен low-fi prototype 10 ключевых экранов.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4321A1-208B-46D3-9D0C-B9C52B8CE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C79C1E-6959-487B-8015-F51207045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24150"/>
            <a:ext cx="4524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20 интервью должны проверить язык, доверие и причинность.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03A235-54F7-49D6-8776-7B1FF6153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956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BA4BC6-9E9D-4772-A0F0-C2816D6EB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38500"/>
            <a:ext cx="4524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30 concierge users должны пройти season.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EC2DAA-9A29-4031-8E53-521BCC217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C0C9CF-89BC-45B8-916D-608B8BEC3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52850"/>
            <a:ext cx="4524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1828"/>
                </a:solidFill>
                <a:latin typeface="Aptos"/>
                <a:ea typeface="Aptos"/>
                <a:cs typeface="Aptos"/>
              </a:rPr>
              <a:t>Если Life Canvas causality не считывается — продукт пересобирается.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79E455-430F-497B-838D-B80B8EB4D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19250"/>
            <a:ext cx="5334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8D776A-822A-43E1-9E48-AC53AED61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143125"/>
            <a:ext cx="1524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BBD5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7546DF-CB59-45AC-ACB2-870E78658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238375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Prototype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F6C322-5C20-4A54-83F2-3397CAE2F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000375"/>
            <a:ext cx="1524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BD5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27266E-0D29-4D3C-9F24-7BBB4B3B0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095625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Causality?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0DD02D-B238-42D4-AC2F-2FF9EBB13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952875"/>
            <a:ext cx="1524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BD5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078C5F0-D643-4B41-9480-50D24C977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048125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Iterate flow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45EC2E6-C027-4ED2-BC53-8E9384505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952875"/>
            <a:ext cx="1524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BBD5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2E2CF13-2BF8-4F30-9322-6C9229A34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048125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Build cohort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63BFFC5-F0B1-4C43-9818-57002DC14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162550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Decision tree / next 30 days</a:t>
            </a:r>
          </a:p>
        </p:txBody>
      </p:sp>
    </p:spTree>
    <p:extLst>
      <p:ext uri="{BB962C8B-B14F-4D97-AF65-F5344CB8AC3E}">
        <p14:creationId xmlns:p14="http://schemas.microsoft.com/office/powerpoint/2010/main" val="6156311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2026-06-01T17:38:31.1560000Z</dcterms:created>
  <dcterms:modified xsi:type="dcterms:W3CDTF">2026-06-01T17:38:31.1560000Z</dcterms:modified>
</coreProperties>
</file>